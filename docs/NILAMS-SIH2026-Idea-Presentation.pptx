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IDEA: NILAMS, the National Integrated Land Acquisition Management System. PROBLEM: land acquisition in India runs on fragmented, state-specific and paper-based systems. Data is typed again at district, state and central level, approvals are delayed, statutory deadlines are missed without warning, decision-makers lack real-time information on compensation, possession and rehabilitation, compensation is opaque, affected families (especially tenants and labourers without title) are not recorded, and there is no tamper-proof audit trail. SOLUTION: one cloud platform that digitises the whole lifecycle defined by the RFCTLARR Act 2013, with online submission and multi-level approval, GIS geo-tagging of every parcel, a register of every affected family and their entitlements, a transparent compensation engine, a real-time national dashboard, standard data formats for all States and UTs, bulk document intake, automated alerts, MIS reports, predictive analytics, a citizen portal in Indian languages and an offline field app. UNIQUENESS: the law is enforced in code (for example a court stay automatically blocks payment), every AI output is explainable, families are first-class records, the audit ledger is tamper-evident, and it plugs into existing national platforms such as ULPIN, e-Gazette, PFMS, DigiLocker and Bhashini. A working prototype of the core already exists.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TECHNICAL APPROACH. Technologies: a Next.js + React + TypeScript web application that also works as an installable mobile app (PWA); Node.js REST and GraphQL APIs; PostgreSQL with the PostGIS spatial extension; GIS with GeoServer, QGIS, Leaflet/MapLibre and OpenStreetMap plus ISRO Bhuvan imagery; Three.js for 3D; Python and scikit-learn for analytics; Docker and CI/CD on NIC MeghRaj cloud; notifications through SMS gateway, email, push and WhatsApp. It integrates with government platforms: ULPIN/DILRMP land records, e-Gazette, PFMS/DBT, DigiLocker, e-Sign, e-Pramaan login and Bhashini for 22 Indian languages. Workflow: 1 proposal and project report, 2 digital scrutiny, 3 social impact assessment with Gram Sabha consultation, 4 Section 11 preliminary notification with online objections, 5 state approval, 6 central approval, 7 Section 19 declaration, 8 award and compensation calculation, 9 direct bank payment through PFMS, 10 rehabilitation and resettlement, 11 field-verified possession, 12 closure after resettlement infrastructure is complete. A court stay, unresolved objection or missing document automatically blocks the next step, and a deadline monitor raises alerts. Architecture: users reach an API gateway with role-based access; behind it sit the workflow engine, GIS engine, AI and analytics, compensation and R&amp;R engine, document vault, alerts engine and a tamper-evident audit ledger, all storing data in PostgreSQL/PostGIS and connected to government systems. Methodology: study the law and current workflows, standardise data, encode the law as a tested workflow engine, integrate government APIs and add explainable AI. Implementation: Phase 0 prototype (done), Phase 1 district pilot in 0-6 months, Phase 2 state rollout in 6-12 months, Phase 3 national rollout in 12-24 months. Screenshots show the working prototype: public portal, 11-stage project tracker with explainable risk score, and GIS parcel map.</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FEASIBILITY AND VIABILITY. Technical: mature open-source technology already used in government, and the core has been proven in our working prototype. Legal: designed directly on the RFCTLARR Act 2013 and its schedules; state rules are configuration. Institutional: fits existing national programmes (DILRMP, ULPIN, e-Gazette, PFMS, DigiLocker, Bhashini, PM Gati Shakti); MoRTH's Bhoomi Rashi portal already digitised highway land acquisition notifications for 1,467 NHAI projects, proving government appetite. Operational: works with the files officers already have and offline in villages. Economic: no licence fees and hosted on NIC cloud, while acquisition delays are very costly (CAG found Bengaluru Metro land costs rose by 6,603 crore rupees). Scalable: multi-tenant design for every State and UT. Risks and strategies: legacy records - OCR with human checks and strict templates; different state systems - adapters onto one national schema with ULPIN as the common key; adoption - district pilot and training; connectivity - offline-first app; privacy and security - e-Pramaan login, role and jurisdiction access, encryption, tamper-evident audit, DPDP Act compliance and CERT-In audit; changing laws - configurable rule engine; trust in AI - only explainable models with humans deciding; digital divide and coordination - 22 languages, voice and WhatsApp access, Common Service Centres and one shared record for all agencies.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IMPACT AND BENEFITS. Affected families and landowners can see their status, compensation breakdown and entitlements, get paid directly into their bank account and track grievances in their own language, and non-titleholders are finally counted. Field officers verify and geo-tag parcels on a phone even offline. District Collectors get one live workspace. State governments see district progress and deadline breaches in real time. Central ministries and policymakers get a national dashboard and can simulate policy changes. Implementing agencies get predictable land availability. R&amp;R authorities, courts and the CAG get a tamper-evident record of every decision. Social benefits: fair explainable compensation, fewer disputes, families tracked until resettled, inclusion through languages and voice. Economic benefits: faster approvals, lower cost overruns, no duplicate data entry, direct payment. Environmental benefits: impact-zone mapping, reuse of idle acquired land, paperless process and encroachment monitoring. Governance benefits: transparency, accountability, legal compliance, anti-corruption and inter-agency coordination. Sustainable Development Goals: SDG 1 No Poverty, SDG 9 Industry Innovation and Infrastructure, SDG 10 Reduced Inequalities, SDG 11 Sustainable Cities and Communities, SDG 15 Life on Land, SDG 16 Peace Justice and Strong Institutions (targets 16.5, 16.6, 16.10), SDG 17 Partnerships (target 17.18).</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RESEARCH AND REFERENCES. Prototype demo link, demo video, source code on GitHub and documentation are listed at the top. Law and policy: RFCTLARR Act 2013, Department of Land Resources, DILRMP and ULPIN, SIH Problem Statement 26016, DPDP Act 2023, PM Gati Shakti, UN SDGs. Existing systems studied: MoRTH Bhoomi Rashi portal, Tamil Nadu TN-GLMS, e-Gazette, PFMS, DigiLocker, Bhashini, ISRO Bhuvan. Evidence: Land Conflict Watch reports (6.5 million people affected by 703 conflicts; 3.6 million people in 2025), Oxfam India research, and CAG audit reports on acquisition delays, non-transparent compensation rates and cost overruns.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NILAMS - National Integrated Land Acquisition Management System. Smart India Hackathon 2026 idea submission for Problem Statement 26016 (Real-Time National Land Acquisition &amp; Management System for End-to-End Digital Monitoring and Decision Support), software category. Land acquisition is the legal process by which the government takes private land for public projects such as highways, railways, dams and industrial corridors, pays fair compensation and resettles affected families under the RFCTLARR Act, 2013. NILAMS puts that entire journey on one national digital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png"/><Relationship Id="rId25"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github.com/amdravidranjan/Cup_of_tea" TargetMode="External"/><Relationship Id="rId5" Type="http://schemas.openxmlformats.org/officeDocument/2006/relationships/hyperlink" Target="https://www.indiacode.nic.in" TargetMode="External"/><Relationship Id="rId6" Type="http://schemas.openxmlformats.org/officeDocument/2006/relationships/hyperlink" Target="https://dolr.gov.in" TargetMode="External"/><Relationship Id="rId7" Type="http://schemas.openxmlformats.org/officeDocument/2006/relationships/hyperlink" Target="https://dilrmp.gov.in" TargetMode="External"/><Relationship Id="rId8" Type="http://schemas.openxmlformats.org/officeDocument/2006/relationships/hyperlink" Target="https://www.sih.gov.in" TargetMode="External"/><Relationship Id="rId9" Type="http://schemas.openxmlformats.org/officeDocument/2006/relationships/hyperlink" Target="https://www.meity.gov.in" TargetMode="External"/><Relationship Id="rId10" Type="http://schemas.openxmlformats.org/officeDocument/2006/relationships/hyperlink" Target="https://pmgatishakti.gov.in" TargetMode="External"/><Relationship Id="rId11" Type="http://schemas.openxmlformats.org/officeDocument/2006/relationships/hyperlink" Target="https://sdgs.un.org/goals" TargetMode="External"/><Relationship Id="rId12" Type="http://schemas.openxmlformats.org/officeDocument/2006/relationships/hyperlink" Target="https://www.pib.gov.in/PressReleaseIframePage.aspx?PRID=1988572" TargetMode="External"/><Relationship Id="rId13" Type="http://schemas.openxmlformats.org/officeDocument/2006/relationships/hyperlink" Target="https://www.pib.gov.in/PressReleaseIframePage.aspx?PRID=1809062" TargetMode="External"/><Relationship Id="rId14" Type="http://schemas.openxmlformats.org/officeDocument/2006/relationships/hyperlink" Target="https://egazette.gov.in" TargetMode="External"/><Relationship Id="rId15" Type="http://schemas.openxmlformats.org/officeDocument/2006/relationships/hyperlink" Target="https://pfms.nic.in" TargetMode="External"/><Relationship Id="rId16" Type="http://schemas.openxmlformats.org/officeDocument/2006/relationships/hyperlink" Target="https://www.digilocker.gov.in" TargetMode="External"/><Relationship Id="rId17" Type="http://schemas.openxmlformats.org/officeDocument/2006/relationships/hyperlink" Target="https://bhashini.gov.in" TargetMode="External"/><Relationship Id="rId18" Type="http://schemas.openxmlformats.org/officeDocument/2006/relationships/hyperlink" Target="https://bhuvan.nrsc.gov.in" TargetMode="External"/><Relationship Id="rId19" Type="http://schemas.openxmlformats.org/officeDocument/2006/relationships/hyperlink" Target="https://www.downtoearth.org.in/environment/land-conflict-affects-more-than-6-5-million-people-across-india-report-69502" TargetMode="External"/><Relationship Id="rId20" Type="http://schemas.openxmlformats.org/officeDocument/2006/relationships/hyperlink" Target="https://www.landconflictwatch.org/all-conflicts" TargetMode="External"/><Relationship Id="rId21" Type="http://schemas.openxmlformats.org/officeDocument/2006/relationships/hyperlink" Target="https://www.counterview.net/2026/03/ngo-research-documents-179-land.html" TargetMode="External"/><Relationship Id="rId22" Type="http://schemas.openxmlformats.org/officeDocument/2006/relationships/hyperlink" Target="https://www.oxfamindia.org/knowledgehub/workingpaper/locating-breach-mapping-nature-land-conflicts-india" TargetMode="External"/><Relationship Id="rId23" Type="http://schemas.openxmlformats.org/officeDocument/2006/relationships/hyperlink" Target="https://cag.gov.in/uploads/download_audit_report/2015/Union_Performance_Civil_CAPF_Report_35_2015_chap_3_0.pdf" TargetMode="External"/><Relationship Id="rId24" Type="http://schemas.openxmlformats.org/officeDocument/2006/relationships/hyperlink" Target="https://cag.gov.in/uploads/download_audit_report/2014/Karnataka_housing_sector_6_2014_chapter_3_exe_summ.pdf" TargetMode="External"/><Relationship Id="rId25" Type="http://schemas.openxmlformats.org/officeDocument/2006/relationships/hyperlink" Target="https://thenewsmill.com/2026/08/cag-audit-finds-overestimated-ridership-and-land-acquisition-delays-in-bangalore-metro-phases-1-and-2/" TargetMode="External"/><Relationship Id="rId26" Type="http://schemas.openxmlformats.org/officeDocument/2006/relationships/hyperlink" Target="https://postgis.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rgbClr val="1F3864"/>
                </a:solidFill>
                <a:latin typeface="Times New Roman" panose="02020603050405020304" pitchFamily="18" charset="0"/>
                <a:cs typeface="Times New Roman" panose="02020603050405020304" pitchFamily="18" charset="0"/>
              </a:rPr>
              <a:t>NILAMS</a:t>
            </a:r>
            <a:endParaRPr lang="en-IN" b="1" dirty="0">
              <a:solidFill>
                <a:schemeClr val="tx1"/>
              </a:solidFill>
              <a:latin typeface="Times New Roman" panose="02020603050405020304" pitchFamily="18" charset="0"/>
              <a:cs typeface="Times New Roman" panose="02020603050405020304" pitchFamily="18" charset="0"/>
            </a:endParaRPr>
          </a:p>
          <a:p>
            <a:pPr algn="ctr"/>
            <a:r>
              <a:rPr sz="1700" b="1">
                <a:solidFill>
                  <a:srgbClr val="E46C0A"/>
                </a:solidFill>
                <a:latin typeface="Arial"/>
              </a:rPr>
              <a:t>National Integrated Land Acquisition Management System</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286000"/>
            <a:ext cx="6309360" cy="4480560"/>
          </a:xfrm>
          <a:prstGeom prst="rect">
            <a:avLst/>
          </a:prstGeom>
          <a:noFill/>
        </p:spPr>
        <p:txBody>
          <a:bodyPr wrap="square" rtlCol="0"/>
          <a:lstStyle/>
          <a:p>
            <a:pPr marL="285750" indent="-285750" algn="l">
              <a:lnSpc>
                <a:spcPct val="100000"/>
              </a:lnSpc>
              <a:spcAft>
                <a:spcPts val="1500"/>
              </a:spcAft>
              <a:buFont typeface="Arial" panose="020B0604020202020204" pitchFamily="34" charset="0"/>
              <a:buChar char="•"/>
            </a:pPr>
            <a:r>
              <a:rPr b="1" sz="1600">
                <a:solidFill>
                  <a:srgbClr val="212121"/>
                </a:solidFill>
                <a:latin typeface="Arial"/>
              </a:rPr>
              <a:t>Problem Statement ID – </a:t>
            </a:r>
            <a:r>
              <a:rPr b="1" sz="1600">
                <a:solidFill>
                  <a:srgbClr val="1F3864"/>
                </a:solidFill>
                <a:latin typeface="Arial"/>
              </a:rPr>
              <a:t>26016</a:t>
            </a:r>
          </a:p>
          <a:p>
            <a:pPr marL="285750" indent="-285750" algn="l">
              <a:lnSpc>
                <a:spcPct val="100000"/>
              </a:lnSpc>
              <a:spcAft>
                <a:spcPts val="1500"/>
              </a:spcAft>
              <a:buFont typeface="Arial" panose="020B0604020202020204" pitchFamily="34" charset="0"/>
              <a:buChar char="•"/>
            </a:pPr>
            <a:r>
              <a:rPr b="1" sz="1600">
                <a:solidFill>
                  <a:srgbClr val="212121"/>
                </a:solidFill>
                <a:latin typeface="Arial"/>
              </a:rPr>
              <a:t>Problem Statement Title – </a:t>
            </a:r>
            <a:r>
              <a:rPr b="0" sz="1400">
                <a:solidFill>
                  <a:srgbClr val="1F3864"/>
                </a:solidFill>
                <a:latin typeface="Arial"/>
              </a:rPr>
              <a:t>Real-Time National Land Acquisition &amp; Management System for End-to-End Digital Monitoring and Decision Support</a:t>
            </a:r>
          </a:p>
          <a:p>
            <a:pPr marL="285750" indent="-285750" algn="l">
              <a:lnSpc>
                <a:spcPct val="100000"/>
              </a:lnSpc>
              <a:spcAft>
                <a:spcPts val="1500"/>
              </a:spcAft>
              <a:buFont typeface="Arial" panose="020B0604020202020204" pitchFamily="34" charset="0"/>
              <a:buChar char="•"/>
            </a:pPr>
            <a:r>
              <a:rPr b="1" sz="1600">
                <a:solidFill>
                  <a:srgbClr val="212121"/>
                </a:solidFill>
                <a:latin typeface="Arial"/>
              </a:rPr>
              <a:t>Theme – </a:t>
            </a:r>
            <a:r>
              <a:rPr b="0" sz="1400">
                <a:solidFill>
                  <a:srgbClr val="1F3864"/>
                </a:solidFill>
                <a:latin typeface="Arial"/>
              </a:rPr>
              <a:t>AI, GIS &amp; Data Analytics for Public Administration and Infrastructure Management</a:t>
            </a:r>
          </a:p>
          <a:p>
            <a:pPr marL="285750" indent="-285750" algn="l">
              <a:lnSpc>
                <a:spcPct val="100000"/>
              </a:lnSpc>
              <a:spcAft>
                <a:spcPts val="1500"/>
              </a:spcAft>
              <a:buFont typeface="Arial" panose="020B0604020202020204" pitchFamily="34" charset="0"/>
              <a:buChar char="•"/>
            </a:pPr>
            <a:r>
              <a:rPr b="1" sz="1600">
                <a:solidFill>
                  <a:srgbClr val="212121"/>
                </a:solidFill>
                <a:latin typeface="Arial"/>
              </a:rPr>
              <a:t>PS Category – </a:t>
            </a:r>
            <a:r>
              <a:rPr b="1" sz="1600">
                <a:solidFill>
                  <a:srgbClr val="1F3864"/>
                </a:solidFill>
                <a:latin typeface="Arial"/>
              </a:rPr>
              <a:t>Software</a:t>
            </a:r>
          </a:p>
          <a:p>
            <a:pPr marL="285750" indent="-285750" algn="l">
              <a:lnSpc>
                <a:spcPct val="100000"/>
              </a:lnSpc>
              <a:spcAft>
                <a:spcPts val="1500"/>
              </a:spcAft>
              <a:buFont typeface="Arial" panose="020B0604020202020204" pitchFamily="34" charset="0"/>
              <a:buChar char="•"/>
            </a:pPr>
            <a:r>
              <a:rPr b="1" sz="1600">
                <a:solidFill>
                  <a:srgbClr val="212121"/>
                </a:solidFill>
                <a:latin typeface="Arial"/>
              </a:rPr>
              <a:t>Team ID – </a:t>
            </a:r>
            <a:r>
              <a:rPr b="0" sz="1600">
                <a:solidFill>
                  <a:srgbClr val="1F3864"/>
                </a:solidFill>
                <a:latin typeface="Arial"/>
              </a:rPr>
              <a:t>[Enter Team ID]</a:t>
            </a:r>
          </a:p>
          <a:p>
            <a:pPr marL="285750" indent="-285750" algn="l">
              <a:lnSpc>
                <a:spcPct val="100000"/>
              </a:lnSpc>
              <a:spcAft>
                <a:spcPts val="1500"/>
              </a:spcAft>
              <a:buFont typeface="Arial" panose="020B0604020202020204" pitchFamily="34" charset="0"/>
              <a:buChar char="•"/>
            </a:pPr>
            <a:r>
              <a:rPr b="1" sz="1600">
                <a:solidFill>
                  <a:srgbClr val="212121"/>
                </a:solidFill>
                <a:latin typeface="Arial"/>
              </a:rPr>
              <a:t>Team Name – </a:t>
            </a:r>
            <a:r>
              <a:rPr b="0" sz="1600">
                <a:solidFill>
                  <a:srgbClr val="1F3864"/>
                </a:solidFill>
                <a:latin typeface="Arial"/>
              </a:rPr>
              <a:t>[Enter Team Name registered on portal]</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83080" y="91440"/>
            <a:ext cx="7863840" cy="1005840"/>
          </a:xfrm>
        </p:spPr>
        <p:txBody>
          <a:bodyPr anchor="ctr"/>
          <a:lstStyle/>
          <a:p>
            <a:pPr eaLnBrk="1" hangingPunct="1" algn="ctr"/>
            <a:r>
              <a:rPr sz="3000" b="1">
                <a:solidFill>
                  <a:srgbClr val="1F3864"/>
                </a:solidFill>
              </a:rPr>
              <a:t>NILAMS</a:t>
            </a:r>
            <a:br/>
            <a:r>
              <a:rPr sz="1600" b="1">
                <a:solidFill>
                  <a:srgbClr val="E46C0A"/>
                </a:solidFill>
              </a:rPr>
              <a:t>National Integrated Land Acquisition Management System</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Rectangle 15361"/>
          <p:cNvSpPr/>
          <p:nvPr/>
        </p:nvSpPr>
        <p:spPr>
          <a:xfrm>
            <a:off x="274320" y="1170432"/>
            <a:ext cx="11640312"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lnSpc>
                <a:spcPct val="100000"/>
              </a:lnSpc>
              <a:spcBef>
                <a:spcPts val="0"/>
              </a:spcBef>
              <a:spcAft>
                <a:spcPts val="200"/>
              </a:spcAft>
            </a:pPr>
            <a:r>
              <a:rPr sz="1150" b="1" i="0">
                <a:solidFill>
                  <a:srgbClr val="FFC072"/>
                </a:solidFill>
                <a:latin typeface="Calibri"/>
              </a:rPr>
              <a:t>Proposed Solution: </a:t>
            </a:r>
            <a:r>
              <a:rPr sz="1150" b="0" i="0">
                <a:solidFill>
                  <a:srgbClr val="FFFFFF"/>
                </a:solidFill>
                <a:latin typeface="Calibri"/>
              </a:rPr>
              <a:t>one cloud-based national platform that digitises land acquisition end-to-end — proposal → scrutiny → SIA → notification → approvals → award → compensation → R&amp;R → possession → closure — for Central Ministries, States/UTs, District Collectors, Land Requiring Bodies, R&amp;R Authorities, implementing agencies and affected citizens.</a:t>
            </a:r>
          </a:p>
        </p:txBody>
      </p:sp>
      <p:sp>
        <p:nvSpPr>
          <p:cNvPr id="15363" name="Rectangle 15362"/>
          <p:cNvSpPr/>
          <p:nvPr/>
        </p:nvSpPr>
        <p:spPr>
          <a:xfrm>
            <a:off x="274320" y="1828800"/>
            <a:ext cx="3063240" cy="4434840"/>
          </a:xfrm>
          <a:prstGeom prst="rect">
            <a:avLst/>
          </a:prstGeom>
          <a:solidFill>
            <a:srgbClr val="FBEFEF"/>
          </a:solidFill>
          <a:ln w="9525">
            <a:solidFill>
              <a:srgbClr val="E5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4" name="Rectangle 15363"/>
          <p:cNvSpPr/>
          <p:nvPr/>
        </p:nvSpPr>
        <p:spPr>
          <a:xfrm>
            <a:off x="274320" y="1828800"/>
            <a:ext cx="3063240" cy="29260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200" b="1" i="0">
                <a:solidFill>
                  <a:srgbClr val="FFFFFF"/>
                </a:solidFill>
                <a:latin typeface="Calibri"/>
              </a:rPr>
              <a:t>THE PROBLEM TODAY</a:t>
            </a:r>
          </a:p>
        </p:txBody>
      </p:sp>
      <p:sp>
        <p:nvSpPr>
          <p:cNvPr id="15365" name="TextBox 15364"/>
          <p:cNvSpPr txBox="1"/>
          <p:nvPr/>
        </p:nvSpPr>
        <p:spPr>
          <a:xfrm>
            <a:off x="320040" y="2176272"/>
            <a:ext cx="2971800" cy="3611879"/>
          </a:xfrm>
          <a:prstGeom prst="rect">
            <a:avLst/>
          </a:prstGeom>
          <a:noFill/>
        </p:spPr>
        <p:txBody>
          <a:bodyPr wrap="square" anchor="t" lIns="36576" rIns="36576" tIns="36576" bIns="36576"/>
          <a:lstStyle/>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Fragmented systems: </a:t>
            </a:r>
            <a:r>
              <a:rPr sz="1060" b="0" i="0">
                <a:solidFill>
                  <a:srgbClr val="212121"/>
                </a:solidFill>
                <a:latin typeface="Calibri"/>
              </a:rPr>
              <a:t>state-specific processes; sector portals (e.g. Bhoomi Rashi) cover only highways</a:t>
            </a:r>
          </a:p>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Manual &amp; duplicated data: </a:t>
            </a:r>
            <a:r>
              <a:rPr sz="1060" b="0" i="0">
                <a:solidFill>
                  <a:srgbClr val="212121"/>
                </a:solidFill>
                <a:latin typeface="Calibri"/>
              </a:rPr>
              <a:t>records re-typed at District, State and Centre; no common format</a:t>
            </a:r>
          </a:p>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Delays in approvals: </a:t>
            </a:r>
            <a:r>
              <a:rPr sz="1060" b="0" i="0">
                <a:solidFill>
                  <a:srgbClr val="212121"/>
                </a:solidFill>
                <a:latin typeface="Calibri"/>
              </a:rPr>
              <a:t>files move physically; statutory deadlines missed silently</a:t>
            </a:r>
          </a:p>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No real-time monitoring: </a:t>
            </a:r>
            <a:r>
              <a:rPr sz="1060" b="0" i="0">
                <a:solidFill>
                  <a:srgbClr val="212121"/>
                </a:solidFill>
                <a:latin typeface="Calibri"/>
              </a:rPr>
              <a:t>leaders can't see land acquired, compensation paid, possession or R&amp;R</a:t>
            </a:r>
          </a:p>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Opaque compensation: </a:t>
            </a:r>
            <a:r>
              <a:rPr sz="1060" b="0" i="0">
                <a:solidFill>
                  <a:srgbClr val="212121"/>
                </a:solidFill>
                <a:latin typeface="Calibri"/>
              </a:rPr>
              <a:t>no breakdown → mistrust, objections, litigation</a:t>
            </a:r>
          </a:p>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Families invisible: </a:t>
            </a:r>
            <a:r>
              <a:rPr sz="1060" b="0" i="0">
                <a:solidFill>
                  <a:srgbClr val="212121"/>
                </a:solidFill>
                <a:latin typeface="Calibri"/>
              </a:rPr>
              <a:t>parcels tracked, people (tenants, labourers) not</a:t>
            </a:r>
          </a:p>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Weak audit trail: </a:t>
            </a:r>
            <a:r>
              <a:rPr sz="1060" b="0" i="0">
                <a:solidFill>
                  <a:srgbClr val="212121"/>
                </a:solidFill>
                <a:latin typeface="Calibri"/>
              </a:rPr>
              <a:t>double payments and backdated edits go undetected</a:t>
            </a:r>
          </a:p>
          <a:p>
            <a:pPr algn="l" marL="128016" indent="-128016">
              <a:lnSpc>
                <a:spcPct val="100000"/>
              </a:lnSpc>
              <a:spcBef>
                <a:spcPts val="0"/>
              </a:spcBef>
              <a:spcAft>
                <a:spcPts val="450"/>
              </a:spcAft>
              <a:buClr>
                <a:srgbClr val="C62828"/>
              </a:buClr>
              <a:buFont typeface="Arial"/>
              <a:buChar char="■"/>
            </a:pPr>
            <a:r>
              <a:rPr sz="1060" b="1" i="0">
                <a:solidFill>
                  <a:srgbClr val="C62828"/>
                </a:solidFill>
                <a:latin typeface="Calibri"/>
              </a:rPr>
              <a:t>No spatial view &amp; poor citizen access </a:t>
            </a:r>
            <a:r>
              <a:rPr sz="1060" b="0" i="0">
                <a:solidFill>
                  <a:srgbClr val="212121"/>
                </a:solidFill>
                <a:latin typeface="Calibri"/>
              </a:rPr>
              <a:t>in local languages</a:t>
            </a:r>
          </a:p>
        </p:txBody>
      </p:sp>
      <p:sp>
        <p:nvSpPr>
          <p:cNvPr id="15366" name="TextBox 15365"/>
          <p:cNvSpPr txBox="1"/>
          <p:nvPr/>
        </p:nvSpPr>
        <p:spPr>
          <a:xfrm>
            <a:off x="320040" y="5696712"/>
            <a:ext cx="2971800" cy="530352"/>
          </a:xfrm>
          <a:prstGeom prst="rect">
            <a:avLst/>
          </a:prstGeom>
          <a:noFill/>
        </p:spPr>
        <p:txBody>
          <a:bodyPr wrap="square" anchor="t" lIns="36576" rIns="36576" tIns="36576" bIns="36576"/>
          <a:lstStyle/>
          <a:p>
            <a:pPr algn="l">
              <a:lnSpc>
                <a:spcPct val="100000"/>
              </a:lnSpc>
              <a:spcBef>
                <a:spcPts val="0"/>
              </a:spcBef>
              <a:spcAft>
                <a:spcPts val="200"/>
              </a:spcAft>
            </a:pPr>
            <a:r>
              <a:rPr sz="800" b="0" i="1">
                <a:solidFill>
                  <a:srgbClr val="595959"/>
                </a:solidFill>
                <a:latin typeface="Calibri"/>
              </a:rPr>
              <a:t>Land Conflict Watch: 703 ongoing land conflicts affecting 6.5 million people &amp; ₹13.7 lakh crore investment; CAG: “abnormal delays” in 66% of audited acquisition cases.</a:t>
            </a:r>
          </a:p>
        </p:txBody>
      </p:sp>
      <p:sp>
        <p:nvSpPr>
          <p:cNvPr id="15367" name="Rectangle 15366"/>
          <p:cNvSpPr/>
          <p:nvPr/>
        </p:nvSpPr>
        <p:spPr>
          <a:xfrm>
            <a:off x="3429000" y="1828800"/>
            <a:ext cx="4983480" cy="4434840"/>
          </a:xfrm>
          <a:prstGeom prst="rect">
            <a:avLst/>
          </a:prstGeom>
          <a:solidFill>
            <a:srgbClr val="EDF4FA"/>
          </a:solidFill>
          <a:ln w="9525">
            <a:solidFill>
              <a:srgbClr val="8CB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8" name="Rectangle 15367"/>
          <p:cNvSpPr/>
          <p:nvPr/>
        </p:nvSpPr>
        <p:spPr>
          <a:xfrm>
            <a:off x="3429000" y="1828800"/>
            <a:ext cx="4983480" cy="29260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200" b="1" i="0">
                <a:solidFill>
                  <a:srgbClr val="FFFFFF"/>
                </a:solidFill>
                <a:latin typeface="Calibri"/>
              </a:rPr>
              <a:t>HOW NILAMS SOLVES IT</a:t>
            </a:r>
          </a:p>
        </p:txBody>
      </p:sp>
      <p:sp>
        <p:nvSpPr>
          <p:cNvPr id="15369" name="TextBox 15368"/>
          <p:cNvSpPr txBox="1"/>
          <p:nvPr/>
        </p:nvSpPr>
        <p:spPr>
          <a:xfrm>
            <a:off x="3474720" y="2176272"/>
            <a:ext cx="4892040" cy="4069079"/>
          </a:xfrm>
          <a:prstGeom prst="rect">
            <a:avLst/>
          </a:prstGeom>
          <a:noFill/>
        </p:spPr>
        <p:txBody>
          <a:bodyPr wrap="square" anchor="t" lIns="36576" rIns="36576" tIns="36576" bIns="36576"/>
          <a:lstStyle/>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Law-driven digital workflow</a:t>
            </a:r>
            <a:r>
              <a:rPr sz="980" b="0" i="0">
                <a:solidFill>
                  <a:srgbClr val="212121"/>
                </a:solidFill>
                <a:latin typeface="Calibri"/>
              </a:rPr>
              <a:t> — 12-step RFCTLARR lifecycle + 6-step R&amp;R, configurable per State; automated routing &amp; status tracking</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Online submission, scrutiny &amp; approval</a:t>
            </a:r>
            <a:r>
              <a:rPr sz="980" b="0" i="0">
                <a:solidFill>
                  <a:srgbClr val="212121"/>
                </a:solidFill>
                <a:latin typeface="Calibri"/>
              </a:rPr>
              <a:t> — Agency → District → State → Centre, role-based</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GIS parcel intelligence</a:t>
            </a:r>
            <a:r>
              <a:rPr sz="980" b="0" i="0">
                <a:solidFill>
                  <a:srgbClr val="212121"/>
                </a:solidFill>
                <a:latin typeface="Calibri"/>
              </a:rPr>
              <a:t> — every parcel geo-tagged (ULPIN), satellite map, alignment, impact buffer, 3D terrain</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Families register</a:t>
            </a:r>
            <a:r>
              <a:rPr sz="980" b="0" i="0">
                <a:solidFill>
                  <a:srgbClr val="212121"/>
                </a:solidFill>
                <a:latin typeface="Calibri"/>
              </a:rPr>
              <a:t> — titleholders + non-titleholders; Second &amp; Third Schedule entitlements tracked</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Transparent compensation</a:t>
            </a:r>
            <a:r>
              <a:rPr sz="980" b="0" i="0">
                <a:solidFill>
                  <a:srgbClr val="212121"/>
                </a:solidFill>
                <a:latin typeface="Calibri"/>
              </a:rPr>
              <a:t> — each component with its legal section; paid via PFMS/DBT</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Real-time national dashboard</a:t>
            </a:r>
            <a:r>
              <a:rPr sz="980" b="0" i="0">
                <a:solidFill>
                  <a:srgbClr val="212121"/>
                </a:solidFill>
                <a:latin typeface="Calibri"/>
              </a:rPr>
              <a:t> — land proposed/acquired, notifications, awards, compensation, possession, R&amp;R, affected &amp; displaced families, timelines; nation → parcel drill-down</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Standard data &amp; master databases</a:t>
            </a:r>
            <a:r>
              <a:rPr sz="980" b="0" i="0">
                <a:solidFill>
                  <a:srgbClr val="212121"/>
                </a:solidFill>
                <a:latin typeface="Calibri"/>
              </a:rPr>
              <a:t> — uniform templates, validation, LGD codes for all States/UTs</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Smart intake &amp; document vault</a:t>
            </a:r>
            <a:r>
              <a:rPr sz="980" b="0" i="0">
                <a:solidFill>
                  <a:srgbClr val="212121"/>
                </a:solidFill>
                <a:latin typeface="Calibri"/>
              </a:rPr>
              <a:t> — one village record creates all parcels &amp; families; versioned notices, awards, maps</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Alerts &amp; MIS</a:t>
            </a:r>
            <a:r>
              <a:rPr sz="980" b="0" i="0">
                <a:solidFill>
                  <a:srgbClr val="212121"/>
                </a:solidFill>
                <a:latin typeface="Calibri"/>
              </a:rPr>
              <a:t> — pending approvals, delays, deadlines, payments; custom reports, trends, comparisons</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Predictive analytics</a:t>
            </a:r>
            <a:r>
              <a:rPr sz="980" b="0" i="0">
                <a:solidFill>
                  <a:srgbClr val="212121"/>
                </a:solidFill>
                <a:latin typeface="Calibri"/>
              </a:rPr>
              <a:t> — delay risk, fair land rate, encroachment &amp; duplicate-claim detection</a:t>
            </a:r>
          </a:p>
          <a:p>
            <a:pPr algn="l" marL="155448" indent="-155448">
              <a:lnSpc>
                <a:spcPct val="100000"/>
              </a:lnSpc>
              <a:spcBef>
                <a:spcPts val="0"/>
              </a:spcBef>
              <a:spcAft>
                <a:spcPts val="260"/>
              </a:spcAft>
              <a:buClr>
                <a:srgbClr val="0070C0"/>
              </a:buClr>
              <a:buFont typeface="Arial"/>
              <a:buChar char="✔"/>
            </a:pPr>
            <a:r>
              <a:rPr sz="980" b="1" i="0">
                <a:solidFill>
                  <a:srgbClr val="0070C0"/>
                </a:solidFill>
                <a:latin typeface="Calibri"/>
              </a:rPr>
              <a:t>Citizen portal &amp; field app</a:t>
            </a:r>
            <a:r>
              <a:rPr sz="980" b="0" i="0">
                <a:solidFill>
                  <a:srgbClr val="212121"/>
                </a:solidFill>
                <a:latin typeface="Calibri"/>
              </a:rPr>
              <a:t> — status, grievances, voice assistant in 22 languages; offline mobile verification</a:t>
            </a:r>
          </a:p>
        </p:txBody>
      </p:sp>
      <p:sp>
        <p:nvSpPr>
          <p:cNvPr id="15370" name="Rectangle 15369"/>
          <p:cNvSpPr/>
          <p:nvPr/>
        </p:nvSpPr>
        <p:spPr>
          <a:xfrm>
            <a:off x="8503920" y="1828800"/>
            <a:ext cx="3410712" cy="4434840"/>
          </a:xfrm>
          <a:prstGeom prst="rect">
            <a:avLst/>
          </a:prstGeom>
          <a:solidFill>
            <a:srgbClr val="F0F5F0"/>
          </a:solidFill>
          <a:ln w="9525">
            <a:solidFill>
              <a:srgbClr val="A0C4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1" name="Rectangle 15370"/>
          <p:cNvSpPr/>
          <p:nvPr/>
        </p:nvSpPr>
        <p:spPr>
          <a:xfrm>
            <a:off x="8503920" y="1828800"/>
            <a:ext cx="3410712"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200" b="1" i="0">
                <a:solidFill>
                  <a:srgbClr val="FFFFFF"/>
                </a:solidFill>
                <a:latin typeface="Calibri"/>
              </a:rPr>
              <a:t>INNOVATION &amp; UNIQUENESS</a:t>
            </a:r>
          </a:p>
        </p:txBody>
      </p:sp>
      <p:sp>
        <p:nvSpPr>
          <p:cNvPr id="15372" name="TextBox 15371"/>
          <p:cNvSpPr txBox="1"/>
          <p:nvPr/>
        </p:nvSpPr>
        <p:spPr>
          <a:xfrm>
            <a:off x="8549640" y="2176272"/>
            <a:ext cx="3319272" cy="3017520"/>
          </a:xfrm>
          <a:prstGeom prst="rect">
            <a:avLst/>
          </a:prstGeom>
          <a:noFill/>
        </p:spPr>
        <p:txBody>
          <a:bodyPr wrap="square" anchor="t" lIns="36576" rIns="36576" tIns="36576" bIns="36576"/>
          <a:lstStyle/>
          <a:p>
            <a:pPr algn="l" marL="128016" indent="-128016">
              <a:lnSpc>
                <a:spcPct val="100000"/>
              </a:lnSpc>
              <a:spcBef>
                <a:spcPts val="0"/>
              </a:spcBef>
              <a:spcAft>
                <a:spcPts val="350"/>
              </a:spcAft>
              <a:buClr>
                <a:srgbClr val="2E7D32"/>
              </a:buClr>
              <a:buFont typeface="Arial"/>
              <a:buChar char="★"/>
            </a:pPr>
            <a:r>
              <a:rPr sz="1040" b="1" i="0">
                <a:solidFill>
                  <a:srgbClr val="2E7D32"/>
                </a:solidFill>
                <a:latin typeface="Calibri"/>
              </a:rPr>
              <a:t>Law as code: </a:t>
            </a:r>
            <a:r>
              <a:rPr sz="1040" b="0" i="0">
                <a:solidFill>
                  <a:srgbClr val="212121"/>
                </a:solidFill>
                <a:latin typeface="Calibri"/>
              </a:rPr>
              <a:t>stages can't be skipped; a court stay auto-blocks payment &amp; possession</a:t>
            </a:r>
          </a:p>
          <a:p>
            <a:pPr algn="l" marL="128016" indent="-128016">
              <a:lnSpc>
                <a:spcPct val="100000"/>
              </a:lnSpc>
              <a:spcBef>
                <a:spcPts val="0"/>
              </a:spcBef>
              <a:spcAft>
                <a:spcPts val="350"/>
              </a:spcAft>
              <a:buClr>
                <a:srgbClr val="2E7D32"/>
              </a:buClr>
              <a:buFont typeface="Arial"/>
              <a:buChar char="★"/>
            </a:pPr>
            <a:r>
              <a:rPr sz="1040" b="1" i="0">
                <a:solidFill>
                  <a:srgbClr val="2E7D32"/>
                </a:solidFill>
                <a:latin typeface="Calibri"/>
              </a:rPr>
              <a:t>Explainable AI: </a:t>
            </a:r>
            <a:r>
              <a:rPr sz="1040" b="0" i="0">
                <a:solidFill>
                  <a:srgbClr val="212121"/>
                </a:solidFill>
                <a:latin typeface="Calibri"/>
              </a:rPr>
              <a:t>every score shows its formula — defensible in audit &amp; court</a:t>
            </a:r>
          </a:p>
          <a:p>
            <a:pPr algn="l" marL="128016" indent="-128016">
              <a:lnSpc>
                <a:spcPct val="100000"/>
              </a:lnSpc>
              <a:spcBef>
                <a:spcPts val="0"/>
              </a:spcBef>
              <a:spcAft>
                <a:spcPts val="350"/>
              </a:spcAft>
              <a:buClr>
                <a:srgbClr val="2E7D32"/>
              </a:buClr>
              <a:buFont typeface="Arial"/>
              <a:buChar char="★"/>
            </a:pPr>
            <a:r>
              <a:rPr sz="1040" b="1" i="0">
                <a:solidFill>
                  <a:srgbClr val="2E7D32"/>
                </a:solidFill>
                <a:latin typeface="Calibri"/>
              </a:rPr>
              <a:t>People-centric: </a:t>
            </a:r>
            <a:r>
              <a:rPr sz="1040" b="0" i="0">
                <a:solidFill>
                  <a:srgbClr val="212121"/>
                </a:solidFill>
                <a:latin typeface="Calibri"/>
              </a:rPr>
              <a:t>tracks non-titleholder families the law protects</a:t>
            </a:r>
          </a:p>
          <a:p>
            <a:pPr algn="l" marL="128016" indent="-128016">
              <a:lnSpc>
                <a:spcPct val="100000"/>
              </a:lnSpc>
              <a:spcBef>
                <a:spcPts val="0"/>
              </a:spcBef>
              <a:spcAft>
                <a:spcPts val="350"/>
              </a:spcAft>
              <a:buClr>
                <a:srgbClr val="2E7D32"/>
              </a:buClr>
              <a:buFont typeface="Arial"/>
              <a:buChar char="★"/>
            </a:pPr>
            <a:r>
              <a:rPr sz="1040" b="1" i="0">
                <a:solidFill>
                  <a:srgbClr val="2E7D32"/>
                </a:solidFill>
                <a:latin typeface="Calibri"/>
              </a:rPr>
              <a:t>Tamper-evident ledger: </a:t>
            </a:r>
            <a:r>
              <a:rPr sz="1040" b="0" i="0">
                <a:solidFill>
                  <a:srgbClr val="212121"/>
                </a:solidFill>
                <a:latin typeface="Calibri"/>
              </a:rPr>
              <a:t>hash-chained audit, reason required for every edit</a:t>
            </a:r>
          </a:p>
          <a:p>
            <a:pPr algn="l" marL="128016" indent="-128016">
              <a:lnSpc>
                <a:spcPct val="100000"/>
              </a:lnSpc>
              <a:spcBef>
                <a:spcPts val="0"/>
              </a:spcBef>
              <a:spcAft>
                <a:spcPts val="350"/>
              </a:spcAft>
              <a:buClr>
                <a:srgbClr val="2E7D32"/>
              </a:buClr>
              <a:buFont typeface="Arial"/>
              <a:buChar char="★"/>
            </a:pPr>
            <a:r>
              <a:rPr sz="1040" b="1" i="0">
                <a:solidFill>
                  <a:srgbClr val="2E7D32"/>
                </a:solidFill>
                <a:latin typeface="Calibri"/>
              </a:rPr>
              <a:t>Fraud detection: </a:t>
            </a:r>
            <a:r>
              <a:rPr sz="1040" b="0" i="0">
                <a:solidFill>
                  <a:srgbClr val="212121"/>
                </a:solidFill>
                <a:latin typeface="Calibri"/>
              </a:rPr>
              <a:t>same family compensated twice is flagged</a:t>
            </a:r>
          </a:p>
          <a:p>
            <a:pPr algn="l" marL="128016" indent="-128016">
              <a:lnSpc>
                <a:spcPct val="100000"/>
              </a:lnSpc>
              <a:spcBef>
                <a:spcPts val="0"/>
              </a:spcBef>
              <a:spcAft>
                <a:spcPts val="350"/>
              </a:spcAft>
              <a:buClr>
                <a:srgbClr val="2E7D32"/>
              </a:buClr>
              <a:buFont typeface="Arial"/>
              <a:buChar char="★"/>
            </a:pPr>
            <a:r>
              <a:rPr sz="1040" b="1" i="0">
                <a:solidFill>
                  <a:srgbClr val="2E7D32"/>
                </a:solidFill>
                <a:latin typeface="Calibri"/>
              </a:rPr>
              <a:t>Built on India Stack: </a:t>
            </a:r>
            <a:r>
              <a:rPr sz="1040" b="0" i="0">
                <a:solidFill>
                  <a:srgbClr val="212121"/>
                </a:solidFill>
                <a:latin typeface="Calibri"/>
              </a:rPr>
              <a:t>ULPIN, e-Gazette, PFMS, DigiLocker, Bhashini, Gati Shakti</a:t>
            </a:r>
          </a:p>
          <a:p>
            <a:pPr algn="l" marL="128016" indent="-128016">
              <a:lnSpc>
                <a:spcPct val="100000"/>
              </a:lnSpc>
              <a:spcBef>
                <a:spcPts val="0"/>
              </a:spcBef>
              <a:spcAft>
                <a:spcPts val="350"/>
              </a:spcAft>
              <a:buClr>
                <a:srgbClr val="2E7D32"/>
              </a:buClr>
              <a:buFont typeface="Arial"/>
              <a:buChar char="★"/>
            </a:pPr>
            <a:r>
              <a:rPr sz="1040" b="1" i="0">
                <a:solidFill>
                  <a:srgbClr val="2E7D32"/>
                </a:solidFill>
                <a:latin typeface="Calibri"/>
              </a:rPr>
              <a:t>Citizen-first: </a:t>
            </a:r>
            <a:r>
              <a:rPr sz="1040" b="0" i="0">
                <a:solidFill>
                  <a:srgbClr val="212121"/>
                </a:solidFill>
                <a:latin typeface="Calibri"/>
              </a:rPr>
              <a:t>“What is my land worth, why, who decided, how to object?”</a:t>
            </a:r>
          </a:p>
        </p:txBody>
      </p:sp>
      <p:sp>
        <p:nvSpPr>
          <p:cNvPr id="15373" name="Rounded Rectangle 15372"/>
          <p:cNvSpPr/>
          <p:nvPr/>
        </p:nvSpPr>
        <p:spPr>
          <a:xfrm>
            <a:off x="8595360" y="5330952"/>
            <a:ext cx="3227832" cy="859536"/>
          </a:xfrm>
          <a:prstGeom prst="roundRect">
            <a:avLst/>
          </a:prstGeom>
          <a:solidFill>
            <a:srgbClr val="FFFFFF"/>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lnSpc>
                <a:spcPct val="100000"/>
              </a:lnSpc>
              <a:spcBef>
                <a:spcPts val="0"/>
              </a:spcBef>
              <a:spcAft>
                <a:spcPts val="100"/>
              </a:spcAft>
            </a:pPr>
            <a:r>
              <a:rPr sz="950" b="1" i="0">
                <a:solidFill>
                  <a:srgbClr val="2E7D32"/>
                </a:solidFill>
                <a:latin typeface="Calibri"/>
              </a:rPr>
              <a:t>✅ Working prototype already built</a:t>
            </a:r>
          </a:p>
          <a:p>
            <a:pPr algn="l">
              <a:lnSpc>
                <a:spcPct val="100000"/>
              </a:lnSpc>
              <a:spcBef>
                <a:spcPts val="0"/>
              </a:spcBef>
              <a:spcAft>
                <a:spcPts val="200"/>
              </a:spcAft>
            </a:pPr>
            <a:r>
              <a:rPr sz="850" b="0" i="0">
                <a:solidFill>
                  <a:srgbClr val="212121"/>
                </a:solidFill>
                <a:latin typeface="Calibri"/>
              </a:rPr>
              <a:t>Full workflow · GIS map &amp; 3D · families &amp; compensation · village-batch intake · audit ledger · bilingual voice assistant · offline field app · 480+ automated tests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1783080" y="0"/>
            <a:ext cx="7863840" cy="105156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274320" y="1143000"/>
            <a:ext cx="3840480" cy="5120640"/>
          </a:xfrm>
          <a:prstGeom prst="rect">
            <a:avLst/>
          </a:prstGeom>
          <a:solidFill>
            <a:srgbClr val="EFF1F4"/>
          </a:solidFill>
          <a:ln w="9525">
            <a:solidFill>
              <a:srgbClr val="9AA5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ectangle 17410"/>
          <p:cNvSpPr/>
          <p:nvPr/>
        </p:nvSpPr>
        <p:spPr>
          <a:xfrm>
            <a:off x="274320" y="1143000"/>
            <a:ext cx="384048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200" b="1" i="0">
                <a:solidFill>
                  <a:srgbClr val="FFFFFF"/>
                </a:solidFill>
                <a:latin typeface="Calibri"/>
              </a:rPr>
              <a:t>TECHNOLOGIES TO BE USED</a:t>
            </a:r>
          </a:p>
        </p:txBody>
      </p:sp>
      <p:sp>
        <p:nvSpPr>
          <p:cNvPr id="17412" name="TextBox 17411"/>
          <p:cNvSpPr txBox="1"/>
          <p:nvPr/>
        </p:nvSpPr>
        <p:spPr>
          <a:xfrm>
            <a:off x="365760" y="1508760"/>
            <a:ext cx="3657600" cy="201168"/>
          </a:xfrm>
          <a:prstGeom prst="rect">
            <a:avLst/>
          </a:prstGeom>
          <a:noFill/>
        </p:spPr>
        <p:txBody>
          <a:bodyPr wrap="square" anchor="t" lIns="0" rIns="0" tIns="0" bIns="0"/>
          <a:lstStyle/>
          <a:p>
            <a:pPr algn="l">
              <a:lnSpc>
                <a:spcPct val="100000"/>
              </a:lnSpc>
              <a:spcBef>
                <a:spcPts val="0"/>
              </a:spcBef>
              <a:spcAft>
                <a:spcPts val="200"/>
              </a:spcAft>
            </a:pPr>
            <a:r>
              <a:rPr sz="900" b="1" i="0">
                <a:solidFill>
                  <a:srgbClr val="1F3864"/>
                </a:solidFill>
                <a:latin typeface="Calibri"/>
              </a:rPr>
              <a:t>Frontend · Web + Mobile (PWA)</a:t>
            </a:r>
          </a:p>
        </p:txBody>
      </p:sp>
      <p:pic>
        <p:nvPicPr>
          <p:cNvPr id="17413" name="logo-Next.js" descr="Next.js logo"/>
          <p:cNvPicPr>
            <a:picLocks noChangeAspect="1"/>
          </p:cNvPicPr>
          <p:nvPr/>
        </p:nvPicPr>
        <p:blipFill>
          <a:blip r:embed="rId4"/>
          <a:stretch>
            <a:fillRect/>
          </a:stretch>
        </p:blipFill>
        <p:spPr>
          <a:xfrm>
            <a:off x="566928" y="1709928"/>
            <a:ext cx="329184" cy="329184"/>
          </a:xfrm>
          <a:prstGeom prst="rect">
            <a:avLst/>
          </a:prstGeom>
        </p:spPr>
      </p:pic>
      <p:sp>
        <p:nvSpPr>
          <p:cNvPr id="17414" name="TextBox 17413"/>
          <p:cNvSpPr txBox="1"/>
          <p:nvPr/>
        </p:nvSpPr>
        <p:spPr>
          <a:xfrm>
            <a:off x="347472" y="2048255"/>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Next.js</a:t>
            </a:r>
          </a:p>
        </p:txBody>
      </p:sp>
      <p:pic>
        <p:nvPicPr>
          <p:cNvPr id="17415" name="logo-React" descr="React logo"/>
          <p:cNvPicPr>
            <a:picLocks noChangeAspect="1"/>
          </p:cNvPicPr>
          <p:nvPr/>
        </p:nvPicPr>
        <p:blipFill>
          <a:blip r:embed="rId5"/>
          <a:stretch>
            <a:fillRect/>
          </a:stretch>
        </p:blipFill>
        <p:spPr>
          <a:xfrm>
            <a:off x="1298448" y="1709928"/>
            <a:ext cx="329184" cy="329184"/>
          </a:xfrm>
          <a:prstGeom prst="rect">
            <a:avLst/>
          </a:prstGeom>
        </p:spPr>
      </p:pic>
      <p:sp>
        <p:nvSpPr>
          <p:cNvPr id="17416" name="TextBox 17415"/>
          <p:cNvSpPr txBox="1"/>
          <p:nvPr/>
        </p:nvSpPr>
        <p:spPr>
          <a:xfrm>
            <a:off x="1078992" y="2048255"/>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React</a:t>
            </a:r>
          </a:p>
        </p:txBody>
      </p:sp>
      <p:pic>
        <p:nvPicPr>
          <p:cNvPr id="17417" name="logo-TypeScript" descr="TypeScript logo"/>
          <p:cNvPicPr>
            <a:picLocks noChangeAspect="1"/>
          </p:cNvPicPr>
          <p:nvPr/>
        </p:nvPicPr>
        <p:blipFill>
          <a:blip r:embed="rId6"/>
          <a:stretch>
            <a:fillRect/>
          </a:stretch>
        </p:blipFill>
        <p:spPr>
          <a:xfrm>
            <a:off x="2029968" y="1709928"/>
            <a:ext cx="329184" cy="329184"/>
          </a:xfrm>
          <a:prstGeom prst="rect">
            <a:avLst/>
          </a:prstGeom>
        </p:spPr>
      </p:pic>
      <p:sp>
        <p:nvSpPr>
          <p:cNvPr id="17418" name="TextBox 17417"/>
          <p:cNvSpPr txBox="1"/>
          <p:nvPr/>
        </p:nvSpPr>
        <p:spPr>
          <a:xfrm>
            <a:off x="1810512" y="2048255"/>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TypeScript</a:t>
            </a:r>
          </a:p>
        </p:txBody>
      </p:sp>
      <p:pic>
        <p:nvPicPr>
          <p:cNvPr id="17419" name="logo-Tailwind" descr="Tailwind logo"/>
          <p:cNvPicPr>
            <a:picLocks noChangeAspect="1"/>
          </p:cNvPicPr>
          <p:nvPr/>
        </p:nvPicPr>
        <p:blipFill>
          <a:blip r:embed="rId7"/>
          <a:stretch>
            <a:fillRect/>
          </a:stretch>
        </p:blipFill>
        <p:spPr>
          <a:xfrm>
            <a:off x="2761488" y="1709928"/>
            <a:ext cx="329184" cy="329184"/>
          </a:xfrm>
          <a:prstGeom prst="rect">
            <a:avLst/>
          </a:prstGeom>
        </p:spPr>
      </p:pic>
      <p:sp>
        <p:nvSpPr>
          <p:cNvPr id="17420" name="TextBox 17419"/>
          <p:cNvSpPr txBox="1"/>
          <p:nvPr/>
        </p:nvSpPr>
        <p:spPr>
          <a:xfrm>
            <a:off x="2542032" y="2048255"/>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Tailwind</a:t>
            </a:r>
          </a:p>
        </p:txBody>
      </p:sp>
      <p:pic>
        <p:nvPicPr>
          <p:cNvPr id="17421" name="logo-PWA" descr="PWA logo"/>
          <p:cNvPicPr>
            <a:picLocks noChangeAspect="1"/>
          </p:cNvPicPr>
          <p:nvPr/>
        </p:nvPicPr>
        <p:blipFill>
          <a:blip r:embed="rId8"/>
          <a:stretch>
            <a:fillRect/>
          </a:stretch>
        </p:blipFill>
        <p:spPr>
          <a:xfrm>
            <a:off x="3493008" y="1709928"/>
            <a:ext cx="329184" cy="329184"/>
          </a:xfrm>
          <a:prstGeom prst="rect">
            <a:avLst/>
          </a:prstGeom>
        </p:spPr>
      </p:pic>
      <p:sp>
        <p:nvSpPr>
          <p:cNvPr id="17422" name="TextBox 17421"/>
          <p:cNvSpPr txBox="1"/>
          <p:nvPr/>
        </p:nvSpPr>
        <p:spPr>
          <a:xfrm>
            <a:off x="3273552" y="2048255"/>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PWA</a:t>
            </a:r>
          </a:p>
        </p:txBody>
      </p:sp>
      <p:sp>
        <p:nvSpPr>
          <p:cNvPr id="17423" name="TextBox 17422"/>
          <p:cNvSpPr txBox="1"/>
          <p:nvPr/>
        </p:nvSpPr>
        <p:spPr>
          <a:xfrm>
            <a:off x="365760" y="2276856"/>
            <a:ext cx="3657600" cy="201168"/>
          </a:xfrm>
          <a:prstGeom prst="rect">
            <a:avLst/>
          </a:prstGeom>
          <a:noFill/>
        </p:spPr>
        <p:txBody>
          <a:bodyPr wrap="square" anchor="t" lIns="0" rIns="0" tIns="0" bIns="0"/>
          <a:lstStyle/>
          <a:p>
            <a:pPr algn="l">
              <a:lnSpc>
                <a:spcPct val="100000"/>
              </a:lnSpc>
              <a:spcBef>
                <a:spcPts val="0"/>
              </a:spcBef>
              <a:spcAft>
                <a:spcPts val="200"/>
              </a:spcAft>
            </a:pPr>
            <a:r>
              <a:rPr sz="900" b="1" i="0">
                <a:solidFill>
                  <a:srgbClr val="1F3864"/>
                </a:solidFill>
                <a:latin typeface="Calibri"/>
              </a:rPr>
              <a:t>Backend · APIs · Database</a:t>
            </a:r>
          </a:p>
        </p:txBody>
      </p:sp>
      <p:pic>
        <p:nvPicPr>
          <p:cNvPr id="17424" name="logo-Node.js" descr="Node.js logo"/>
          <p:cNvPicPr>
            <a:picLocks noChangeAspect="1"/>
          </p:cNvPicPr>
          <p:nvPr/>
        </p:nvPicPr>
        <p:blipFill>
          <a:blip r:embed="rId9"/>
          <a:stretch>
            <a:fillRect/>
          </a:stretch>
        </p:blipFill>
        <p:spPr>
          <a:xfrm>
            <a:off x="566928" y="2478024"/>
            <a:ext cx="329184" cy="329184"/>
          </a:xfrm>
          <a:prstGeom prst="rect">
            <a:avLst/>
          </a:prstGeom>
        </p:spPr>
      </p:pic>
      <p:sp>
        <p:nvSpPr>
          <p:cNvPr id="17425" name="TextBox 17424"/>
          <p:cNvSpPr txBox="1"/>
          <p:nvPr/>
        </p:nvSpPr>
        <p:spPr>
          <a:xfrm>
            <a:off x="347472" y="2816352"/>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Node.js</a:t>
            </a:r>
          </a:p>
        </p:txBody>
      </p:sp>
      <p:pic>
        <p:nvPicPr>
          <p:cNvPr id="17426" name="logo-REST/GraphQL" descr="REST/GraphQL logo"/>
          <p:cNvPicPr>
            <a:picLocks noChangeAspect="1"/>
          </p:cNvPicPr>
          <p:nvPr/>
        </p:nvPicPr>
        <p:blipFill>
          <a:blip r:embed="rId10"/>
          <a:stretch>
            <a:fillRect/>
          </a:stretch>
        </p:blipFill>
        <p:spPr>
          <a:xfrm>
            <a:off x="1298448" y="2478024"/>
            <a:ext cx="329184" cy="329184"/>
          </a:xfrm>
          <a:prstGeom prst="rect">
            <a:avLst/>
          </a:prstGeom>
        </p:spPr>
      </p:pic>
      <p:sp>
        <p:nvSpPr>
          <p:cNvPr id="17427" name="TextBox 17426"/>
          <p:cNvSpPr txBox="1"/>
          <p:nvPr/>
        </p:nvSpPr>
        <p:spPr>
          <a:xfrm>
            <a:off x="1078992" y="2816352"/>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REST/GraphQL</a:t>
            </a:r>
          </a:p>
        </p:txBody>
      </p:sp>
      <p:pic>
        <p:nvPicPr>
          <p:cNvPr id="17428" name="logo-PostgreSQL+PostGIS" descr="PostgreSQL+PostGIS logo"/>
          <p:cNvPicPr>
            <a:picLocks noChangeAspect="1"/>
          </p:cNvPicPr>
          <p:nvPr/>
        </p:nvPicPr>
        <p:blipFill>
          <a:blip r:embed="rId11"/>
          <a:stretch>
            <a:fillRect/>
          </a:stretch>
        </p:blipFill>
        <p:spPr>
          <a:xfrm>
            <a:off x="2029968" y="2478024"/>
            <a:ext cx="329184" cy="329184"/>
          </a:xfrm>
          <a:prstGeom prst="rect">
            <a:avLst/>
          </a:prstGeom>
        </p:spPr>
      </p:pic>
      <p:sp>
        <p:nvSpPr>
          <p:cNvPr id="17429" name="TextBox 17428"/>
          <p:cNvSpPr txBox="1"/>
          <p:nvPr/>
        </p:nvSpPr>
        <p:spPr>
          <a:xfrm>
            <a:off x="1810512" y="2816352"/>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PostgreSQL+PostGIS</a:t>
            </a:r>
          </a:p>
        </p:txBody>
      </p:sp>
      <p:pic>
        <p:nvPicPr>
          <p:cNvPr id="17430" name="logo-Drizzle ORM" descr="Drizzle ORM logo"/>
          <p:cNvPicPr>
            <a:picLocks noChangeAspect="1"/>
          </p:cNvPicPr>
          <p:nvPr/>
        </p:nvPicPr>
        <p:blipFill>
          <a:blip r:embed="rId12"/>
          <a:stretch>
            <a:fillRect/>
          </a:stretch>
        </p:blipFill>
        <p:spPr>
          <a:xfrm>
            <a:off x="2761488" y="2478024"/>
            <a:ext cx="329184" cy="329184"/>
          </a:xfrm>
          <a:prstGeom prst="rect">
            <a:avLst/>
          </a:prstGeom>
        </p:spPr>
      </p:pic>
      <p:sp>
        <p:nvSpPr>
          <p:cNvPr id="17431" name="TextBox 17430"/>
          <p:cNvSpPr txBox="1"/>
          <p:nvPr/>
        </p:nvSpPr>
        <p:spPr>
          <a:xfrm>
            <a:off x="2542032" y="2816352"/>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Drizzle ORM</a:t>
            </a:r>
          </a:p>
        </p:txBody>
      </p:sp>
      <p:sp>
        <p:nvSpPr>
          <p:cNvPr id="17432" name="TextBox 17431"/>
          <p:cNvSpPr txBox="1"/>
          <p:nvPr/>
        </p:nvSpPr>
        <p:spPr>
          <a:xfrm>
            <a:off x="365760" y="3044952"/>
            <a:ext cx="3657600" cy="201168"/>
          </a:xfrm>
          <a:prstGeom prst="rect">
            <a:avLst/>
          </a:prstGeom>
          <a:noFill/>
        </p:spPr>
        <p:txBody>
          <a:bodyPr wrap="square" anchor="t" lIns="0" rIns="0" tIns="0" bIns="0"/>
          <a:lstStyle/>
          <a:p>
            <a:pPr algn="l">
              <a:lnSpc>
                <a:spcPct val="100000"/>
              </a:lnSpc>
              <a:spcBef>
                <a:spcPts val="0"/>
              </a:spcBef>
              <a:spcAft>
                <a:spcPts val="200"/>
              </a:spcAft>
            </a:pPr>
            <a:r>
              <a:rPr sz="900" b="1" i="0">
                <a:solidFill>
                  <a:srgbClr val="1F3864"/>
                </a:solidFill>
                <a:latin typeface="Calibri"/>
              </a:rPr>
              <a:t>GIS · Maps · 3D</a:t>
            </a:r>
          </a:p>
        </p:txBody>
      </p:sp>
      <p:pic>
        <p:nvPicPr>
          <p:cNvPr id="17433" name="logo-QGIS" descr="QGIS logo"/>
          <p:cNvPicPr>
            <a:picLocks noChangeAspect="1"/>
          </p:cNvPicPr>
          <p:nvPr/>
        </p:nvPicPr>
        <p:blipFill>
          <a:blip r:embed="rId13"/>
          <a:stretch>
            <a:fillRect/>
          </a:stretch>
        </p:blipFill>
        <p:spPr>
          <a:xfrm>
            <a:off x="566928" y="3246120"/>
            <a:ext cx="329184" cy="329184"/>
          </a:xfrm>
          <a:prstGeom prst="rect">
            <a:avLst/>
          </a:prstGeom>
        </p:spPr>
      </p:pic>
      <p:sp>
        <p:nvSpPr>
          <p:cNvPr id="17434" name="TextBox 17433"/>
          <p:cNvSpPr txBox="1"/>
          <p:nvPr/>
        </p:nvSpPr>
        <p:spPr>
          <a:xfrm>
            <a:off x="347472" y="3584448"/>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QGIS</a:t>
            </a:r>
          </a:p>
        </p:txBody>
      </p:sp>
      <p:pic>
        <p:nvPicPr>
          <p:cNvPr id="17435" name="logo-Leaflet/MapLibre" descr="Leaflet/MapLibre logo"/>
          <p:cNvPicPr>
            <a:picLocks noChangeAspect="1"/>
          </p:cNvPicPr>
          <p:nvPr/>
        </p:nvPicPr>
        <p:blipFill>
          <a:blip r:embed="rId14"/>
          <a:stretch>
            <a:fillRect/>
          </a:stretch>
        </p:blipFill>
        <p:spPr>
          <a:xfrm>
            <a:off x="1298448" y="3246120"/>
            <a:ext cx="329184" cy="329184"/>
          </a:xfrm>
          <a:prstGeom prst="rect">
            <a:avLst/>
          </a:prstGeom>
        </p:spPr>
      </p:pic>
      <p:sp>
        <p:nvSpPr>
          <p:cNvPr id="17436" name="TextBox 17435"/>
          <p:cNvSpPr txBox="1"/>
          <p:nvPr/>
        </p:nvSpPr>
        <p:spPr>
          <a:xfrm>
            <a:off x="1078992" y="3584448"/>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Leaflet/MapLibre</a:t>
            </a:r>
          </a:p>
        </p:txBody>
      </p:sp>
      <p:pic>
        <p:nvPicPr>
          <p:cNvPr id="17437" name="logo-OpenStreetMap" descr="OpenStreetMap logo"/>
          <p:cNvPicPr>
            <a:picLocks noChangeAspect="1"/>
          </p:cNvPicPr>
          <p:nvPr/>
        </p:nvPicPr>
        <p:blipFill>
          <a:blip r:embed="rId15"/>
          <a:stretch>
            <a:fillRect/>
          </a:stretch>
        </p:blipFill>
        <p:spPr>
          <a:xfrm>
            <a:off x="2029968" y="3246120"/>
            <a:ext cx="329184" cy="329184"/>
          </a:xfrm>
          <a:prstGeom prst="rect">
            <a:avLst/>
          </a:prstGeom>
        </p:spPr>
      </p:pic>
      <p:sp>
        <p:nvSpPr>
          <p:cNvPr id="17438" name="TextBox 17437"/>
          <p:cNvSpPr txBox="1"/>
          <p:nvPr/>
        </p:nvSpPr>
        <p:spPr>
          <a:xfrm>
            <a:off x="1810512" y="3584448"/>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OpenStreetMap</a:t>
            </a:r>
          </a:p>
        </p:txBody>
      </p:sp>
      <p:pic>
        <p:nvPicPr>
          <p:cNvPr id="17439" name="logo-Three.js" descr="Three.js logo"/>
          <p:cNvPicPr>
            <a:picLocks noChangeAspect="1"/>
          </p:cNvPicPr>
          <p:nvPr/>
        </p:nvPicPr>
        <p:blipFill>
          <a:blip r:embed="rId16"/>
          <a:stretch>
            <a:fillRect/>
          </a:stretch>
        </p:blipFill>
        <p:spPr>
          <a:xfrm>
            <a:off x="2761488" y="3246120"/>
            <a:ext cx="329184" cy="329184"/>
          </a:xfrm>
          <a:prstGeom prst="rect">
            <a:avLst/>
          </a:prstGeom>
        </p:spPr>
      </p:pic>
      <p:sp>
        <p:nvSpPr>
          <p:cNvPr id="17440" name="TextBox 17439"/>
          <p:cNvSpPr txBox="1"/>
          <p:nvPr/>
        </p:nvSpPr>
        <p:spPr>
          <a:xfrm>
            <a:off x="2542032" y="3584448"/>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Three.js</a:t>
            </a:r>
          </a:p>
        </p:txBody>
      </p:sp>
      <p:sp>
        <p:nvSpPr>
          <p:cNvPr id="17441" name="TextBox 17440"/>
          <p:cNvSpPr txBox="1"/>
          <p:nvPr/>
        </p:nvSpPr>
        <p:spPr>
          <a:xfrm>
            <a:off x="365760" y="3813048"/>
            <a:ext cx="3657600" cy="201168"/>
          </a:xfrm>
          <a:prstGeom prst="rect">
            <a:avLst/>
          </a:prstGeom>
          <a:noFill/>
        </p:spPr>
        <p:txBody>
          <a:bodyPr wrap="square" anchor="t" lIns="0" rIns="0" tIns="0" bIns="0"/>
          <a:lstStyle/>
          <a:p>
            <a:pPr algn="l">
              <a:lnSpc>
                <a:spcPct val="100000"/>
              </a:lnSpc>
              <a:spcBef>
                <a:spcPts val="0"/>
              </a:spcBef>
              <a:spcAft>
                <a:spcPts val="200"/>
              </a:spcAft>
            </a:pPr>
            <a:r>
              <a:rPr sz="900" b="1" i="0">
                <a:solidFill>
                  <a:srgbClr val="1F3864"/>
                </a:solidFill>
                <a:latin typeface="Calibri"/>
              </a:rPr>
              <a:t>AI · Analytics</a:t>
            </a:r>
          </a:p>
        </p:txBody>
      </p:sp>
      <p:pic>
        <p:nvPicPr>
          <p:cNvPr id="17442" name="logo-Python" descr="Python logo"/>
          <p:cNvPicPr>
            <a:picLocks noChangeAspect="1"/>
          </p:cNvPicPr>
          <p:nvPr/>
        </p:nvPicPr>
        <p:blipFill>
          <a:blip r:embed="rId17"/>
          <a:stretch>
            <a:fillRect/>
          </a:stretch>
        </p:blipFill>
        <p:spPr>
          <a:xfrm>
            <a:off x="566928" y="4014216"/>
            <a:ext cx="329184" cy="329184"/>
          </a:xfrm>
          <a:prstGeom prst="rect">
            <a:avLst/>
          </a:prstGeom>
        </p:spPr>
      </p:pic>
      <p:sp>
        <p:nvSpPr>
          <p:cNvPr id="17443" name="TextBox 17442"/>
          <p:cNvSpPr txBox="1"/>
          <p:nvPr/>
        </p:nvSpPr>
        <p:spPr>
          <a:xfrm>
            <a:off x="347472" y="4352544"/>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Python</a:t>
            </a:r>
          </a:p>
        </p:txBody>
      </p:sp>
      <p:pic>
        <p:nvPicPr>
          <p:cNvPr id="17444" name="logo-scikit-learn" descr="scikit-learn logo"/>
          <p:cNvPicPr>
            <a:picLocks noChangeAspect="1"/>
          </p:cNvPicPr>
          <p:nvPr/>
        </p:nvPicPr>
        <p:blipFill>
          <a:blip r:embed="rId18"/>
          <a:stretch>
            <a:fillRect/>
          </a:stretch>
        </p:blipFill>
        <p:spPr>
          <a:xfrm>
            <a:off x="1298448" y="4014216"/>
            <a:ext cx="329184" cy="329184"/>
          </a:xfrm>
          <a:prstGeom prst="rect">
            <a:avLst/>
          </a:prstGeom>
        </p:spPr>
      </p:pic>
      <p:sp>
        <p:nvSpPr>
          <p:cNvPr id="17445" name="TextBox 17444"/>
          <p:cNvSpPr txBox="1"/>
          <p:nvPr/>
        </p:nvSpPr>
        <p:spPr>
          <a:xfrm>
            <a:off x="1078992" y="4352544"/>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scikit-learn</a:t>
            </a:r>
          </a:p>
        </p:txBody>
      </p:sp>
      <p:sp>
        <p:nvSpPr>
          <p:cNvPr id="17446" name="TextBox 17445"/>
          <p:cNvSpPr txBox="1"/>
          <p:nvPr/>
        </p:nvSpPr>
        <p:spPr>
          <a:xfrm>
            <a:off x="365760" y="4581144"/>
            <a:ext cx="3657600" cy="201168"/>
          </a:xfrm>
          <a:prstGeom prst="rect">
            <a:avLst/>
          </a:prstGeom>
          <a:noFill/>
        </p:spPr>
        <p:txBody>
          <a:bodyPr wrap="square" anchor="t" lIns="0" rIns="0" tIns="0" bIns="0"/>
          <a:lstStyle/>
          <a:p>
            <a:pPr algn="l">
              <a:lnSpc>
                <a:spcPct val="100000"/>
              </a:lnSpc>
              <a:spcBef>
                <a:spcPts val="0"/>
              </a:spcBef>
              <a:spcAft>
                <a:spcPts val="200"/>
              </a:spcAft>
            </a:pPr>
            <a:r>
              <a:rPr sz="900" b="1" i="0">
                <a:solidFill>
                  <a:srgbClr val="1F3864"/>
                </a:solidFill>
                <a:latin typeface="Calibri"/>
              </a:rPr>
              <a:t>DevOps · Notifications · Testing</a:t>
            </a:r>
          </a:p>
        </p:txBody>
      </p:sp>
      <p:pic>
        <p:nvPicPr>
          <p:cNvPr id="17447" name="logo-Docker" descr="Docker logo"/>
          <p:cNvPicPr>
            <a:picLocks noChangeAspect="1"/>
          </p:cNvPicPr>
          <p:nvPr/>
        </p:nvPicPr>
        <p:blipFill>
          <a:blip r:embed="rId19"/>
          <a:stretch>
            <a:fillRect/>
          </a:stretch>
        </p:blipFill>
        <p:spPr>
          <a:xfrm>
            <a:off x="566928" y="4782312"/>
            <a:ext cx="329184" cy="329184"/>
          </a:xfrm>
          <a:prstGeom prst="rect">
            <a:avLst/>
          </a:prstGeom>
        </p:spPr>
      </p:pic>
      <p:sp>
        <p:nvSpPr>
          <p:cNvPr id="17448" name="TextBox 17447"/>
          <p:cNvSpPr txBox="1"/>
          <p:nvPr/>
        </p:nvSpPr>
        <p:spPr>
          <a:xfrm>
            <a:off x="347472" y="5120640"/>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Docker</a:t>
            </a:r>
          </a:p>
        </p:txBody>
      </p:sp>
      <p:pic>
        <p:nvPicPr>
          <p:cNvPr id="17449" name="logo-CI/CD" descr="CI/CD logo"/>
          <p:cNvPicPr>
            <a:picLocks noChangeAspect="1"/>
          </p:cNvPicPr>
          <p:nvPr/>
        </p:nvPicPr>
        <p:blipFill>
          <a:blip r:embed="rId20"/>
          <a:stretch>
            <a:fillRect/>
          </a:stretch>
        </p:blipFill>
        <p:spPr>
          <a:xfrm>
            <a:off x="1298448" y="4782312"/>
            <a:ext cx="329184" cy="329184"/>
          </a:xfrm>
          <a:prstGeom prst="rect">
            <a:avLst/>
          </a:prstGeom>
        </p:spPr>
      </p:pic>
      <p:sp>
        <p:nvSpPr>
          <p:cNvPr id="17450" name="TextBox 17449"/>
          <p:cNvSpPr txBox="1"/>
          <p:nvPr/>
        </p:nvSpPr>
        <p:spPr>
          <a:xfrm>
            <a:off x="1078992" y="5120640"/>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CI/CD</a:t>
            </a:r>
          </a:p>
        </p:txBody>
      </p:sp>
      <p:pic>
        <p:nvPicPr>
          <p:cNvPr id="17451" name="logo-WhatsApp" descr="WhatsApp logo"/>
          <p:cNvPicPr>
            <a:picLocks noChangeAspect="1"/>
          </p:cNvPicPr>
          <p:nvPr/>
        </p:nvPicPr>
        <p:blipFill>
          <a:blip r:embed="rId21"/>
          <a:stretch>
            <a:fillRect/>
          </a:stretch>
        </p:blipFill>
        <p:spPr>
          <a:xfrm>
            <a:off x="2029968" y="4782312"/>
            <a:ext cx="329184" cy="329184"/>
          </a:xfrm>
          <a:prstGeom prst="rect">
            <a:avLst/>
          </a:prstGeom>
        </p:spPr>
      </p:pic>
      <p:sp>
        <p:nvSpPr>
          <p:cNvPr id="17452" name="TextBox 17451"/>
          <p:cNvSpPr txBox="1"/>
          <p:nvPr/>
        </p:nvSpPr>
        <p:spPr>
          <a:xfrm>
            <a:off x="1810512" y="5120640"/>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WhatsApp</a:t>
            </a:r>
          </a:p>
        </p:txBody>
      </p:sp>
      <p:pic>
        <p:nvPicPr>
          <p:cNvPr id="17453" name="logo-Vitest" descr="Vitest logo"/>
          <p:cNvPicPr>
            <a:picLocks noChangeAspect="1"/>
          </p:cNvPicPr>
          <p:nvPr/>
        </p:nvPicPr>
        <p:blipFill>
          <a:blip r:embed="rId22"/>
          <a:stretch>
            <a:fillRect/>
          </a:stretch>
        </p:blipFill>
        <p:spPr>
          <a:xfrm>
            <a:off x="2761488" y="4782312"/>
            <a:ext cx="329184" cy="329184"/>
          </a:xfrm>
          <a:prstGeom prst="rect">
            <a:avLst/>
          </a:prstGeom>
        </p:spPr>
      </p:pic>
      <p:sp>
        <p:nvSpPr>
          <p:cNvPr id="17454" name="TextBox 17453"/>
          <p:cNvSpPr txBox="1"/>
          <p:nvPr/>
        </p:nvSpPr>
        <p:spPr>
          <a:xfrm>
            <a:off x="2542032" y="5120640"/>
            <a:ext cx="768096" cy="182880"/>
          </a:xfrm>
          <a:prstGeom prst="rect">
            <a:avLst/>
          </a:prstGeom>
          <a:noFill/>
        </p:spPr>
        <p:txBody>
          <a:bodyPr wrap="square" anchor="t" lIns="0" rIns="0" tIns="0" bIns="0"/>
          <a:lstStyle/>
          <a:p>
            <a:pPr algn="ctr">
              <a:lnSpc>
                <a:spcPct val="100000"/>
              </a:lnSpc>
              <a:spcBef>
                <a:spcPts val="0"/>
              </a:spcBef>
              <a:spcAft>
                <a:spcPts val="200"/>
              </a:spcAft>
            </a:pPr>
            <a:r>
              <a:rPr sz="700" b="0" i="0">
                <a:solidFill>
                  <a:srgbClr val="212121"/>
                </a:solidFill>
                <a:latin typeface="Calibri"/>
              </a:rPr>
              <a:t>Vitest</a:t>
            </a:r>
          </a:p>
        </p:txBody>
      </p:sp>
      <p:sp>
        <p:nvSpPr>
          <p:cNvPr id="17455" name="TextBox 17454"/>
          <p:cNvSpPr txBox="1"/>
          <p:nvPr/>
        </p:nvSpPr>
        <p:spPr>
          <a:xfrm>
            <a:off x="365760" y="5349240"/>
            <a:ext cx="3657600" cy="201168"/>
          </a:xfrm>
          <a:prstGeom prst="rect">
            <a:avLst/>
          </a:prstGeom>
          <a:noFill/>
        </p:spPr>
        <p:txBody>
          <a:bodyPr wrap="square" anchor="t" lIns="0" rIns="0" tIns="0" bIns="0"/>
          <a:lstStyle/>
          <a:p>
            <a:pPr algn="l">
              <a:lnSpc>
                <a:spcPct val="100000"/>
              </a:lnSpc>
              <a:spcBef>
                <a:spcPts val="0"/>
              </a:spcBef>
              <a:spcAft>
                <a:spcPts val="200"/>
              </a:spcAft>
            </a:pPr>
            <a:r>
              <a:rPr sz="900" b="1" i="0">
                <a:solidFill>
                  <a:srgbClr val="1F3864"/>
                </a:solidFill>
                <a:latin typeface="Calibri"/>
              </a:rPr>
              <a:t>Government platforms &amp; cloud</a:t>
            </a:r>
          </a:p>
        </p:txBody>
      </p:sp>
      <p:sp>
        <p:nvSpPr>
          <p:cNvPr id="17456" name="Rounded Rectangle 17455"/>
          <p:cNvSpPr/>
          <p:nvPr/>
        </p:nvSpPr>
        <p:spPr>
          <a:xfrm>
            <a:off x="365760" y="5568696"/>
            <a:ext cx="989380"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NIC MeghRaj Cloud</a:t>
            </a:r>
          </a:p>
        </p:txBody>
      </p:sp>
      <p:sp>
        <p:nvSpPr>
          <p:cNvPr id="17457" name="Rounded Rectangle 17456"/>
          <p:cNvSpPr/>
          <p:nvPr/>
        </p:nvSpPr>
        <p:spPr>
          <a:xfrm>
            <a:off x="1410004" y="5568696"/>
            <a:ext cx="579729"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GeoServer</a:t>
            </a:r>
          </a:p>
        </p:txBody>
      </p:sp>
      <p:sp>
        <p:nvSpPr>
          <p:cNvPr id="17458" name="Rounded Rectangle 17457"/>
          <p:cNvSpPr/>
          <p:nvPr/>
        </p:nvSpPr>
        <p:spPr>
          <a:xfrm>
            <a:off x="2044598" y="5568696"/>
            <a:ext cx="682142"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ISRO Bhuvan</a:t>
            </a:r>
          </a:p>
        </p:txBody>
      </p:sp>
      <p:sp>
        <p:nvSpPr>
          <p:cNvPr id="17459" name="Rounded Rectangle 17458"/>
          <p:cNvSpPr/>
          <p:nvPr/>
        </p:nvSpPr>
        <p:spPr>
          <a:xfrm>
            <a:off x="2781604" y="5568696"/>
            <a:ext cx="835761"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ULPIN / DILRMP</a:t>
            </a:r>
          </a:p>
        </p:txBody>
      </p:sp>
      <p:sp>
        <p:nvSpPr>
          <p:cNvPr id="17460" name="Rounded Rectangle 17459"/>
          <p:cNvSpPr/>
          <p:nvPr/>
        </p:nvSpPr>
        <p:spPr>
          <a:xfrm>
            <a:off x="365760" y="5815584"/>
            <a:ext cx="579729"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e-Gazette</a:t>
            </a:r>
          </a:p>
        </p:txBody>
      </p:sp>
      <p:sp>
        <p:nvSpPr>
          <p:cNvPr id="17461" name="Rounded Rectangle 17460"/>
          <p:cNvSpPr/>
          <p:nvPr/>
        </p:nvSpPr>
        <p:spPr>
          <a:xfrm>
            <a:off x="1000353" y="5815584"/>
            <a:ext cx="630936"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PFMS / DBT</a:t>
            </a:r>
          </a:p>
        </p:txBody>
      </p:sp>
      <p:sp>
        <p:nvSpPr>
          <p:cNvPr id="17462" name="Rounded Rectangle 17461"/>
          <p:cNvSpPr/>
          <p:nvPr/>
        </p:nvSpPr>
        <p:spPr>
          <a:xfrm>
            <a:off x="1686153" y="5815584"/>
            <a:ext cx="630936"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DigiLocker</a:t>
            </a:r>
          </a:p>
        </p:txBody>
      </p:sp>
      <p:sp>
        <p:nvSpPr>
          <p:cNvPr id="17463" name="Rounded Rectangle 17462"/>
          <p:cNvSpPr/>
          <p:nvPr/>
        </p:nvSpPr>
        <p:spPr>
          <a:xfrm>
            <a:off x="2371953" y="5815584"/>
            <a:ext cx="426110"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e-Sign</a:t>
            </a:r>
          </a:p>
        </p:txBody>
      </p:sp>
      <p:sp>
        <p:nvSpPr>
          <p:cNvPr id="17464" name="Rounded Rectangle 17463"/>
          <p:cNvSpPr/>
          <p:nvPr/>
        </p:nvSpPr>
        <p:spPr>
          <a:xfrm>
            <a:off x="2852928" y="5815584"/>
            <a:ext cx="784555"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e-Pramaan SSO</a:t>
            </a:r>
          </a:p>
        </p:txBody>
      </p:sp>
      <p:sp>
        <p:nvSpPr>
          <p:cNvPr id="17465" name="Rounded Rectangle 17464"/>
          <p:cNvSpPr/>
          <p:nvPr/>
        </p:nvSpPr>
        <p:spPr>
          <a:xfrm>
            <a:off x="365760" y="6062472"/>
            <a:ext cx="1091793"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Bhashini (22 lang.)</a:t>
            </a:r>
          </a:p>
        </p:txBody>
      </p:sp>
      <p:sp>
        <p:nvSpPr>
          <p:cNvPr id="17466" name="Rounded Rectangle 17465"/>
          <p:cNvSpPr/>
          <p:nvPr/>
        </p:nvSpPr>
        <p:spPr>
          <a:xfrm>
            <a:off x="1512417" y="6062472"/>
            <a:ext cx="682142"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SMS Gateway</a:t>
            </a:r>
          </a:p>
        </p:txBody>
      </p:sp>
      <p:sp>
        <p:nvSpPr>
          <p:cNvPr id="17467" name="Rounded Rectangle 17466"/>
          <p:cNvSpPr/>
          <p:nvPr/>
        </p:nvSpPr>
        <p:spPr>
          <a:xfrm>
            <a:off x="2249424" y="6062472"/>
            <a:ext cx="835761" cy="201168"/>
          </a:xfrm>
          <a:prstGeom prst="roundRect">
            <a:avLst/>
          </a:prstGeom>
          <a:solidFill>
            <a:srgbClr val="FAE8DA"/>
          </a:solidFill>
          <a:ln w="6350">
            <a:solidFill>
              <a:srgbClr val="E46C0A"/>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200"/>
              </a:spcAft>
            </a:pPr>
            <a:r>
              <a:rPr sz="750" b="1" i="0">
                <a:solidFill>
                  <a:srgbClr val="8A3B00"/>
                </a:solidFill>
                <a:latin typeface="Calibri"/>
              </a:rPr>
              <a:t>PM Gati Shakti</a:t>
            </a:r>
          </a:p>
        </p:txBody>
      </p:sp>
      <p:sp>
        <p:nvSpPr>
          <p:cNvPr id="17468" name="Rectangle 17467"/>
          <p:cNvSpPr/>
          <p:nvPr/>
        </p:nvSpPr>
        <p:spPr>
          <a:xfrm>
            <a:off x="4224528" y="1143000"/>
            <a:ext cx="7690104" cy="1417320"/>
          </a:xfrm>
          <a:prstGeom prst="rect">
            <a:avLst/>
          </a:prstGeom>
          <a:solidFill>
            <a:srgbClr val="EDF4FA"/>
          </a:solidFill>
          <a:ln w="9525">
            <a:solidFill>
              <a:srgbClr val="8CB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9" name="Rectangle 17468"/>
          <p:cNvSpPr/>
          <p:nvPr/>
        </p:nvSpPr>
        <p:spPr>
          <a:xfrm>
            <a:off x="4224528" y="1143000"/>
            <a:ext cx="7690104" cy="25603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WORKFLOW — LAND ACQUISITION LIFECYCLE ENFORCED BY NILAMS</a:t>
            </a:r>
          </a:p>
        </p:txBody>
      </p:sp>
      <p:sp>
        <p:nvSpPr>
          <p:cNvPr id="17470" name="Pentagon 17469"/>
          <p:cNvSpPr/>
          <p:nvPr/>
        </p:nvSpPr>
        <p:spPr>
          <a:xfrm>
            <a:off x="4315968" y="1463040"/>
            <a:ext cx="1296924" cy="420624"/>
          </a:xfrm>
          <a:prstGeom prst="homePlate">
            <a:avLst>
              <a:gd name="adj" fmla="val 28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54864" tIns="18288" bIns="18288"/>
          <a:lstStyle/>
          <a:p>
            <a:pPr algn="ctr">
              <a:lnSpc>
                <a:spcPct val="90000"/>
              </a:lnSpc>
              <a:spcBef>
                <a:spcPts val="0"/>
              </a:spcBef>
              <a:spcAft>
                <a:spcPts val="0"/>
              </a:spcAft>
            </a:pPr>
            <a:r>
              <a:rPr sz="750" b="1" i="0">
                <a:solidFill>
                  <a:srgbClr val="FFFFFF"/>
                </a:solidFill>
                <a:latin typeface="Calibri"/>
              </a:rPr>
              <a:t>1 Proposal
&amp; DPR</a:t>
            </a:r>
          </a:p>
        </p:txBody>
      </p:sp>
      <p:sp>
        <p:nvSpPr>
          <p:cNvPr id="17471" name="Chevron 17470"/>
          <p:cNvSpPr/>
          <p:nvPr/>
        </p:nvSpPr>
        <p:spPr>
          <a:xfrm>
            <a:off x="5567172" y="1463040"/>
            <a:ext cx="1296924" cy="420624"/>
          </a:xfrm>
          <a:prstGeom prst="chevron">
            <a:avLst>
              <a:gd name="adj" fmla="val 28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2 Digital
Scrutiny</a:t>
            </a:r>
          </a:p>
        </p:txBody>
      </p:sp>
      <p:sp>
        <p:nvSpPr>
          <p:cNvPr id="17472" name="Chevron 17471"/>
          <p:cNvSpPr/>
          <p:nvPr/>
        </p:nvSpPr>
        <p:spPr>
          <a:xfrm>
            <a:off x="6818376" y="1463040"/>
            <a:ext cx="1296924" cy="420624"/>
          </a:xfrm>
          <a:prstGeom prst="chevron">
            <a:avLst>
              <a:gd name="adj" fmla="val 28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3 Social Impact
Assessment</a:t>
            </a:r>
          </a:p>
        </p:txBody>
      </p:sp>
      <p:sp>
        <p:nvSpPr>
          <p:cNvPr id="17473" name="Chevron 17472"/>
          <p:cNvSpPr/>
          <p:nvPr/>
        </p:nvSpPr>
        <p:spPr>
          <a:xfrm>
            <a:off x="8069579" y="1463040"/>
            <a:ext cx="1296924" cy="420624"/>
          </a:xfrm>
          <a:prstGeom prst="chevron">
            <a:avLst>
              <a:gd name="adj" fmla="val 2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4 s.11
Notification</a:t>
            </a:r>
          </a:p>
        </p:txBody>
      </p:sp>
      <p:sp>
        <p:nvSpPr>
          <p:cNvPr id="17474" name="Chevron 17473"/>
          <p:cNvSpPr/>
          <p:nvPr/>
        </p:nvSpPr>
        <p:spPr>
          <a:xfrm>
            <a:off x="9320784" y="1463040"/>
            <a:ext cx="1296924" cy="420624"/>
          </a:xfrm>
          <a:prstGeom prst="chevron">
            <a:avLst>
              <a:gd name="adj" fmla="val 2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5 State
Approval</a:t>
            </a:r>
          </a:p>
        </p:txBody>
      </p:sp>
      <p:sp>
        <p:nvSpPr>
          <p:cNvPr id="17475" name="Chevron 17474"/>
          <p:cNvSpPr/>
          <p:nvPr/>
        </p:nvSpPr>
        <p:spPr>
          <a:xfrm>
            <a:off x="10571988" y="1463040"/>
            <a:ext cx="1296924" cy="420624"/>
          </a:xfrm>
          <a:prstGeom prst="chevron">
            <a:avLst>
              <a:gd name="adj" fmla="val 2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6 Central
Approval</a:t>
            </a:r>
          </a:p>
        </p:txBody>
      </p:sp>
      <p:sp>
        <p:nvSpPr>
          <p:cNvPr id="17476" name="Pentagon 17475"/>
          <p:cNvSpPr/>
          <p:nvPr/>
        </p:nvSpPr>
        <p:spPr>
          <a:xfrm>
            <a:off x="4315968" y="1947672"/>
            <a:ext cx="1296924" cy="420624"/>
          </a:xfrm>
          <a:prstGeom prst="homePlate">
            <a:avLst>
              <a:gd name="adj" fmla="val 28000"/>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54864" tIns="18288" bIns="18288"/>
          <a:lstStyle/>
          <a:p>
            <a:pPr algn="ctr">
              <a:lnSpc>
                <a:spcPct val="90000"/>
              </a:lnSpc>
              <a:spcBef>
                <a:spcPts val="0"/>
              </a:spcBef>
              <a:spcAft>
                <a:spcPts val="0"/>
              </a:spcAft>
            </a:pPr>
            <a:r>
              <a:rPr sz="750" b="1" i="0">
                <a:solidFill>
                  <a:srgbClr val="FFFFFF"/>
                </a:solidFill>
                <a:latin typeface="Calibri"/>
              </a:rPr>
              <a:t>7 s.19
Declaration</a:t>
            </a:r>
          </a:p>
        </p:txBody>
      </p:sp>
      <p:sp>
        <p:nvSpPr>
          <p:cNvPr id="17477" name="Chevron 17476"/>
          <p:cNvSpPr/>
          <p:nvPr/>
        </p:nvSpPr>
        <p:spPr>
          <a:xfrm>
            <a:off x="5567172" y="1947672"/>
            <a:ext cx="1296924" cy="420624"/>
          </a:xfrm>
          <a:prstGeom prst="chevron">
            <a:avLst>
              <a:gd name="adj" fmla="val 28000"/>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8 Award &amp;
Compensation</a:t>
            </a:r>
          </a:p>
        </p:txBody>
      </p:sp>
      <p:sp>
        <p:nvSpPr>
          <p:cNvPr id="17478" name="Chevron 17477"/>
          <p:cNvSpPr/>
          <p:nvPr/>
        </p:nvSpPr>
        <p:spPr>
          <a:xfrm>
            <a:off x="6818376" y="1947672"/>
            <a:ext cx="1296924" cy="420624"/>
          </a:xfrm>
          <a:prstGeom prst="chevron">
            <a:avLst>
              <a:gd name="adj" fmla="val 28000"/>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9 PFMS/DBT
Payment</a:t>
            </a:r>
          </a:p>
        </p:txBody>
      </p:sp>
      <p:sp>
        <p:nvSpPr>
          <p:cNvPr id="17479" name="Chevron 17478"/>
          <p:cNvSpPr/>
          <p:nvPr/>
        </p:nvSpPr>
        <p:spPr>
          <a:xfrm>
            <a:off x="8069579" y="1947672"/>
            <a:ext cx="1296924" cy="420624"/>
          </a:xfrm>
          <a:prstGeom prst="chevron">
            <a:avLst>
              <a:gd name="adj" fmla="val 28000"/>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10 R&amp;R
Delivery</a:t>
            </a:r>
          </a:p>
        </p:txBody>
      </p:sp>
      <p:sp>
        <p:nvSpPr>
          <p:cNvPr id="17480" name="Chevron 17479"/>
          <p:cNvSpPr/>
          <p:nvPr/>
        </p:nvSpPr>
        <p:spPr>
          <a:xfrm>
            <a:off x="9320784" y="1947672"/>
            <a:ext cx="1296924" cy="420624"/>
          </a:xfrm>
          <a:prstGeom prst="chevron">
            <a:avLst>
              <a:gd name="adj" fmla="val 2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11 Possession
(field-verified)</a:t>
            </a:r>
          </a:p>
        </p:txBody>
      </p:sp>
      <p:sp>
        <p:nvSpPr>
          <p:cNvPr id="17481" name="Chevron 17480"/>
          <p:cNvSpPr/>
          <p:nvPr/>
        </p:nvSpPr>
        <p:spPr>
          <a:xfrm>
            <a:off x="10571988" y="1947672"/>
            <a:ext cx="1296924" cy="420624"/>
          </a:xfrm>
          <a:prstGeom prst="chevron">
            <a:avLst>
              <a:gd name="adj" fmla="val 2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50" b="1" i="0">
                <a:solidFill>
                  <a:srgbClr val="FFFFFF"/>
                </a:solidFill>
                <a:latin typeface="Calibri"/>
              </a:rPr>
              <a:t>12 Closure</a:t>
            </a:r>
          </a:p>
        </p:txBody>
      </p:sp>
      <p:sp>
        <p:nvSpPr>
          <p:cNvPr id="17482" name="TextBox 17481"/>
          <p:cNvSpPr txBox="1"/>
          <p:nvPr/>
        </p:nvSpPr>
        <p:spPr>
          <a:xfrm>
            <a:off x="4315968" y="2386584"/>
            <a:ext cx="7507224" cy="182880"/>
          </a:xfrm>
          <a:prstGeom prst="rect">
            <a:avLst/>
          </a:prstGeom>
          <a:noFill/>
        </p:spPr>
        <p:txBody>
          <a:bodyPr wrap="square" anchor="t" lIns="0" rIns="0" tIns="0" bIns="0"/>
          <a:lstStyle/>
          <a:p>
            <a:pPr algn="l">
              <a:lnSpc>
                <a:spcPct val="100000"/>
              </a:lnSpc>
              <a:spcBef>
                <a:spcPts val="0"/>
              </a:spcBef>
              <a:spcAft>
                <a:spcPts val="200"/>
              </a:spcAft>
            </a:pPr>
            <a:r>
              <a:rPr sz="850" b="1" i="0">
                <a:solidFill>
                  <a:srgbClr val="C62828"/>
                </a:solidFill>
                <a:latin typeface="Calibri"/>
              </a:rPr>
              <a:t>⛔ Auto-blocks: </a:t>
            </a:r>
            <a:r>
              <a:rPr sz="850" b="0" i="0">
                <a:solidFill>
                  <a:srgbClr val="212121"/>
                </a:solidFill>
                <a:latin typeface="Calibri"/>
              </a:rPr>
              <a:t>court stay · unresolved objection · missing document     </a:t>
            </a:r>
            <a:r>
              <a:rPr sz="850" b="1" i="0">
                <a:solidFill>
                  <a:srgbClr val="E46C0A"/>
                </a:solidFill>
                <a:latin typeface="Calibri"/>
              </a:rPr>
              <a:t>⏰ Deadline monitor: </a:t>
            </a:r>
            <a:r>
              <a:rPr sz="850" b="0" i="0">
                <a:solidFill>
                  <a:srgbClr val="212121"/>
                </a:solidFill>
                <a:latin typeface="Calibri"/>
              </a:rPr>
              <a:t>alerts &amp; escalation at every statutory time limit</a:t>
            </a:r>
          </a:p>
        </p:txBody>
      </p:sp>
      <p:sp>
        <p:nvSpPr>
          <p:cNvPr id="17483" name="Rectangle 17482"/>
          <p:cNvSpPr/>
          <p:nvPr/>
        </p:nvSpPr>
        <p:spPr>
          <a:xfrm>
            <a:off x="4224528" y="2651760"/>
            <a:ext cx="7690104" cy="1847088"/>
          </a:xfrm>
          <a:prstGeom prst="rect">
            <a:avLst/>
          </a:prstGeom>
          <a:solidFill>
            <a:srgbClr val="EDF5F4"/>
          </a:solidFill>
          <a:ln w="9525">
            <a:solidFill>
              <a:srgbClr val="8CC2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4" name="Rectangle 17483"/>
          <p:cNvSpPr/>
          <p:nvPr/>
        </p:nvSpPr>
        <p:spPr>
          <a:xfrm>
            <a:off x="4224528" y="2651760"/>
            <a:ext cx="7690104" cy="256032"/>
          </a:xfrm>
          <a:prstGeom prst="rect">
            <a:avLst/>
          </a:prstGeom>
          <a:solidFill>
            <a:srgbClr val="0079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SYSTEM ARCHITECTURE</a:t>
            </a:r>
          </a:p>
        </p:txBody>
      </p:sp>
      <p:sp>
        <p:nvSpPr>
          <p:cNvPr id="17485" name="TextBox 17484"/>
          <p:cNvSpPr txBox="1"/>
          <p:nvPr/>
        </p:nvSpPr>
        <p:spPr>
          <a:xfrm>
            <a:off x="4297680" y="2962656"/>
            <a:ext cx="868680" cy="310896"/>
          </a:xfrm>
          <a:prstGeom prst="rect">
            <a:avLst/>
          </a:prstGeom>
          <a:noFill/>
        </p:spPr>
        <p:txBody>
          <a:bodyPr wrap="square" anchor="ctr" lIns="0" rIns="0" tIns="0" bIns="0"/>
          <a:lstStyle/>
          <a:p>
            <a:pPr algn="l">
              <a:lnSpc>
                <a:spcPct val="100000"/>
              </a:lnSpc>
              <a:spcBef>
                <a:spcPts val="0"/>
              </a:spcBef>
              <a:spcAft>
                <a:spcPts val="200"/>
              </a:spcAft>
            </a:pPr>
            <a:r>
              <a:rPr sz="750" b="1" i="0">
                <a:solidFill>
                  <a:srgbClr val="00796B"/>
                </a:solidFill>
                <a:latin typeface="Calibri"/>
              </a:rPr>
              <a:t>USERS</a:t>
            </a:r>
          </a:p>
        </p:txBody>
      </p:sp>
      <p:sp>
        <p:nvSpPr>
          <p:cNvPr id="17486" name="Rounded Rectangle 17485"/>
          <p:cNvSpPr/>
          <p:nvPr/>
        </p:nvSpPr>
        <p:spPr>
          <a:xfrm>
            <a:off x="5138928" y="2962656"/>
            <a:ext cx="1068324" cy="310896"/>
          </a:xfrm>
          <a:prstGeom prst="roundRect">
            <a:avLst/>
          </a:prstGeom>
          <a:solidFill>
            <a:srgbClr val="CC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004D40"/>
                </a:solidFill>
                <a:latin typeface="Calibri"/>
              </a:rPr>
              <a:t>Citizens / families</a:t>
            </a:r>
          </a:p>
        </p:txBody>
      </p:sp>
      <p:sp>
        <p:nvSpPr>
          <p:cNvPr id="17487" name="Rounded Rectangle 17486"/>
          <p:cNvSpPr/>
          <p:nvPr/>
        </p:nvSpPr>
        <p:spPr>
          <a:xfrm>
            <a:off x="6252972" y="2962656"/>
            <a:ext cx="1068324" cy="310896"/>
          </a:xfrm>
          <a:prstGeom prst="roundRect">
            <a:avLst/>
          </a:prstGeom>
          <a:solidFill>
            <a:srgbClr val="CC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004D40"/>
                </a:solidFill>
                <a:latin typeface="Calibri"/>
              </a:rPr>
              <a:t>Field officers</a:t>
            </a:r>
          </a:p>
        </p:txBody>
      </p:sp>
      <p:sp>
        <p:nvSpPr>
          <p:cNvPr id="17488" name="Rounded Rectangle 17487"/>
          <p:cNvSpPr/>
          <p:nvPr/>
        </p:nvSpPr>
        <p:spPr>
          <a:xfrm>
            <a:off x="7367016" y="2962656"/>
            <a:ext cx="1068324" cy="310896"/>
          </a:xfrm>
          <a:prstGeom prst="roundRect">
            <a:avLst/>
          </a:prstGeom>
          <a:solidFill>
            <a:srgbClr val="CC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004D40"/>
                </a:solidFill>
                <a:latin typeface="Calibri"/>
              </a:rPr>
              <a:t>District Collectors</a:t>
            </a:r>
          </a:p>
        </p:txBody>
      </p:sp>
      <p:sp>
        <p:nvSpPr>
          <p:cNvPr id="17489" name="Rounded Rectangle 17488"/>
          <p:cNvSpPr/>
          <p:nvPr/>
        </p:nvSpPr>
        <p:spPr>
          <a:xfrm>
            <a:off x="8481060" y="2962656"/>
            <a:ext cx="1068324" cy="310896"/>
          </a:xfrm>
          <a:prstGeom prst="roundRect">
            <a:avLst/>
          </a:prstGeom>
          <a:solidFill>
            <a:srgbClr val="CC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004D40"/>
                </a:solidFill>
                <a:latin typeface="Calibri"/>
              </a:rPr>
              <a:t>State Govt</a:t>
            </a:r>
          </a:p>
        </p:txBody>
      </p:sp>
      <p:sp>
        <p:nvSpPr>
          <p:cNvPr id="17490" name="Rounded Rectangle 17489"/>
          <p:cNvSpPr/>
          <p:nvPr/>
        </p:nvSpPr>
        <p:spPr>
          <a:xfrm>
            <a:off x="9595104" y="2962656"/>
            <a:ext cx="1068324" cy="310896"/>
          </a:xfrm>
          <a:prstGeom prst="roundRect">
            <a:avLst/>
          </a:prstGeom>
          <a:solidFill>
            <a:srgbClr val="CC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004D40"/>
                </a:solidFill>
                <a:latin typeface="Calibri"/>
              </a:rPr>
              <a:t>Central Ministry</a:t>
            </a:r>
          </a:p>
        </p:txBody>
      </p:sp>
      <p:sp>
        <p:nvSpPr>
          <p:cNvPr id="17491" name="Rounded Rectangle 17490"/>
          <p:cNvSpPr/>
          <p:nvPr/>
        </p:nvSpPr>
        <p:spPr>
          <a:xfrm>
            <a:off x="10709148" y="2962656"/>
            <a:ext cx="1068324" cy="310896"/>
          </a:xfrm>
          <a:prstGeom prst="roundRect">
            <a:avLst/>
          </a:prstGeom>
          <a:solidFill>
            <a:srgbClr val="CCE4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004D40"/>
                </a:solidFill>
                <a:latin typeface="Calibri"/>
              </a:rPr>
              <a:t>Agencies / R&amp;R Authority</a:t>
            </a:r>
          </a:p>
        </p:txBody>
      </p:sp>
      <p:sp>
        <p:nvSpPr>
          <p:cNvPr id="17492" name="TextBox 17491"/>
          <p:cNvSpPr txBox="1"/>
          <p:nvPr/>
        </p:nvSpPr>
        <p:spPr>
          <a:xfrm>
            <a:off x="4297680" y="3346703"/>
            <a:ext cx="868680" cy="310896"/>
          </a:xfrm>
          <a:prstGeom prst="rect">
            <a:avLst/>
          </a:prstGeom>
          <a:noFill/>
        </p:spPr>
        <p:txBody>
          <a:bodyPr wrap="square" anchor="ctr" lIns="0" rIns="0" tIns="0" bIns="0"/>
          <a:lstStyle/>
          <a:p>
            <a:pPr algn="l">
              <a:lnSpc>
                <a:spcPct val="100000"/>
              </a:lnSpc>
              <a:spcBef>
                <a:spcPts val="0"/>
              </a:spcBef>
              <a:spcAft>
                <a:spcPts val="200"/>
              </a:spcAft>
            </a:pPr>
            <a:r>
              <a:rPr sz="750" b="1" i="0">
                <a:solidFill>
                  <a:srgbClr val="00796B"/>
                </a:solidFill>
                <a:latin typeface="Calibri"/>
              </a:rPr>
              <a:t>PLATFORM</a:t>
            </a:r>
          </a:p>
        </p:txBody>
      </p:sp>
      <p:sp>
        <p:nvSpPr>
          <p:cNvPr id="17493" name="Rounded Rectangle 17492"/>
          <p:cNvSpPr/>
          <p:nvPr/>
        </p:nvSpPr>
        <p:spPr>
          <a:xfrm>
            <a:off x="5138928"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API Gateway + RBAC</a:t>
            </a:r>
          </a:p>
        </p:txBody>
      </p:sp>
      <p:sp>
        <p:nvSpPr>
          <p:cNvPr id="17494" name="Rounded Rectangle 17493"/>
          <p:cNvSpPr/>
          <p:nvPr/>
        </p:nvSpPr>
        <p:spPr>
          <a:xfrm>
            <a:off x="5974461"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Workflow Engine</a:t>
            </a:r>
          </a:p>
        </p:txBody>
      </p:sp>
      <p:sp>
        <p:nvSpPr>
          <p:cNvPr id="17495" name="Rounded Rectangle 17494"/>
          <p:cNvSpPr/>
          <p:nvPr/>
        </p:nvSpPr>
        <p:spPr>
          <a:xfrm>
            <a:off x="6809994"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GIS Engine</a:t>
            </a:r>
          </a:p>
        </p:txBody>
      </p:sp>
      <p:sp>
        <p:nvSpPr>
          <p:cNvPr id="17496" name="Rounded Rectangle 17495"/>
          <p:cNvSpPr/>
          <p:nvPr/>
        </p:nvSpPr>
        <p:spPr>
          <a:xfrm>
            <a:off x="7645527"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AI &amp; Analytics</a:t>
            </a:r>
          </a:p>
        </p:txBody>
      </p:sp>
      <p:sp>
        <p:nvSpPr>
          <p:cNvPr id="17497" name="Rounded Rectangle 17496"/>
          <p:cNvSpPr/>
          <p:nvPr/>
        </p:nvSpPr>
        <p:spPr>
          <a:xfrm>
            <a:off x="8481060"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Compensation &amp; R&amp;R</a:t>
            </a:r>
          </a:p>
        </p:txBody>
      </p:sp>
      <p:sp>
        <p:nvSpPr>
          <p:cNvPr id="17498" name="Rounded Rectangle 17497"/>
          <p:cNvSpPr/>
          <p:nvPr/>
        </p:nvSpPr>
        <p:spPr>
          <a:xfrm>
            <a:off x="9316593"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Document Vault</a:t>
            </a:r>
          </a:p>
        </p:txBody>
      </p:sp>
      <p:sp>
        <p:nvSpPr>
          <p:cNvPr id="17499" name="Rounded Rectangle 17498"/>
          <p:cNvSpPr/>
          <p:nvPr/>
        </p:nvSpPr>
        <p:spPr>
          <a:xfrm>
            <a:off x="10152126"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Alerts Engine</a:t>
            </a:r>
          </a:p>
        </p:txBody>
      </p:sp>
      <p:sp>
        <p:nvSpPr>
          <p:cNvPr id="17500" name="Rounded Rectangle 17499"/>
          <p:cNvSpPr/>
          <p:nvPr/>
        </p:nvSpPr>
        <p:spPr>
          <a:xfrm>
            <a:off x="10987659" y="3346703"/>
            <a:ext cx="789813" cy="310896"/>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Audit Ledger</a:t>
            </a:r>
          </a:p>
        </p:txBody>
      </p:sp>
      <p:sp>
        <p:nvSpPr>
          <p:cNvPr id="17501" name="TextBox 17500"/>
          <p:cNvSpPr txBox="1"/>
          <p:nvPr/>
        </p:nvSpPr>
        <p:spPr>
          <a:xfrm>
            <a:off x="4297680" y="3730752"/>
            <a:ext cx="868680" cy="310896"/>
          </a:xfrm>
          <a:prstGeom prst="rect">
            <a:avLst/>
          </a:prstGeom>
          <a:noFill/>
        </p:spPr>
        <p:txBody>
          <a:bodyPr wrap="square" anchor="ctr" lIns="0" rIns="0" tIns="0" bIns="0"/>
          <a:lstStyle/>
          <a:p>
            <a:pPr algn="l">
              <a:lnSpc>
                <a:spcPct val="100000"/>
              </a:lnSpc>
              <a:spcBef>
                <a:spcPts val="0"/>
              </a:spcBef>
              <a:spcAft>
                <a:spcPts val="200"/>
              </a:spcAft>
            </a:pPr>
            <a:r>
              <a:rPr sz="750" b="1" i="0">
                <a:solidFill>
                  <a:srgbClr val="00796B"/>
                </a:solidFill>
                <a:latin typeface="Calibri"/>
              </a:rPr>
              <a:t>DATA</a:t>
            </a:r>
          </a:p>
        </p:txBody>
      </p:sp>
      <p:sp>
        <p:nvSpPr>
          <p:cNvPr id="17502" name="Rounded Rectangle 17501"/>
          <p:cNvSpPr/>
          <p:nvPr/>
        </p:nvSpPr>
        <p:spPr>
          <a:xfrm>
            <a:off x="5138928" y="3730752"/>
            <a:ext cx="1625346" cy="310896"/>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PostgreSQL + PostGIS</a:t>
            </a:r>
          </a:p>
        </p:txBody>
      </p:sp>
      <p:sp>
        <p:nvSpPr>
          <p:cNvPr id="17503" name="Rounded Rectangle 17502"/>
          <p:cNvSpPr/>
          <p:nvPr/>
        </p:nvSpPr>
        <p:spPr>
          <a:xfrm>
            <a:off x="6809994" y="3730752"/>
            <a:ext cx="1625346" cy="310896"/>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Master data (LGD, rates)</a:t>
            </a:r>
          </a:p>
        </p:txBody>
      </p:sp>
      <p:sp>
        <p:nvSpPr>
          <p:cNvPr id="17504" name="Rounded Rectangle 17503"/>
          <p:cNvSpPr/>
          <p:nvPr/>
        </p:nvSpPr>
        <p:spPr>
          <a:xfrm>
            <a:off x="8481060" y="3730752"/>
            <a:ext cx="1625346" cy="310896"/>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Object storage</a:t>
            </a:r>
          </a:p>
        </p:txBody>
      </p:sp>
      <p:sp>
        <p:nvSpPr>
          <p:cNvPr id="17505" name="Rounded Rectangle 17504"/>
          <p:cNvSpPr/>
          <p:nvPr/>
        </p:nvSpPr>
        <p:spPr>
          <a:xfrm>
            <a:off x="10152126" y="3730752"/>
            <a:ext cx="1625346" cy="310896"/>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FFFFFF"/>
                </a:solidFill>
                <a:latin typeface="Calibri"/>
              </a:rPr>
              <a:t>Dashboards &amp; MIS</a:t>
            </a:r>
          </a:p>
        </p:txBody>
      </p:sp>
      <p:sp>
        <p:nvSpPr>
          <p:cNvPr id="17506" name="TextBox 17505"/>
          <p:cNvSpPr txBox="1"/>
          <p:nvPr/>
        </p:nvSpPr>
        <p:spPr>
          <a:xfrm>
            <a:off x="4297680" y="4114800"/>
            <a:ext cx="868680" cy="310896"/>
          </a:xfrm>
          <a:prstGeom prst="rect">
            <a:avLst/>
          </a:prstGeom>
          <a:noFill/>
        </p:spPr>
        <p:txBody>
          <a:bodyPr wrap="square" anchor="ctr" lIns="0" rIns="0" tIns="0" bIns="0"/>
          <a:lstStyle/>
          <a:p>
            <a:pPr algn="l">
              <a:lnSpc>
                <a:spcPct val="100000"/>
              </a:lnSpc>
              <a:spcBef>
                <a:spcPts val="0"/>
              </a:spcBef>
              <a:spcAft>
                <a:spcPts val="200"/>
              </a:spcAft>
            </a:pPr>
            <a:r>
              <a:rPr sz="750" b="1" i="0">
                <a:solidFill>
                  <a:srgbClr val="00796B"/>
                </a:solidFill>
                <a:latin typeface="Calibri"/>
              </a:rPr>
              <a:t>INTEGRATIONS</a:t>
            </a:r>
          </a:p>
        </p:txBody>
      </p:sp>
      <p:sp>
        <p:nvSpPr>
          <p:cNvPr id="17507" name="Rounded Rectangle 17506"/>
          <p:cNvSpPr/>
          <p:nvPr/>
        </p:nvSpPr>
        <p:spPr>
          <a:xfrm>
            <a:off x="5138928" y="4114800"/>
            <a:ext cx="1068324" cy="310896"/>
          </a:xfrm>
          <a:prstGeom prst="roundRect">
            <a:avLst/>
          </a:prstGeom>
          <a:solidFill>
            <a:srgbClr val="F9DE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8A3B00"/>
                </a:solidFill>
                <a:latin typeface="Calibri"/>
              </a:rPr>
              <a:t>Land records / ULPIN</a:t>
            </a:r>
          </a:p>
        </p:txBody>
      </p:sp>
      <p:sp>
        <p:nvSpPr>
          <p:cNvPr id="17508" name="Rounded Rectangle 17507"/>
          <p:cNvSpPr/>
          <p:nvPr/>
        </p:nvSpPr>
        <p:spPr>
          <a:xfrm>
            <a:off x="6252972" y="4114800"/>
            <a:ext cx="1068324" cy="310896"/>
          </a:xfrm>
          <a:prstGeom prst="roundRect">
            <a:avLst/>
          </a:prstGeom>
          <a:solidFill>
            <a:srgbClr val="F9DE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8A3B00"/>
                </a:solidFill>
                <a:latin typeface="Calibri"/>
              </a:rPr>
              <a:t>e-Gazette</a:t>
            </a:r>
          </a:p>
        </p:txBody>
      </p:sp>
      <p:sp>
        <p:nvSpPr>
          <p:cNvPr id="17509" name="Rounded Rectangle 17508"/>
          <p:cNvSpPr/>
          <p:nvPr/>
        </p:nvSpPr>
        <p:spPr>
          <a:xfrm>
            <a:off x="7367016" y="4114800"/>
            <a:ext cx="1068324" cy="310896"/>
          </a:xfrm>
          <a:prstGeom prst="roundRect">
            <a:avLst/>
          </a:prstGeom>
          <a:solidFill>
            <a:srgbClr val="F9DE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8A3B00"/>
                </a:solidFill>
                <a:latin typeface="Calibri"/>
              </a:rPr>
              <a:t>PFMS / DBT</a:t>
            </a:r>
          </a:p>
        </p:txBody>
      </p:sp>
      <p:sp>
        <p:nvSpPr>
          <p:cNvPr id="17510" name="Rounded Rectangle 17509"/>
          <p:cNvSpPr/>
          <p:nvPr/>
        </p:nvSpPr>
        <p:spPr>
          <a:xfrm>
            <a:off x="8481060" y="4114800"/>
            <a:ext cx="1068324" cy="310896"/>
          </a:xfrm>
          <a:prstGeom prst="roundRect">
            <a:avLst/>
          </a:prstGeom>
          <a:solidFill>
            <a:srgbClr val="F9DE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8A3B00"/>
                </a:solidFill>
                <a:latin typeface="Calibri"/>
              </a:rPr>
              <a:t>DigiLocker / e-Sign</a:t>
            </a:r>
          </a:p>
        </p:txBody>
      </p:sp>
      <p:sp>
        <p:nvSpPr>
          <p:cNvPr id="17511" name="Rounded Rectangle 17510"/>
          <p:cNvSpPr/>
          <p:nvPr/>
        </p:nvSpPr>
        <p:spPr>
          <a:xfrm>
            <a:off x="9595104" y="4114800"/>
            <a:ext cx="1068324" cy="310896"/>
          </a:xfrm>
          <a:prstGeom prst="roundRect">
            <a:avLst/>
          </a:prstGeom>
          <a:solidFill>
            <a:srgbClr val="F9DE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8A3B00"/>
                </a:solidFill>
                <a:latin typeface="Calibri"/>
              </a:rPr>
              <a:t>Bhashini</a:t>
            </a:r>
          </a:p>
        </p:txBody>
      </p:sp>
      <p:sp>
        <p:nvSpPr>
          <p:cNvPr id="17512" name="Rounded Rectangle 17511"/>
          <p:cNvSpPr/>
          <p:nvPr/>
        </p:nvSpPr>
        <p:spPr>
          <a:xfrm>
            <a:off x="10709148" y="4114800"/>
            <a:ext cx="1068324" cy="310896"/>
          </a:xfrm>
          <a:prstGeom prst="roundRect">
            <a:avLst/>
          </a:prstGeom>
          <a:solidFill>
            <a:srgbClr val="F9DE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90000"/>
              </a:lnSpc>
              <a:spcBef>
                <a:spcPts val="0"/>
              </a:spcBef>
              <a:spcAft>
                <a:spcPts val="200"/>
              </a:spcAft>
            </a:pPr>
            <a:r>
              <a:rPr sz="720" b="1" i="0">
                <a:solidFill>
                  <a:srgbClr val="8A3B00"/>
                </a:solidFill>
                <a:latin typeface="Calibri"/>
              </a:rPr>
              <a:t>Bhuvan / Gati Shakti</a:t>
            </a:r>
          </a:p>
        </p:txBody>
      </p:sp>
      <p:sp>
        <p:nvSpPr>
          <p:cNvPr id="17513" name="Rectangle 17512"/>
          <p:cNvSpPr/>
          <p:nvPr/>
        </p:nvSpPr>
        <p:spPr>
          <a:xfrm>
            <a:off x="4224528" y="4590288"/>
            <a:ext cx="3931920" cy="1673352"/>
          </a:xfrm>
          <a:prstGeom prst="rect">
            <a:avLst/>
          </a:prstGeom>
          <a:solidFill>
            <a:srgbClr val="F4EFF7"/>
          </a:solidFill>
          <a:ln w="9525">
            <a:solidFill>
              <a:srgbClr val="BB9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4" name="Rectangle 17513"/>
          <p:cNvSpPr/>
          <p:nvPr/>
        </p:nvSpPr>
        <p:spPr>
          <a:xfrm>
            <a:off x="4224528" y="4590288"/>
            <a:ext cx="3931920" cy="256032"/>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050" b="1" i="0">
                <a:solidFill>
                  <a:srgbClr val="FFFFFF"/>
                </a:solidFill>
                <a:latin typeface="Calibri"/>
              </a:rPr>
              <a:t>METHODOLOGY &amp; IMPLEMENTATION</a:t>
            </a:r>
          </a:p>
        </p:txBody>
      </p:sp>
      <p:sp>
        <p:nvSpPr>
          <p:cNvPr id="17515" name="TextBox 17514"/>
          <p:cNvSpPr txBox="1"/>
          <p:nvPr/>
        </p:nvSpPr>
        <p:spPr>
          <a:xfrm>
            <a:off x="4270248" y="4873752"/>
            <a:ext cx="3840480" cy="868680"/>
          </a:xfrm>
          <a:prstGeom prst="rect">
            <a:avLst/>
          </a:prstGeom>
          <a:noFill/>
        </p:spPr>
        <p:txBody>
          <a:bodyPr wrap="square" anchor="t" lIns="36576" rIns="36576" tIns="36576" bIns="36576"/>
          <a:lstStyle/>
          <a:p>
            <a:pPr algn="l" marL="128016" indent="-128016">
              <a:lnSpc>
                <a:spcPct val="100000"/>
              </a:lnSpc>
              <a:spcBef>
                <a:spcPts val="0"/>
              </a:spcBef>
              <a:spcAft>
                <a:spcPts val="100"/>
              </a:spcAft>
              <a:buClr>
                <a:srgbClr val="6A1B9A"/>
              </a:buClr>
              <a:buFont typeface="Arial"/>
              <a:buChar char="▸"/>
            </a:pPr>
            <a:r>
              <a:rPr sz="830" b="1" i="0">
                <a:solidFill>
                  <a:srgbClr val="6A1B9A"/>
                </a:solidFill>
                <a:latin typeface="Calibri"/>
              </a:rPr>
              <a:t>Study: </a:t>
            </a:r>
            <a:r>
              <a:rPr sz="830" b="0" i="0">
                <a:solidFill>
                  <a:srgbClr val="212121"/>
                </a:solidFill>
                <a:latin typeface="Calibri"/>
              </a:rPr>
              <a:t>map the Act, State rules &amp; current workflows; find manual steps, duplication, bottlenecks</a:t>
            </a:r>
          </a:p>
          <a:p>
            <a:pPr algn="l" marL="128016" indent="-128016">
              <a:lnSpc>
                <a:spcPct val="100000"/>
              </a:lnSpc>
              <a:spcBef>
                <a:spcPts val="0"/>
              </a:spcBef>
              <a:spcAft>
                <a:spcPts val="100"/>
              </a:spcAft>
              <a:buClr>
                <a:srgbClr val="6A1B9A"/>
              </a:buClr>
              <a:buFont typeface="Arial"/>
              <a:buChar char="▸"/>
            </a:pPr>
            <a:r>
              <a:rPr sz="830" b="1" i="0">
                <a:solidFill>
                  <a:srgbClr val="6A1B9A"/>
                </a:solidFill>
                <a:latin typeface="Calibri"/>
              </a:rPr>
              <a:t>Standardise: </a:t>
            </a:r>
            <a:r>
              <a:rPr sz="830" b="0" i="0">
                <a:solidFill>
                  <a:srgbClr val="212121"/>
                </a:solidFill>
                <a:latin typeface="Calibri"/>
              </a:rPr>
              <a:t>one national data model, master data, templates, validation</a:t>
            </a:r>
          </a:p>
          <a:p>
            <a:pPr algn="l" marL="128016" indent="-128016">
              <a:lnSpc>
                <a:spcPct val="100000"/>
              </a:lnSpc>
              <a:spcBef>
                <a:spcPts val="0"/>
              </a:spcBef>
              <a:spcAft>
                <a:spcPts val="100"/>
              </a:spcAft>
              <a:buClr>
                <a:srgbClr val="6A1B9A"/>
              </a:buClr>
              <a:buFont typeface="Arial"/>
              <a:buChar char="▸"/>
            </a:pPr>
            <a:r>
              <a:rPr sz="830" b="1" i="0">
                <a:solidFill>
                  <a:srgbClr val="6A1B9A"/>
                </a:solidFill>
                <a:latin typeface="Calibri"/>
              </a:rPr>
              <a:t>Encode law: </a:t>
            </a:r>
            <a:r>
              <a:rPr sz="830" b="0" i="0">
                <a:solidFill>
                  <a:srgbClr val="212121"/>
                </a:solidFill>
                <a:latin typeface="Calibri"/>
              </a:rPr>
              <a:t>tested, configurable workflow engine + RBAC</a:t>
            </a:r>
          </a:p>
          <a:p>
            <a:pPr algn="l" marL="128016" indent="-128016">
              <a:lnSpc>
                <a:spcPct val="100000"/>
              </a:lnSpc>
              <a:spcBef>
                <a:spcPts val="0"/>
              </a:spcBef>
              <a:spcAft>
                <a:spcPts val="100"/>
              </a:spcAft>
              <a:buClr>
                <a:srgbClr val="6A1B9A"/>
              </a:buClr>
              <a:buFont typeface="Arial"/>
              <a:buChar char="▸"/>
            </a:pPr>
            <a:r>
              <a:rPr sz="830" b="1" i="0">
                <a:solidFill>
                  <a:srgbClr val="6A1B9A"/>
                </a:solidFill>
                <a:latin typeface="Calibri"/>
              </a:rPr>
              <a:t>Integrate &amp; add AI: </a:t>
            </a:r>
            <a:r>
              <a:rPr sz="830" b="0" i="0">
                <a:solidFill>
                  <a:srgbClr val="212121"/>
                </a:solidFill>
                <a:latin typeface="Calibri"/>
              </a:rPr>
              <a:t>government APIs; explainable models, then trained on pilot data</a:t>
            </a:r>
          </a:p>
        </p:txBody>
      </p:sp>
      <p:sp>
        <p:nvSpPr>
          <p:cNvPr id="17516" name="Pentagon 17515"/>
          <p:cNvSpPr/>
          <p:nvPr/>
        </p:nvSpPr>
        <p:spPr>
          <a:xfrm>
            <a:off x="4315968" y="5779007"/>
            <a:ext cx="973836" cy="438912"/>
          </a:xfrm>
          <a:prstGeom prst="homePlate">
            <a:avLst>
              <a:gd name="adj" fmla="val 2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54864" tIns="18288" bIns="18288"/>
          <a:lstStyle/>
          <a:p>
            <a:pPr algn="ctr">
              <a:lnSpc>
                <a:spcPct val="90000"/>
              </a:lnSpc>
              <a:spcBef>
                <a:spcPts val="0"/>
              </a:spcBef>
              <a:spcAft>
                <a:spcPts val="0"/>
              </a:spcAft>
            </a:pPr>
            <a:r>
              <a:rPr sz="700" b="1" i="0">
                <a:solidFill>
                  <a:srgbClr val="FFFFFF"/>
                </a:solidFill>
                <a:latin typeface="Calibri"/>
              </a:rPr>
              <a:t>Phase 0 ✅
Prototype</a:t>
            </a:r>
          </a:p>
        </p:txBody>
      </p:sp>
      <p:sp>
        <p:nvSpPr>
          <p:cNvPr id="17517" name="Chevron 17516"/>
          <p:cNvSpPr/>
          <p:nvPr/>
        </p:nvSpPr>
        <p:spPr>
          <a:xfrm>
            <a:off x="5253227" y="5779007"/>
            <a:ext cx="973836" cy="438912"/>
          </a:xfrm>
          <a:prstGeom prst="chevron">
            <a:avLst>
              <a:gd name="adj" fmla="val 28000"/>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00" b="1" i="0">
                <a:solidFill>
                  <a:srgbClr val="FFFFFF"/>
                </a:solidFill>
                <a:latin typeface="Calibri"/>
              </a:rPr>
              <a:t>Phase 1
District pilot
0–6 m</a:t>
            </a:r>
          </a:p>
        </p:txBody>
      </p:sp>
      <p:sp>
        <p:nvSpPr>
          <p:cNvPr id="17518" name="Chevron 17517"/>
          <p:cNvSpPr/>
          <p:nvPr/>
        </p:nvSpPr>
        <p:spPr>
          <a:xfrm>
            <a:off x="6190488" y="5779007"/>
            <a:ext cx="973836" cy="438912"/>
          </a:xfrm>
          <a:prstGeom prst="chevron">
            <a:avLst>
              <a:gd name="adj" fmla="val 28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00" b="1" i="0">
                <a:solidFill>
                  <a:srgbClr val="FFFFFF"/>
                </a:solidFill>
                <a:latin typeface="Calibri"/>
              </a:rPr>
              <a:t>Phase 2
State rollout
6–12 m</a:t>
            </a:r>
          </a:p>
        </p:txBody>
      </p:sp>
      <p:sp>
        <p:nvSpPr>
          <p:cNvPr id="17519" name="Chevron 17518"/>
          <p:cNvSpPr/>
          <p:nvPr/>
        </p:nvSpPr>
        <p:spPr>
          <a:xfrm>
            <a:off x="7127748" y="5779007"/>
            <a:ext cx="973836" cy="438912"/>
          </a:xfrm>
          <a:prstGeom prst="chevron">
            <a:avLst>
              <a:gd name="adj" fmla="val 2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54864" tIns="18288" bIns="18288"/>
          <a:lstStyle/>
          <a:p>
            <a:pPr algn="ctr">
              <a:lnSpc>
                <a:spcPct val="90000"/>
              </a:lnSpc>
              <a:spcBef>
                <a:spcPts val="0"/>
              </a:spcBef>
              <a:spcAft>
                <a:spcPts val="0"/>
              </a:spcAft>
            </a:pPr>
            <a:r>
              <a:rPr sz="700" b="1" i="0">
                <a:solidFill>
                  <a:srgbClr val="FFFFFF"/>
                </a:solidFill>
                <a:latin typeface="Calibri"/>
              </a:rPr>
              <a:t>Phase 3
National
12–24 m</a:t>
            </a:r>
          </a:p>
        </p:txBody>
      </p:sp>
      <p:sp>
        <p:nvSpPr>
          <p:cNvPr id="17520" name="Rectangle 17519"/>
          <p:cNvSpPr/>
          <p:nvPr/>
        </p:nvSpPr>
        <p:spPr>
          <a:xfrm>
            <a:off x="8247888" y="4590288"/>
            <a:ext cx="3666744" cy="1673352"/>
          </a:xfrm>
          <a:prstGeom prst="rect">
            <a:avLst/>
          </a:prstGeom>
          <a:solidFill>
            <a:srgbClr val="F0F5F0"/>
          </a:solidFill>
          <a:ln w="9525">
            <a:solidFill>
              <a:srgbClr val="A0C4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1" name="Rectangle 17520"/>
          <p:cNvSpPr/>
          <p:nvPr/>
        </p:nvSpPr>
        <p:spPr>
          <a:xfrm>
            <a:off x="8247888" y="4590288"/>
            <a:ext cx="3666744" cy="25603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050" b="1" i="0">
                <a:solidFill>
                  <a:srgbClr val="FFFFFF"/>
                </a:solidFill>
                <a:latin typeface="Calibri"/>
              </a:rPr>
              <a:t>WORKING PROTOTYPE (PHASE 0)</a:t>
            </a:r>
          </a:p>
        </p:txBody>
      </p:sp>
      <p:pic>
        <p:nvPicPr>
          <p:cNvPr id="17522" name="Picture 17521" descr="NILAMS prototype screenshot: Public portal"/>
          <p:cNvPicPr>
            <a:picLocks noChangeAspect="1"/>
          </p:cNvPicPr>
          <p:nvPr/>
        </p:nvPicPr>
        <p:blipFill>
          <a:blip r:embed="rId23"/>
          <a:srcRect l="15040" r="15040"/>
          <a:stretch>
            <a:fillRect/>
          </a:stretch>
        </p:blipFill>
        <p:spPr>
          <a:xfrm>
            <a:off x="8321040" y="4919472"/>
            <a:ext cx="1146048" cy="1005840"/>
          </a:xfrm>
          <a:prstGeom prst="rect">
            <a:avLst/>
          </a:prstGeom>
          <a:ln w="9525">
            <a:solidFill>
              <a:srgbClr val="C9D3E0"/>
            </a:solidFill>
          </a:ln>
        </p:spPr>
      </p:pic>
      <p:sp>
        <p:nvSpPr>
          <p:cNvPr id="17523" name="TextBox 17522"/>
          <p:cNvSpPr txBox="1"/>
          <p:nvPr/>
        </p:nvSpPr>
        <p:spPr>
          <a:xfrm>
            <a:off x="8293608" y="5943600"/>
            <a:ext cx="1200912" cy="274320"/>
          </a:xfrm>
          <a:prstGeom prst="rect">
            <a:avLst/>
          </a:prstGeom>
          <a:noFill/>
        </p:spPr>
        <p:txBody>
          <a:bodyPr wrap="square" anchor="t" lIns="0" rIns="0" tIns="0" bIns="0"/>
          <a:lstStyle/>
          <a:p>
            <a:pPr algn="ctr">
              <a:lnSpc>
                <a:spcPct val="100000"/>
              </a:lnSpc>
              <a:spcBef>
                <a:spcPts val="0"/>
              </a:spcBef>
              <a:spcAft>
                <a:spcPts val="200"/>
              </a:spcAft>
            </a:pPr>
            <a:r>
              <a:rPr sz="730" b="1" i="0">
                <a:solidFill>
                  <a:srgbClr val="212121"/>
                </a:solidFill>
                <a:latin typeface="Calibri"/>
              </a:rPr>
              <a:t>Public portal</a:t>
            </a:r>
          </a:p>
        </p:txBody>
      </p:sp>
      <p:pic>
        <p:nvPicPr>
          <p:cNvPr id="17524" name="Picture 17523" descr="NILAMS prototype screenshot: Stage tracker + AI risk score"/>
          <p:cNvPicPr>
            <a:picLocks noChangeAspect="1"/>
          </p:cNvPicPr>
          <p:nvPr/>
        </p:nvPicPr>
        <p:blipFill>
          <a:blip r:embed="rId24"/>
          <a:srcRect l="22074" r="22074"/>
          <a:stretch>
            <a:fillRect/>
          </a:stretch>
        </p:blipFill>
        <p:spPr>
          <a:xfrm>
            <a:off x="9508236" y="4919472"/>
            <a:ext cx="1146048" cy="1005840"/>
          </a:xfrm>
          <a:prstGeom prst="rect">
            <a:avLst/>
          </a:prstGeom>
          <a:ln w="9525">
            <a:solidFill>
              <a:srgbClr val="C9D3E0"/>
            </a:solidFill>
          </a:ln>
        </p:spPr>
      </p:pic>
      <p:sp>
        <p:nvSpPr>
          <p:cNvPr id="17525" name="TextBox 17524"/>
          <p:cNvSpPr txBox="1"/>
          <p:nvPr/>
        </p:nvSpPr>
        <p:spPr>
          <a:xfrm>
            <a:off x="9480804" y="5943600"/>
            <a:ext cx="1200912" cy="274320"/>
          </a:xfrm>
          <a:prstGeom prst="rect">
            <a:avLst/>
          </a:prstGeom>
          <a:noFill/>
        </p:spPr>
        <p:txBody>
          <a:bodyPr wrap="square" anchor="t" lIns="0" rIns="0" tIns="0" bIns="0"/>
          <a:lstStyle/>
          <a:p>
            <a:pPr algn="ctr">
              <a:lnSpc>
                <a:spcPct val="100000"/>
              </a:lnSpc>
              <a:spcBef>
                <a:spcPts val="0"/>
              </a:spcBef>
              <a:spcAft>
                <a:spcPts val="200"/>
              </a:spcAft>
            </a:pPr>
            <a:r>
              <a:rPr sz="730" b="1" i="0">
                <a:solidFill>
                  <a:srgbClr val="212121"/>
                </a:solidFill>
                <a:latin typeface="Calibri"/>
              </a:rPr>
              <a:t>Stage tracker + AI risk score</a:t>
            </a:r>
          </a:p>
        </p:txBody>
      </p:sp>
      <p:pic>
        <p:nvPicPr>
          <p:cNvPr id="17526" name="Picture 17525" descr="NILAMS prototype screenshot: GIS parcel map"/>
          <p:cNvPicPr>
            <a:picLocks noChangeAspect="1"/>
          </p:cNvPicPr>
          <p:nvPr/>
        </p:nvPicPr>
        <p:blipFill>
          <a:blip r:embed="rId25"/>
          <a:srcRect l="27968" r="27968"/>
          <a:stretch>
            <a:fillRect/>
          </a:stretch>
        </p:blipFill>
        <p:spPr>
          <a:xfrm>
            <a:off x="10695432" y="4919472"/>
            <a:ext cx="1146048" cy="1005840"/>
          </a:xfrm>
          <a:prstGeom prst="rect">
            <a:avLst/>
          </a:prstGeom>
          <a:ln w="9525">
            <a:solidFill>
              <a:srgbClr val="C9D3E0"/>
            </a:solidFill>
          </a:ln>
        </p:spPr>
      </p:pic>
      <p:sp>
        <p:nvSpPr>
          <p:cNvPr id="17527" name="TextBox 17526"/>
          <p:cNvSpPr txBox="1"/>
          <p:nvPr/>
        </p:nvSpPr>
        <p:spPr>
          <a:xfrm>
            <a:off x="10668000" y="5943600"/>
            <a:ext cx="1200912" cy="274320"/>
          </a:xfrm>
          <a:prstGeom prst="rect">
            <a:avLst/>
          </a:prstGeom>
          <a:noFill/>
        </p:spPr>
        <p:txBody>
          <a:bodyPr wrap="square" anchor="t" lIns="0" rIns="0" tIns="0" bIns="0"/>
          <a:lstStyle/>
          <a:p>
            <a:pPr algn="ctr">
              <a:lnSpc>
                <a:spcPct val="100000"/>
              </a:lnSpc>
              <a:spcBef>
                <a:spcPts val="0"/>
              </a:spcBef>
              <a:spcAft>
                <a:spcPts val="200"/>
              </a:spcAft>
            </a:pPr>
            <a:r>
              <a:rPr sz="730" b="1" i="0">
                <a:solidFill>
                  <a:srgbClr val="212121"/>
                </a:solidFill>
                <a:latin typeface="Calibri"/>
              </a:rPr>
              <a:t>GIS parcel map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0"/>
            <a:ext cx="7863840" cy="105156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1078992"/>
            <a:ext cx="10058400" cy="274320"/>
          </a:xfrm>
          <a:prstGeom prst="rect">
            <a:avLst/>
          </a:prstGeom>
          <a:noFill/>
        </p:spPr>
        <p:txBody>
          <a:bodyPr wrap="square" anchor="t" lIns="0" rIns="0" tIns="0" bIns="0"/>
          <a:lstStyle/>
          <a:p>
            <a:pPr algn="l">
              <a:lnSpc>
                <a:spcPct val="100000"/>
              </a:lnSpc>
              <a:spcBef>
                <a:spcPts val="0"/>
              </a:spcBef>
              <a:spcAft>
                <a:spcPts val="200"/>
              </a:spcAft>
            </a:pPr>
            <a:r>
              <a:rPr sz="1200" b="1" i="0">
                <a:solidFill>
                  <a:srgbClr val="1F3864"/>
                </a:solidFill>
                <a:latin typeface="Calibri"/>
              </a:rPr>
              <a:t>ANALYSIS OF THE FEASIBILITY OF THE IDEA</a:t>
            </a:r>
          </a:p>
        </p:txBody>
      </p:sp>
      <p:sp>
        <p:nvSpPr>
          <p:cNvPr id="17411" name="Rectangle 17410"/>
          <p:cNvSpPr/>
          <p:nvPr/>
        </p:nvSpPr>
        <p:spPr>
          <a:xfrm>
            <a:off x="274320" y="1389888"/>
            <a:ext cx="1848612" cy="1417320"/>
          </a:xfrm>
          <a:prstGeom prst="rect">
            <a:avLst/>
          </a:prstGeom>
          <a:solidFill>
            <a:srgbClr val="F0F5F0"/>
          </a:solidFill>
          <a:ln w="9525">
            <a:solidFill>
              <a:srgbClr val="A0C4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ectangle 17411"/>
          <p:cNvSpPr/>
          <p:nvPr/>
        </p:nvSpPr>
        <p:spPr>
          <a:xfrm>
            <a:off x="274320" y="1389888"/>
            <a:ext cx="1848612" cy="2743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Technical</a:t>
            </a:r>
          </a:p>
        </p:txBody>
      </p:sp>
      <p:sp>
        <p:nvSpPr>
          <p:cNvPr id="17413" name="TextBox 17412"/>
          <p:cNvSpPr txBox="1"/>
          <p:nvPr/>
        </p:nvSpPr>
        <p:spPr>
          <a:xfrm>
            <a:off x="301751" y="1691640"/>
            <a:ext cx="1793748" cy="1097280"/>
          </a:xfrm>
          <a:prstGeom prst="rect">
            <a:avLst/>
          </a:prstGeom>
          <a:noFill/>
        </p:spPr>
        <p:txBody>
          <a:bodyPr wrap="square" anchor="t" lIns="36576" rIns="36576" tIns="36576" bIns="36576"/>
          <a:lstStyle/>
          <a:p>
            <a:pPr algn="l">
              <a:lnSpc>
                <a:spcPct val="100000"/>
              </a:lnSpc>
              <a:spcBef>
                <a:spcPts val="0"/>
              </a:spcBef>
              <a:spcAft>
                <a:spcPts val="200"/>
              </a:spcAft>
            </a:pPr>
            <a:r>
              <a:rPr sz="1030" b="0" i="0">
                <a:solidFill>
                  <a:srgbClr val="212121"/>
                </a:solidFill>
                <a:latin typeface="Calibri"/>
              </a:rPr>
              <a:t>Proven open-source stack used in government (PostgreSQL/PostGIS, GeoServer, QGIS). Core already working in our prototype.</a:t>
            </a:r>
          </a:p>
        </p:txBody>
      </p:sp>
      <p:sp>
        <p:nvSpPr>
          <p:cNvPr id="17414" name="Rectangle 17413"/>
          <p:cNvSpPr/>
          <p:nvPr/>
        </p:nvSpPr>
        <p:spPr>
          <a:xfrm>
            <a:off x="2232660" y="1389888"/>
            <a:ext cx="1848612" cy="1417320"/>
          </a:xfrm>
          <a:prstGeom prst="rect">
            <a:avLst/>
          </a:prstGeom>
          <a:solidFill>
            <a:srgbClr val="EDF4FA"/>
          </a:solidFill>
          <a:ln w="9525">
            <a:solidFill>
              <a:srgbClr val="8CB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ectangle 17414"/>
          <p:cNvSpPr/>
          <p:nvPr/>
        </p:nvSpPr>
        <p:spPr>
          <a:xfrm>
            <a:off x="2232660" y="1389888"/>
            <a:ext cx="1848612" cy="2743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Legal &amp; Policy</a:t>
            </a:r>
          </a:p>
        </p:txBody>
      </p:sp>
      <p:sp>
        <p:nvSpPr>
          <p:cNvPr id="17416" name="TextBox 17415"/>
          <p:cNvSpPr txBox="1"/>
          <p:nvPr/>
        </p:nvSpPr>
        <p:spPr>
          <a:xfrm>
            <a:off x="2260092" y="1691640"/>
            <a:ext cx="1793748" cy="1097280"/>
          </a:xfrm>
          <a:prstGeom prst="rect">
            <a:avLst/>
          </a:prstGeom>
          <a:noFill/>
        </p:spPr>
        <p:txBody>
          <a:bodyPr wrap="square" anchor="t" lIns="36576" rIns="36576" tIns="36576" bIns="36576"/>
          <a:lstStyle/>
          <a:p>
            <a:pPr algn="l">
              <a:lnSpc>
                <a:spcPct val="100000"/>
              </a:lnSpc>
              <a:spcBef>
                <a:spcPts val="0"/>
              </a:spcBef>
              <a:spcAft>
                <a:spcPts val="200"/>
              </a:spcAft>
            </a:pPr>
            <a:r>
              <a:rPr sz="1030" b="0" i="0">
                <a:solidFill>
                  <a:srgbClr val="212121"/>
                </a:solidFill>
                <a:latin typeface="Calibri"/>
              </a:rPr>
              <a:t>Built directly on RFCTLARR Act 2013 &amp; its Schedules. State rules become configuration, not new code.</a:t>
            </a:r>
          </a:p>
        </p:txBody>
      </p:sp>
      <p:sp>
        <p:nvSpPr>
          <p:cNvPr id="17417" name="Rectangle 17416"/>
          <p:cNvSpPr/>
          <p:nvPr/>
        </p:nvSpPr>
        <p:spPr>
          <a:xfrm>
            <a:off x="4191000" y="1389888"/>
            <a:ext cx="1848612" cy="1417320"/>
          </a:xfrm>
          <a:prstGeom prst="rect">
            <a:avLst/>
          </a:prstGeom>
          <a:solidFill>
            <a:srgbClr val="EDF5F4"/>
          </a:solidFill>
          <a:ln w="9525">
            <a:solidFill>
              <a:srgbClr val="8CC2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ectangle 17417"/>
          <p:cNvSpPr/>
          <p:nvPr/>
        </p:nvSpPr>
        <p:spPr>
          <a:xfrm>
            <a:off x="4191000" y="1389888"/>
            <a:ext cx="1848612" cy="274320"/>
          </a:xfrm>
          <a:prstGeom prst="rect">
            <a:avLst/>
          </a:prstGeom>
          <a:solidFill>
            <a:srgbClr val="0079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Institutional</a:t>
            </a:r>
          </a:p>
        </p:txBody>
      </p:sp>
      <p:sp>
        <p:nvSpPr>
          <p:cNvPr id="17419" name="TextBox 17418"/>
          <p:cNvSpPr txBox="1"/>
          <p:nvPr/>
        </p:nvSpPr>
        <p:spPr>
          <a:xfrm>
            <a:off x="4218432" y="1691640"/>
            <a:ext cx="1793748" cy="1097280"/>
          </a:xfrm>
          <a:prstGeom prst="rect">
            <a:avLst/>
          </a:prstGeom>
          <a:noFill/>
        </p:spPr>
        <p:txBody>
          <a:bodyPr wrap="square" anchor="t" lIns="36576" rIns="36576" tIns="36576" bIns="36576"/>
          <a:lstStyle/>
          <a:p>
            <a:pPr algn="l">
              <a:lnSpc>
                <a:spcPct val="100000"/>
              </a:lnSpc>
              <a:spcBef>
                <a:spcPts val="0"/>
              </a:spcBef>
              <a:spcAft>
                <a:spcPts val="200"/>
              </a:spcAft>
            </a:pPr>
            <a:r>
              <a:rPr sz="1030" b="0" i="0">
                <a:solidFill>
                  <a:srgbClr val="212121"/>
                </a:solidFill>
                <a:latin typeface="Calibri"/>
              </a:rPr>
              <a:t>Fits DILRMP, ULPIN, e-Gazette, PFMS, DigiLocker, Bhashini, Gati Shakti. Precedent: Bhoomi Rashi (1,467 NHAI projects).</a:t>
            </a:r>
          </a:p>
        </p:txBody>
      </p:sp>
      <p:sp>
        <p:nvSpPr>
          <p:cNvPr id="17420" name="Rectangle 17419"/>
          <p:cNvSpPr/>
          <p:nvPr/>
        </p:nvSpPr>
        <p:spPr>
          <a:xfrm>
            <a:off x="6149340" y="1389888"/>
            <a:ext cx="1848612" cy="1417320"/>
          </a:xfrm>
          <a:prstGeom prst="rect">
            <a:avLst/>
          </a:prstGeom>
          <a:solidFill>
            <a:srgbClr val="F4EFF7"/>
          </a:solidFill>
          <a:ln w="9525">
            <a:solidFill>
              <a:srgbClr val="BB9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ectangle 17420"/>
          <p:cNvSpPr/>
          <p:nvPr/>
        </p:nvSpPr>
        <p:spPr>
          <a:xfrm>
            <a:off x="6149340" y="1389888"/>
            <a:ext cx="1848612" cy="27432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Operational</a:t>
            </a:r>
          </a:p>
        </p:txBody>
      </p:sp>
      <p:sp>
        <p:nvSpPr>
          <p:cNvPr id="17422" name="TextBox 17421"/>
          <p:cNvSpPr txBox="1"/>
          <p:nvPr/>
        </p:nvSpPr>
        <p:spPr>
          <a:xfrm>
            <a:off x="6176772" y="1691640"/>
            <a:ext cx="1793748" cy="1097280"/>
          </a:xfrm>
          <a:prstGeom prst="rect">
            <a:avLst/>
          </a:prstGeom>
          <a:noFill/>
        </p:spPr>
        <p:txBody>
          <a:bodyPr wrap="square" anchor="t" lIns="36576" rIns="36576" tIns="36576" bIns="36576"/>
          <a:lstStyle/>
          <a:p>
            <a:pPr algn="l">
              <a:lnSpc>
                <a:spcPct val="100000"/>
              </a:lnSpc>
              <a:spcBef>
                <a:spcPts val="0"/>
              </a:spcBef>
              <a:spcAft>
                <a:spcPts val="200"/>
              </a:spcAft>
            </a:pPr>
            <a:r>
              <a:rPr sz="1030" b="0" i="0">
                <a:solidFill>
                  <a:srgbClr val="212121"/>
                </a:solidFill>
                <a:latin typeface="Calibri"/>
              </a:rPr>
              <a:t>Accepts Excel / PDF / Word records officers already use; offline field app; bilingual UI → minimal retraining.</a:t>
            </a:r>
          </a:p>
        </p:txBody>
      </p:sp>
      <p:sp>
        <p:nvSpPr>
          <p:cNvPr id="17423" name="Rectangle 17422"/>
          <p:cNvSpPr/>
          <p:nvPr/>
        </p:nvSpPr>
        <p:spPr>
          <a:xfrm>
            <a:off x="8107680" y="1389888"/>
            <a:ext cx="1848612" cy="1417320"/>
          </a:xfrm>
          <a:prstGeom prst="rect">
            <a:avLst/>
          </a:prstGeom>
          <a:solidFill>
            <a:srgbClr val="FDF4ED"/>
          </a:solidFill>
          <a:ln w="9525">
            <a:solidFill>
              <a:srgbClr val="F2BC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ectangle 17423"/>
          <p:cNvSpPr/>
          <p:nvPr/>
        </p:nvSpPr>
        <p:spPr>
          <a:xfrm>
            <a:off x="8107680" y="1389888"/>
            <a:ext cx="1848612" cy="274320"/>
          </a:xfrm>
          <a:prstGeom prst="rect">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Economic</a:t>
            </a:r>
          </a:p>
        </p:txBody>
      </p:sp>
      <p:sp>
        <p:nvSpPr>
          <p:cNvPr id="17425" name="TextBox 17424"/>
          <p:cNvSpPr txBox="1"/>
          <p:nvPr/>
        </p:nvSpPr>
        <p:spPr>
          <a:xfrm>
            <a:off x="8135112" y="1691640"/>
            <a:ext cx="1793748" cy="1097280"/>
          </a:xfrm>
          <a:prstGeom prst="rect">
            <a:avLst/>
          </a:prstGeom>
          <a:noFill/>
        </p:spPr>
        <p:txBody>
          <a:bodyPr wrap="square" anchor="t" lIns="36576" rIns="36576" tIns="36576" bIns="36576"/>
          <a:lstStyle/>
          <a:p>
            <a:pPr algn="l">
              <a:lnSpc>
                <a:spcPct val="100000"/>
              </a:lnSpc>
              <a:spcBef>
                <a:spcPts val="0"/>
              </a:spcBef>
              <a:spcAft>
                <a:spcPts val="200"/>
              </a:spcAft>
            </a:pPr>
            <a:r>
              <a:rPr sz="1030" b="0" i="0">
                <a:solidFill>
                  <a:srgbClr val="212121"/>
                </a:solidFill>
                <a:latin typeface="Calibri"/>
              </a:rPr>
              <a:t>No licence fees; runs on existing NIC Cloud. Delay costs are huge — CAG: ₹6,603 cr extra land cost on Bengaluru Metro.</a:t>
            </a:r>
          </a:p>
        </p:txBody>
      </p:sp>
      <p:sp>
        <p:nvSpPr>
          <p:cNvPr id="17426" name="Rectangle 17425"/>
          <p:cNvSpPr/>
          <p:nvPr/>
        </p:nvSpPr>
        <p:spPr>
          <a:xfrm>
            <a:off x="10066020" y="1389888"/>
            <a:ext cx="1848612" cy="1417320"/>
          </a:xfrm>
          <a:prstGeom prst="rect">
            <a:avLst/>
          </a:prstGeom>
          <a:solidFill>
            <a:srgbClr val="EFF1F4"/>
          </a:solidFill>
          <a:ln w="9525">
            <a:solidFill>
              <a:srgbClr val="9AA5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ectangle 17426"/>
          <p:cNvSpPr/>
          <p:nvPr/>
        </p:nvSpPr>
        <p:spPr>
          <a:xfrm>
            <a:off x="10066020" y="1389888"/>
            <a:ext cx="1848612"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Scalable</a:t>
            </a:r>
          </a:p>
        </p:txBody>
      </p:sp>
      <p:sp>
        <p:nvSpPr>
          <p:cNvPr id="17428" name="TextBox 17427"/>
          <p:cNvSpPr txBox="1"/>
          <p:nvPr/>
        </p:nvSpPr>
        <p:spPr>
          <a:xfrm>
            <a:off x="10093452" y="1691640"/>
            <a:ext cx="1793748" cy="1097280"/>
          </a:xfrm>
          <a:prstGeom prst="rect">
            <a:avLst/>
          </a:prstGeom>
          <a:noFill/>
        </p:spPr>
        <p:txBody>
          <a:bodyPr wrap="square" anchor="t" lIns="36576" rIns="36576" tIns="36576" bIns="36576"/>
          <a:lstStyle/>
          <a:p>
            <a:pPr algn="l">
              <a:lnSpc>
                <a:spcPct val="100000"/>
              </a:lnSpc>
              <a:spcBef>
                <a:spcPts val="0"/>
              </a:spcBef>
              <a:spcAft>
                <a:spcPts val="200"/>
              </a:spcAft>
            </a:pPr>
            <a:r>
              <a:rPr sz="1030" b="0" i="0">
                <a:solidFill>
                  <a:srgbClr val="212121"/>
                </a:solidFill>
                <a:latin typeface="Calibri"/>
              </a:rPr>
              <a:t>Multi-tenant State → District → Project design; horizontally scalable APIs; spatial indexing for crores of parcels.</a:t>
            </a:r>
          </a:p>
        </p:txBody>
      </p:sp>
      <p:sp>
        <p:nvSpPr>
          <p:cNvPr id="17429" name="TextBox 17428"/>
          <p:cNvSpPr txBox="1"/>
          <p:nvPr/>
        </p:nvSpPr>
        <p:spPr>
          <a:xfrm>
            <a:off x="274320" y="2898648"/>
            <a:ext cx="5486400" cy="274320"/>
          </a:xfrm>
          <a:prstGeom prst="rect">
            <a:avLst/>
          </a:prstGeom>
          <a:noFill/>
        </p:spPr>
        <p:txBody>
          <a:bodyPr wrap="square" anchor="t" lIns="0" rIns="0" tIns="0" bIns="0"/>
          <a:lstStyle/>
          <a:p>
            <a:pPr algn="l">
              <a:lnSpc>
                <a:spcPct val="100000"/>
              </a:lnSpc>
              <a:spcBef>
                <a:spcPts val="0"/>
              </a:spcBef>
              <a:spcAft>
                <a:spcPts val="200"/>
              </a:spcAft>
            </a:pPr>
            <a:r>
              <a:rPr sz="1200" b="1" i="0">
                <a:solidFill>
                  <a:srgbClr val="C62828"/>
                </a:solidFill>
                <a:latin typeface="Calibri"/>
              </a:rPr>
              <a:t>POTENTIAL CHALLENGES &amp; RISKS</a:t>
            </a:r>
          </a:p>
        </p:txBody>
      </p:sp>
      <p:sp>
        <p:nvSpPr>
          <p:cNvPr id="17430" name="TextBox 17429"/>
          <p:cNvSpPr txBox="1"/>
          <p:nvPr/>
        </p:nvSpPr>
        <p:spPr>
          <a:xfrm>
            <a:off x="5989320" y="2898648"/>
            <a:ext cx="5925312" cy="274320"/>
          </a:xfrm>
          <a:prstGeom prst="rect">
            <a:avLst/>
          </a:prstGeom>
          <a:noFill/>
        </p:spPr>
        <p:txBody>
          <a:bodyPr wrap="square" anchor="t" lIns="0" rIns="0" tIns="0" bIns="0"/>
          <a:lstStyle/>
          <a:p>
            <a:pPr algn="l">
              <a:lnSpc>
                <a:spcPct val="100000"/>
              </a:lnSpc>
              <a:spcBef>
                <a:spcPts val="0"/>
              </a:spcBef>
              <a:spcAft>
                <a:spcPts val="200"/>
              </a:spcAft>
            </a:pPr>
            <a:r>
              <a:rPr sz="1200" b="1" i="0">
                <a:solidFill>
                  <a:srgbClr val="2E7D32"/>
                </a:solidFill>
                <a:latin typeface="Calibri"/>
              </a:rPr>
              <a:t>STRATEGIES FOR OVERCOMING THEM</a:t>
            </a:r>
          </a:p>
        </p:txBody>
      </p:sp>
      <p:sp>
        <p:nvSpPr>
          <p:cNvPr id="17431" name="Rectangle 17430"/>
          <p:cNvSpPr/>
          <p:nvPr/>
        </p:nvSpPr>
        <p:spPr>
          <a:xfrm>
            <a:off x="274320" y="3200400"/>
            <a:ext cx="5486400" cy="333756"/>
          </a:xfrm>
          <a:prstGeom prst="rect">
            <a:avLst/>
          </a:prstGeom>
          <a:solidFill>
            <a:srgbClr val="FAEDED"/>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1. Legacy land records: </a:t>
            </a:r>
            <a:r>
              <a:rPr sz="1000" b="0" i="0">
                <a:solidFill>
                  <a:srgbClr val="212121"/>
                </a:solidFill>
                <a:latin typeface="Calibri"/>
              </a:rPr>
              <a:t>handwritten, scanned, inconsistent</a:t>
            </a:r>
          </a:p>
        </p:txBody>
      </p:sp>
      <p:sp>
        <p:nvSpPr>
          <p:cNvPr id="17432" name="Right Arrow 17431"/>
          <p:cNvSpPr/>
          <p:nvPr/>
        </p:nvSpPr>
        <p:spPr>
          <a:xfrm>
            <a:off x="5788152" y="3273552"/>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Rectangle 17432"/>
          <p:cNvSpPr/>
          <p:nvPr/>
        </p:nvSpPr>
        <p:spPr>
          <a:xfrm>
            <a:off x="5989320" y="3200400"/>
            <a:ext cx="5925312" cy="333756"/>
          </a:xfrm>
          <a:prstGeom prst="rect">
            <a:avLst/>
          </a:prstGeom>
          <a:solidFill>
            <a:srgbClr val="EEF4EE"/>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AI-assisted OCR + human verification; strict templates; row-level error reports; digitise active projects first</a:t>
            </a:r>
          </a:p>
        </p:txBody>
      </p:sp>
      <p:sp>
        <p:nvSpPr>
          <p:cNvPr id="17434" name="Rectangle 17433"/>
          <p:cNvSpPr/>
          <p:nvPr/>
        </p:nvSpPr>
        <p:spPr>
          <a:xfrm>
            <a:off x="274320" y="3579876"/>
            <a:ext cx="5486400" cy="333756"/>
          </a:xfrm>
          <a:prstGeom prst="rect">
            <a:avLst/>
          </a:prstGeom>
          <a:solidFill>
            <a:srgbClr val="FCF6F6"/>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2. Diverse State systems: </a:t>
            </a:r>
            <a:r>
              <a:rPr sz="1000" b="0" i="0">
                <a:solidFill>
                  <a:srgbClr val="212121"/>
                </a:solidFill>
                <a:latin typeface="Calibri"/>
              </a:rPr>
              <a:t>different formats, languages, API maturity</a:t>
            </a:r>
          </a:p>
        </p:txBody>
      </p:sp>
      <p:sp>
        <p:nvSpPr>
          <p:cNvPr id="17435" name="Right Arrow 17434"/>
          <p:cNvSpPr/>
          <p:nvPr/>
        </p:nvSpPr>
        <p:spPr>
          <a:xfrm>
            <a:off x="5788152" y="3653028"/>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Rectangle 17435"/>
          <p:cNvSpPr/>
          <p:nvPr/>
        </p:nvSpPr>
        <p:spPr>
          <a:xfrm>
            <a:off x="5989320" y="3579876"/>
            <a:ext cx="5925312" cy="333756"/>
          </a:xfrm>
          <a:prstGeom prst="rect">
            <a:avLst/>
          </a:prstGeom>
          <a:solidFill>
            <a:srgbClr val="F6F9F6"/>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Adapter per State onto one national schema; ULPIN as common key; file exchange first, live APIs later</a:t>
            </a:r>
          </a:p>
        </p:txBody>
      </p:sp>
      <p:sp>
        <p:nvSpPr>
          <p:cNvPr id="17437" name="Rectangle 17436"/>
          <p:cNvSpPr/>
          <p:nvPr/>
        </p:nvSpPr>
        <p:spPr>
          <a:xfrm>
            <a:off x="274320" y="3959352"/>
            <a:ext cx="5486400" cy="333756"/>
          </a:xfrm>
          <a:prstGeom prst="rect">
            <a:avLst/>
          </a:prstGeom>
          <a:solidFill>
            <a:srgbClr val="FAEDED"/>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3. Adoption resistance: </a:t>
            </a:r>
            <a:r>
              <a:rPr sz="1000" b="0" i="0">
                <a:solidFill>
                  <a:srgbClr val="212121"/>
                </a:solidFill>
                <a:latin typeface="Calibri"/>
              </a:rPr>
              <a:t>officers used to paper</a:t>
            </a:r>
          </a:p>
        </p:txBody>
      </p:sp>
      <p:sp>
        <p:nvSpPr>
          <p:cNvPr id="17438" name="Right Arrow 17437"/>
          <p:cNvSpPr/>
          <p:nvPr/>
        </p:nvSpPr>
        <p:spPr>
          <a:xfrm>
            <a:off x="5788152" y="4032504"/>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Rectangle 17438"/>
          <p:cNvSpPr/>
          <p:nvPr/>
        </p:nvSpPr>
        <p:spPr>
          <a:xfrm>
            <a:off x="5989320" y="3959352"/>
            <a:ext cx="5925312" cy="333756"/>
          </a:xfrm>
          <a:prstGeom prst="rect">
            <a:avLst/>
          </a:prstGeom>
          <a:solidFill>
            <a:srgbClr val="EEF4EE"/>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District pilot; Mission Karmayogi training; simple role-based screens; “who acts next” on every case</a:t>
            </a:r>
          </a:p>
        </p:txBody>
      </p:sp>
      <p:sp>
        <p:nvSpPr>
          <p:cNvPr id="17440" name="Rectangle 17439"/>
          <p:cNvSpPr/>
          <p:nvPr/>
        </p:nvSpPr>
        <p:spPr>
          <a:xfrm>
            <a:off x="274320" y="4338828"/>
            <a:ext cx="5486400" cy="333756"/>
          </a:xfrm>
          <a:prstGeom prst="rect">
            <a:avLst/>
          </a:prstGeom>
          <a:solidFill>
            <a:srgbClr val="FCF6F6"/>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4. Rural connectivity: </a:t>
            </a:r>
            <a:r>
              <a:rPr sz="1000" b="0" i="0">
                <a:solidFill>
                  <a:srgbClr val="212121"/>
                </a:solidFill>
                <a:latin typeface="Calibri"/>
              </a:rPr>
              <a:t>field work without network</a:t>
            </a:r>
          </a:p>
        </p:txBody>
      </p:sp>
      <p:sp>
        <p:nvSpPr>
          <p:cNvPr id="17441" name="Right Arrow 17440"/>
          <p:cNvSpPr/>
          <p:nvPr/>
        </p:nvSpPr>
        <p:spPr>
          <a:xfrm>
            <a:off x="5788152" y="4411980"/>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Rectangle 17441"/>
          <p:cNvSpPr/>
          <p:nvPr/>
        </p:nvSpPr>
        <p:spPr>
          <a:xfrm>
            <a:off x="5989320" y="4338828"/>
            <a:ext cx="5925312" cy="333756"/>
          </a:xfrm>
          <a:prstGeom prst="rect">
            <a:avLst/>
          </a:prstGeom>
          <a:solidFill>
            <a:srgbClr val="F6F9F6"/>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Offline-first mobile app with sync queue and logged sync time</a:t>
            </a:r>
          </a:p>
        </p:txBody>
      </p:sp>
      <p:sp>
        <p:nvSpPr>
          <p:cNvPr id="17443" name="Rectangle 17442"/>
          <p:cNvSpPr/>
          <p:nvPr/>
        </p:nvSpPr>
        <p:spPr>
          <a:xfrm>
            <a:off x="274320" y="4718304"/>
            <a:ext cx="5486400" cy="333756"/>
          </a:xfrm>
          <a:prstGeom prst="rect">
            <a:avLst/>
          </a:prstGeom>
          <a:solidFill>
            <a:srgbClr val="FAEDED"/>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5. Privacy &amp; cyber security: </a:t>
            </a:r>
            <a:r>
              <a:rPr sz="1000" b="0" i="0">
                <a:solidFill>
                  <a:srgbClr val="212121"/>
                </a:solidFill>
                <a:latin typeface="Calibri"/>
              </a:rPr>
              <a:t>sensitive family &amp; payment data</a:t>
            </a:r>
          </a:p>
        </p:txBody>
      </p:sp>
      <p:sp>
        <p:nvSpPr>
          <p:cNvPr id="17444" name="Right Arrow 17443"/>
          <p:cNvSpPr/>
          <p:nvPr/>
        </p:nvSpPr>
        <p:spPr>
          <a:xfrm>
            <a:off x="5788152" y="4791456"/>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5" name="Rectangle 17444"/>
          <p:cNvSpPr/>
          <p:nvPr/>
        </p:nvSpPr>
        <p:spPr>
          <a:xfrm>
            <a:off x="5989320" y="4718304"/>
            <a:ext cx="5925312" cy="333756"/>
          </a:xfrm>
          <a:prstGeom prst="rect">
            <a:avLst/>
          </a:prstGeom>
          <a:solidFill>
            <a:srgbClr val="EEF4EE"/>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e-Pramaan login, role + jurisdiction access, encryption, hash-chained audit, DPDP Act 2023, CERT-In audit, NIC hosting</a:t>
            </a:r>
          </a:p>
        </p:txBody>
      </p:sp>
      <p:sp>
        <p:nvSpPr>
          <p:cNvPr id="17446" name="Rectangle 17445"/>
          <p:cNvSpPr/>
          <p:nvPr/>
        </p:nvSpPr>
        <p:spPr>
          <a:xfrm>
            <a:off x="274320" y="5097779"/>
            <a:ext cx="5486400" cy="333756"/>
          </a:xfrm>
          <a:prstGeom prst="rect">
            <a:avLst/>
          </a:prstGeom>
          <a:solidFill>
            <a:srgbClr val="FCF6F6"/>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6. Changing laws &amp; State rules: </a:t>
            </a:r>
            <a:r>
              <a:rPr sz="1000" b="0" i="0">
                <a:solidFill>
                  <a:srgbClr val="212121"/>
                </a:solidFill>
                <a:latin typeface="Calibri"/>
              </a:rPr>
              <a:t>amendments, urgency clause</a:t>
            </a:r>
          </a:p>
        </p:txBody>
      </p:sp>
      <p:sp>
        <p:nvSpPr>
          <p:cNvPr id="17447" name="Right Arrow 17446"/>
          <p:cNvSpPr/>
          <p:nvPr/>
        </p:nvSpPr>
        <p:spPr>
          <a:xfrm>
            <a:off x="5788152" y="5170931"/>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8" name="Rectangle 17447"/>
          <p:cNvSpPr/>
          <p:nvPr/>
        </p:nvSpPr>
        <p:spPr>
          <a:xfrm>
            <a:off x="5989320" y="5097779"/>
            <a:ext cx="5925312" cy="333756"/>
          </a:xfrm>
          <a:prstGeom prst="rect">
            <a:avLst/>
          </a:prstGeom>
          <a:solidFill>
            <a:srgbClr val="F6F9F6"/>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Configurable rule engine; versioned rates and rules</a:t>
            </a:r>
          </a:p>
        </p:txBody>
      </p:sp>
      <p:sp>
        <p:nvSpPr>
          <p:cNvPr id="17449" name="Rectangle 17448"/>
          <p:cNvSpPr/>
          <p:nvPr/>
        </p:nvSpPr>
        <p:spPr>
          <a:xfrm>
            <a:off x="274320" y="5477256"/>
            <a:ext cx="5486400" cy="333756"/>
          </a:xfrm>
          <a:prstGeom prst="rect">
            <a:avLst/>
          </a:prstGeom>
          <a:solidFill>
            <a:srgbClr val="FAEDED"/>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7. Trust in AI outputs: </a:t>
            </a:r>
            <a:r>
              <a:rPr sz="1000" b="0" i="0">
                <a:solidFill>
                  <a:srgbClr val="212121"/>
                </a:solidFill>
                <a:latin typeface="Calibri"/>
              </a:rPr>
              <a:t>fear of black-box decisions</a:t>
            </a:r>
          </a:p>
        </p:txBody>
      </p:sp>
      <p:sp>
        <p:nvSpPr>
          <p:cNvPr id="17450" name="Right Arrow 17449"/>
          <p:cNvSpPr/>
          <p:nvPr/>
        </p:nvSpPr>
        <p:spPr>
          <a:xfrm>
            <a:off x="5788152" y="5550408"/>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1" name="Rectangle 17450"/>
          <p:cNvSpPr/>
          <p:nvPr/>
        </p:nvSpPr>
        <p:spPr>
          <a:xfrm>
            <a:off x="5989320" y="5477256"/>
            <a:ext cx="5925312" cy="333756"/>
          </a:xfrm>
          <a:prstGeom prst="rect">
            <a:avLst/>
          </a:prstGeom>
          <a:solidFill>
            <a:srgbClr val="EEF4EE"/>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Explainable models only; AI advises, officers decide; human approval mandatory</a:t>
            </a:r>
          </a:p>
        </p:txBody>
      </p:sp>
      <p:sp>
        <p:nvSpPr>
          <p:cNvPr id="17452" name="Rectangle 17451"/>
          <p:cNvSpPr/>
          <p:nvPr/>
        </p:nvSpPr>
        <p:spPr>
          <a:xfrm>
            <a:off x="274320" y="5856731"/>
            <a:ext cx="5486400" cy="333756"/>
          </a:xfrm>
          <a:prstGeom prst="rect">
            <a:avLst/>
          </a:prstGeom>
          <a:solidFill>
            <a:srgbClr val="FCF6F6"/>
          </a:solidFill>
          <a:ln w="6350">
            <a:solidFill>
              <a:srgbClr val="EDBE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1000" b="1" i="0">
                <a:solidFill>
                  <a:srgbClr val="C62828"/>
                </a:solidFill>
                <a:latin typeface="Calibri"/>
              </a:rPr>
              <a:t>8. Digital divide &amp; coordination: </a:t>
            </a:r>
            <a:r>
              <a:rPr sz="1000" b="0" i="0">
                <a:solidFill>
                  <a:srgbClr val="212121"/>
                </a:solidFill>
                <a:latin typeface="Calibri"/>
              </a:rPr>
              <a:t>low literacy; many agencies</a:t>
            </a:r>
          </a:p>
        </p:txBody>
      </p:sp>
      <p:sp>
        <p:nvSpPr>
          <p:cNvPr id="17453" name="Right Arrow 17452"/>
          <p:cNvSpPr/>
          <p:nvPr/>
        </p:nvSpPr>
        <p:spPr>
          <a:xfrm>
            <a:off x="5788152" y="5929883"/>
            <a:ext cx="173736" cy="187452"/>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4" name="Rectangle 17453"/>
          <p:cNvSpPr/>
          <p:nvPr/>
        </p:nvSpPr>
        <p:spPr>
          <a:xfrm>
            <a:off x="5989320" y="5856731"/>
            <a:ext cx="5925312" cy="333756"/>
          </a:xfrm>
          <a:prstGeom prst="rect">
            <a:avLst/>
          </a:prstGeom>
          <a:solidFill>
            <a:srgbClr val="F6F9F6"/>
          </a:solidFill>
          <a:ln w="6350">
            <a:solidFill>
              <a:srgbClr val="C0D8C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lnSpc>
                <a:spcPct val="100000"/>
              </a:lnSpc>
              <a:spcBef>
                <a:spcPts val="0"/>
              </a:spcBef>
              <a:spcAft>
                <a:spcPts val="200"/>
              </a:spcAft>
            </a:pPr>
            <a:r>
              <a:rPr sz="930" b="0" i="0">
                <a:solidFill>
                  <a:srgbClr val="212121"/>
                </a:solidFill>
                <a:latin typeface="Calibri"/>
              </a:rPr>
              <a:t>22 languages, voice &amp; WhatsApp, CSC assisted access; one shared live record for all agencies</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0"/>
            <a:ext cx="7863840" cy="105156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274320" y="1143000"/>
            <a:ext cx="4069080" cy="5120640"/>
          </a:xfrm>
          <a:prstGeom prst="rect">
            <a:avLst/>
          </a:prstGeom>
          <a:solidFill>
            <a:srgbClr val="EFF1F4"/>
          </a:solidFill>
          <a:ln w="9525">
            <a:solidFill>
              <a:srgbClr val="9AA5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ectangle 17410"/>
          <p:cNvSpPr/>
          <p:nvPr/>
        </p:nvSpPr>
        <p:spPr>
          <a:xfrm>
            <a:off x="274320" y="1143000"/>
            <a:ext cx="406908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50" b="1" i="0">
                <a:solidFill>
                  <a:srgbClr val="FFFFFF"/>
                </a:solidFill>
                <a:latin typeface="Calibri"/>
              </a:rPr>
              <a:t>IMPACT ON TARGET AUDIENCE</a:t>
            </a:r>
          </a:p>
        </p:txBody>
      </p:sp>
      <p:sp>
        <p:nvSpPr>
          <p:cNvPr id="17412" name="TextBox 17411"/>
          <p:cNvSpPr txBox="1"/>
          <p:nvPr/>
        </p:nvSpPr>
        <p:spPr>
          <a:xfrm>
            <a:off x="347472" y="1508760"/>
            <a:ext cx="3922776" cy="676656"/>
          </a:xfrm>
          <a:prstGeom prst="rect">
            <a:avLst/>
          </a:prstGeom>
          <a:noFill/>
        </p:spPr>
        <p:txBody>
          <a:bodyPr wrap="square" anchor="t" lIns="18288" rIns="18288" tIns="18288" bIns="18288"/>
          <a:lstStyle/>
          <a:p>
            <a:pPr algn="l">
              <a:lnSpc>
                <a:spcPct val="100000"/>
              </a:lnSpc>
              <a:spcBef>
                <a:spcPts val="0"/>
              </a:spcBef>
              <a:spcAft>
                <a:spcPts val="100"/>
              </a:spcAft>
            </a:pPr>
            <a:r>
              <a:rPr sz="1100" b="1" i="0">
                <a:solidFill>
                  <a:srgbClr val="1F3864"/>
                </a:solidFill>
                <a:latin typeface="Calibri"/>
              </a:rPr>
              <a:t>Affected families &amp; landowners</a:t>
            </a:r>
          </a:p>
          <a:p>
            <a:pPr algn="l">
              <a:lnSpc>
                <a:spcPct val="100000"/>
              </a:lnSpc>
              <a:spcBef>
                <a:spcPts val="0"/>
              </a:spcBef>
              <a:spcAft>
                <a:spcPts val="200"/>
              </a:spcAft>
            </a:pPr>
            <a:r>
              <a:rPr sz="1000" b="0" i="0">
                <a:solidFill>
                  <a:srgbClr val="212121"/>
                </a:solidFill>
                <a:latin typeface="Calibri"/>
              </a:rPr>
              <a:t>See status, compensation breakdown &amp; entitlements; paid straight to bank; grievances tracked in own language; non-titleholders counted</a:t>
            </a:r>
          </a:p>
        </p:txBody>
      </p:sp>
      <p:sp>
        <p:nvSpPr>
          <p:cNvPr id="17413" name="TextBox 17412"/>
          <p:cNvSpPr txBox="1"/>
          <p:nvPr/>
        </p:nvSpPr>
        <p:spPr>
          <a:xfrm>
            <a:off x="347472" y="2189988"/>
            <a:ext cx="3922776" cy="676656"/>
          </a:xfrm>
          <a:prstGeom prst="rect">
            <a:avLst/>
          </a:prstGeom>
          <a:noFill/>
        </p:spPr>
        <p:txBody>
          <a:bodyPr wrap="square" anchor="t" lIns="18288" rIns="18288" tIns="18288" bIns="18288"/>
          <a:lstStyle/>
          <a:p>
            <a:pPr algn="l">
              <a:lnSpc>
                <a:spcPct val="100000"/>
              </a:lnSpc>
              <a:spcBef>
                <a:spcPts val="0"/>
              </a:spcBef>
              <a:spcAft>
                <a:spcPts val="100"/>
              </a:spcAft>
            </a:pPr>
            <a:r>
              <a:rPr sz="1100" b="1" i="0">
                <a:solidFill>
                  <a:srgbClr val="1F3864"/>
                </a:solidFill>
                <a:latin typeface="Calibri"/>
              </a:rPr>
              <a:t>Field officers</a:t>
            </a:r>
          </a:p>
          <a:p>
            <a:pPr algn="l">
              <a:lnSpc>
                <a:spcPct val="100000"/>
              </a:lnSpc>
              <a:spcBef>
                <a:spcPts val="0"/>
              </a:spcBef>
              <a:spcAft>
                <a:spcPts val="200"/>
              </a:spcAft>
            </a:pPr>
            <a:r>
              <a:rPr sz="1000" b="0" i="0">
                <a:solidFill>
                  <a:srgbClr val="212121"/>
                </a:solidFill>
                <a:latin typeface="Calibri"/>
              </a:rPr>
              <a:t>Verify &amp; geo-tag parcels on phone, even offline; no repeat paperwork</a:t>
            </a:r>
          </a:p>
        </p:txBody>
      </p:sp>
      <p:sp>
        <p:nvSpPr>
          <p:cNvPr id="17414" name="TextBox 17413"/>
          <p:cNvSpPr txBox="1"/>
          <p:nvPr/>
        </p:nvSpPr>
        <p:spPr>
          <a:xfrm>
            <a:off x="347472" y="2871216"/>
            <a:ext cx="3922776" cy="676656"/>
          </a:xfrm>
          <a:prstGeom prst="rect">
            <a:avLst/>
          </a:prstGeom>
          <a:noFill/>
        </p:spPr>
        <p:txBody>
          <a:bodyPr wrap="square" anchor="t" lIns="18288" rIns="18288" tIns="18288" bIns="18288"/>
          <a:lstStyle/>
          <a:p>
            <a:pPr algn="l">
              <a:lnSpc>
                <a:spcPct val="100000"/>
              </a:lnSpc>
              <a:spcBef>
                <a:spcPts val="0"/>
              </a:spcBef>
              <a:spcAft>
                <a:spcPts val="100"/>
              </a:spcAft>
            </a:pPr>
            <a:r>
              <a:rPr sz="1100" b="1" i="0">
                <a:solidFill>
                  <a:srgbClr val="1F3864"/>
                </a:solidFill>
                <a:latin typeface="Calibri"/>
              </a:rPr>
              <a:t>District Collectors / Acquiring Authorities</a:t>
            </a:r>
          </a:p>
          <a:p>
            <a:pPr algn="l">
              <a:lnSpc>
                <a:spcPct val="100000"/>
              </a:lnSpc>
              <a:spcBef>
                <a:spcPts val="0"/>
              </a:spcBef>
              <a:spcAft>
                <a:spcPts val="200"/>
              </a:spcAft>
            </a:pPr>
            <a:r>
              <a:rPr sz="1000" b="0" i="0">
                <a:solidFill>
                  <a:srgbClr val="212121"/>
                </a:solidFill>
                <a:latin typeface="Calibri"/>
              </a:rPr>
              <a:t>One live workspace for parcels, families, payments, deadlines; bulk data intake</a:t>
            </a:r>
          </a:p>
        </p:txBody>
      </p:sp>
      <p:sp>
        <p:nvSpPr>
          <p:cNvPr id="17415" name="TextBox 17414"/>
          <p:cNvSpPr txBox="1"/>
          <p:nvPr/>
        </p:nvSpPr>
        <p:spPr>
          <a:xfrm>
            <a:off x="347472" y="3552444"/>
            <a:ext cx="3922776" cy="676656"/>
          </a:xfrm>
          <a:prstGeom prst="rect">
            <a:avLst/>
          </a:prstGeom>
          <a:noFill/>
        </p:spPr>
        <p:txBody>
          <a:bodyPr wrap="square" anchor="t" lIns="18288" rIns="18288" tIns="18288" bIns="18288"/>
          <a:lstStyle/>
          <a:p>
            <a:pPr algn="l">
              <a:lnSpc>
                <a:spcPct val="100000"/>
              </a:lnSpc>
              <a:spcBef>
                <a:spcPts val="0"/>
              </a:spcBef>
              <a:spcAft>
                <a:spcPts val="100"/>
              </a:spcAft>
            </a:pPr>
            <a:r>
              <a:rPr sz="1100" b="1" i="0">
                <a:solidFill>
                  <a:srgbClr val="1F3864"/>
                </a:solidFill>
                <a:latin typeface="Calibri"/>
              </a:rPr>
              <a:t>State Governments</a:t>
            </a:r>
          </a:p>
          <a:p>
            <a:pPr algn="l">
              <a:lnSpc>
                <a:spcPct val="100000"/>
              </a:lnSpc>
              <a:spcBef>
                <a:spcPts val="0"/>
              </a:spcBef>
              <a:spcAft>
                <a:spcPts val="200"/>
              </a:spcAft>
            </a:pPr>
            <a:r>
              <a:rPr sz="1000" b="0" i="0">
                <a:solidFill>
                  <a:srgbClr val="212121"/>
                </a:solidFill>
                <a:latin typeface="Calibri"/>
              </a:rPr>
              <a:t>Real-time district progress, bottlenecks and deadline breaches</a:t>
            </a:r>
          </a:p>
        </p:txBody>
      </p:sp>
      <p:sp>
        <p:nvSpPr>
          <p:cNvPr id="17416" name="TextBox 17415"/>
          <p:cNvSpPr txBox="1"/>
          <p:nvPr/>
        </p:nvSpPr>
        <p:spPr>
          <a:xfrm>
            <a:off x="347472" y="4233672"/>
            <a:ext cx="3922776" cy="676656"/>
          </a:xfrm>
          <a:prstGeom prst="rect">
            <a:avLst/>
          </a:prstGeom>
          <a:noFill/>
        </p:spPr>
        <p:txBody>
          <a:bodyPr wrap="square" anchor="t" lIns="18288" rIns="18288" tIns="18288" bIns="18288"/>
          <a:lstStyle/>
          <a:p>
            <a:pPr algn="l">
              <a:lnSpc>
                <a:spcPct val="100000"/>
              </a:lnSpc>
              <a:spcBef>
                <a:spcPts val="0"/>
              </a:spcBef>
              <a:spcAft>
                <a:spcPts val="100"/>
              </a:spcAft>
            </a:pPr>
            <a:r>
              <a:rPr sz="1100" b="1" i="0">
                <a:solidFill>
                  <a:srgbClr val="1F3864"/>
                </a:solidFill>
                <a:latin typeface="Calibri"/>
              </a:rPr>
              <a:t>Central Ministries &amp; policymakers</a:t>
            </a:r>
          </a:p>
          <a:p>
            <a:pPr algn="l">
              <a:lnSpc>
                <a:spcPct val="100000"/>
              </a:lnSpc>
              <a:spcBef>
                <a:spcPts val="0"/>
              </a:spcBef>
              <a:spcAft>
                <a:spcPts val="200"/>
              </a:spcAft>
            </a:pPr>
            <a:r>
              <a:rPr sz="1000" b="0" i="0">
                <a:solidFill>
                  <a:srgbClr val="212121"/>
                </a:solidFill>
                <a:latin typeface="Calibri"/>
              </a:rPr>
              <a:t>National dashboard; simulate policy changes before deciding</a:t>
            </a:r>
          </a:p>
        </p:txBody>
      </p:sp>
      <p:sp>
        <p:nvSpPr>
          <p:cNvPr id="17417" name="TextBox 17416"/>
          <p:cNvSpPr txBox="1"/>
          <p:nvPr/>
        </p:nvSpPr>
        <p:spPr>
          <a:xfrm>
            <a:off x="347472" y="4914900"/>
            <a:ext cx="3922776" cy="676656"/>
          </a:xfrm>
          <a:prstGeom prst="rect">
            <a:avLst/>
          </a:prstGeom>
          <a:noFill/>
        </p:spPr>
        <p:txBody>
          <a:bodyPr wrap="square" anchor="t" lIns="18288" rIns="18288" tIns="18288" bIns="18288"/>
          <a:lstStyle/>
          <a:p>
            <a:pPr algn="l">
              <a:lnSpc>
                <a:spcPct val="100000"/>
              </a:lnSpc>
              <a:spcBef>
                <a:spcPts val="0"/>
              </a:spcBef>
              <a:spcAft>
                <a:spcPts val="100"/>
              </a:spcAft>
            </a:pPr>
            <a:r>
              <a:rPr sz="1100" b="1" i="0">
                <a:solidFill>
                  <a:srgbClr val="1F3864"/>
                </a:solidFill>
                <a:latin typeface="Calibri"/>
              </a:rPr>
              <a:t>Land Requiring Bodies &amp; agencies (NHAI, Railways)</a:t>
            </a:r>
          </a:p>
          <a:p>
            <a:pPr algn="l">
              <a:lnSpc>
                <a:spcPct val="100000"/>
              </a:lnSpc>
              <a:spcBef>
                <a:spcPts val="0"/>
              </a:spcBef>
              <a:spcAft>
                <a:spcPts val="200"/>
              </a:spcAft>
            </a:pPr>
            <a:r>
              <a:rPr sz="1000" b="0" i="0">
                <a:solidFill>
                  <a:srgbClr val="212121"/>
                </a:solidFill>
                <a:latin typeface="Calibri"/>
              </a:rPr>
              <a:t>Predictable land availability; fewer stalled projects</a:t>
            </a:r>
          </a:p>
        </p:txBody>
      </p:sp>
      <p:sp>
        <p:nvSpPr>
          <p:cNvPr id="17418" name="TextBox 17417"/>
          <p:cNvSpPr txBox="1"/>
          <p:nvPr/>
        </p:nvSpPr>
        <p:spPr>
          <a:xfrm>
            <a:off x="347472" y="5596128"/>
            <a:ext cx="3922776" cy="676656"/>
          </a:xfrm>
          <a:prstGeom prst="rect">
            <a:avLst/>
          </a:prstGeom>
          <a:noFill/>
        </p:spPr>
        <p:txBody>
          <a:bodyPr wrap="square" anchor="t" lIns="18288" rIns="18288" tIns="18288" bIns="18288"/>
          <a:lstStyle/>
          <a:p>
            <a:pPr algn="l">
              <a:lnSpc>
                <a:spcPct val="100000"/>
              </a:lnSpc>
              <a:spcBef>
                <a:spcPts val="0"/>
              </a:spcBef>
              <a:spcAft>
                <a:spcPts val="100"/>
              </a:spcAft>
            </a:pPr>
            <a:r>
              <a:rPr sz="1100" b="1" i="0">
                <a:solidFill>
                  <a:srgbClr val="1F3864"/>
                </a:solidFill>
                <a:latin typeface="Calibri"/>
              </a:rPr>
              <a:t>R&amp;R Authorities, courts &amp; CAG</a:t>
            </a:r>
          </a:p>
          <a:p>
            <a:pPr algn="l">
              <a:lnSpc>
                <a:spcPct val="100000"/>
              </a:lnSpc>
              <a:spcBef>
                <a:spcPts val="0"/>
              </a:spcBef>
              <a:spcAft>
                <a:spcPts val="200"/>
              </a:spcAft>
            </a:pPr>
            <a:r>
              <a:rPr sz="1000" b="0" i="0">
                <a:solidFill>
                  <a:srgbClr val="212121"/>
                </a:solidFill>
                <a:latin typeface="Calibri"/>
              </a:rPr>
              <a:t>Entitlement delivery tracked; tamper-evident record of every decision</a:t>
            </a:r>
          </a:p>
        </p:txBody>
      </p:sp>
      <p:sp>
        <p:nvSpPr>
          <p:cNvPr id="17419" name="TextBox 17418"/>
          <p:cNvSpPr txBox="1"/>
          <p:nvPr/>
        </p:nvSpPr>
        <p:spPr>
          <a:xfrm>
            <a:off x="4453128" y="1143000"/>
            <a:ext cx="4297680" cy="274320"/>
          </a:xfrm>
          <a:prstGeom prst="rect">
            <a:avLst/>
          </a:prstGeom>
          <a:noFill/>
        </p:spPr>
        <p:txBody>
          <a:bodyPr wrap="square" anchor="t" lIns="0" rIns="0" tIns="0" bIns="0"/>
          <a:lstStyle/>
          <a:p>
            <a:pPr algn="ctr">
              <a:lnSpc>
                <a:spcPct val="100000"/>
              </a:lnSpc>
              <a:spcBef>
                <a:spcPts val="0"/>
              </a:spcBef>
              <a:spcAft>
                <a:spcPts val="200"/>
              </a:spcAft>
            </a:pPr>
            <a:r>
              <a:rPr sz="1200" b="1" i="0">
                <a:solidFill>
                  <a:srgbClr val="1F3864"/>
                </a:solidFill>
                <a:latin typeface="Calibri"/>
              </a:rPr>
              <a:t>BENEFITS OF THE SOLUTION</a:t>
            </a:r>
          </a:p>
        </p:txBody>
      </p:sp>
      <p:sp>
        <p:nvSpPr>
          <p:cNvPr id="17420" name="Rectangle 17419"/>
          <p:cNvSpPr/>
          <p:nvPr/>
        </p:nvSpPr>
        <p:spPr>
          <a:xfrm>
            <a:off x="4453128" y="1444752"/>
            <a:ext cx="4297680" cy="1078992"/>
          </a:xfrm>
          <a:prstGeom prst="rect">
            <a:avLst/>
          </a:prstGeom>
          <a:solidFill>
            <a:srgbClr val="FAEDED"/>
          </a:solidFill>
          <a:ln w="9525">
            <a:solidFill>
              <a:srgbClr val="E5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ectangle 17420"/>
          <p:cNvSpPr/>
          <p:nvPr/>
        </p:nvSpPr>
        <p:spPr>
          <a:xfrm>
            <a:off x="4453128" y="1444752"/>
            <a:ext cx="292608" cy="107899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lnSpc>
                <a:spcPct val="100000"/>
              </a:lnSpc>
              <a:spcBef>
                <a:spcPts val="0"/>
              </a:spcBef>
              <a:spcAft>
                <a:spcPts val="200"/>
              </a:spcAft>
            </a:pPr>
            <a:r>
              <a:rPr sz="850" b="1" i="0">
                <a:solidFill>
                  <a:srgbClr val="FFFFFF"/>
                </a:solidFill>
                <a:latin typeface="Calibri"/>
              </a:rPr>
              <a:t>SOCIAL</a:t>
            </a:r>
          </a:p>
        </p:txBody>
      </p:sp>
      <p:sp>
        <p:nvSpPr>
          <p:cNvPr id="17422" name="TextBox 17421"/>
          <p:cNvSpPr txBox="1"/>
          <p:nvPr/>
        </p:nvSpPr>
        <p:spPr>
          <a:xfrm>
            <a:off x="4800600" y="1490472"/>
            <a:ext cx="3895344" cy="1005839"/>
          </a:xfrm>
          <a:prstGeom prst="rect">
            <a:avLst/>
          </a:prstGeom>
          <a:noFill/>
        </p:spPr>
        <p:txBody>
          <a:bodyPr wrap="square" anchor="ctr" lIns="36576" rIns="36576" tIns="36576" bIns="36576"/>
          <a:lstStyle/>
          <a:p>
            <a:pPr algn="l" marL="128016" indent="-128016">
              <a:lnSpc>
                <a:spcPct val="100000"/>
              </a:lnSpc>
              <a:spcBef>
                <a:spcPts val="0"/>
              </a:spcBef>
              <a:spcAft>
                <a:spcPts val="250"/>
              </a:spcAft>
              <a:buClr>
                <a:srgbClr val="C62828"/>
              </a:buClr>
              <a:buFont typeface="Arial"/>
              <a:buChar char="●"/>
            </a:pPr>
            <a:r>
              <a:rPr sz="1000" b="0" i="0">
                <a:solidFill>
                  <a:srgbClr val="212121"/>
                </a:solidFill>
                <a:latin typeface="Calibri"/>
              </a:rPr>
              <a:t>Fair, explainable compensation → fewer disputes</a:t>
            </a:r>
          </a:p>
          <a:p>
            <a:pPr algn="l" marL="128016" indent="-128016">
              <a:lnSpc>
                <a:spcPct val="100000"/>
              </a:lnSpc>
              <a:spcBef>
                <a:spcPts val="0"/>
              </a:spcBef>
              <a:spcAft>
                <a:spcPts val="250"/>
              </a:spcAft>
              <a:buClr>
                <a:srgbClr val="C62828"/>
              </a:buClr>
              <a:buFont typeface="Arial"/>
              <a:buChar char="●"/>
            </a:pPr>
            <a:r>
              <a:rPr sz="1000" b="0" i="0">
                <a:solidFill>
                  <a:srgbClr val="212121"/>
                </a:solidFill>
                <a:latin typeface="Calibri"/>
              </a:rPr>
              <a:t>Displaced families tracked till resettled</a:t>
            </a:r>
          </a:p>
          <a:p>
            <a:pPr algn="l" marL="128016" indent="-128016">
              <a:lnSpc>
                <a:spcPct val="100000"/>
              </a:lnSpc>
              <a:spcBef>
                <a:spcPts val="0"/>
              </a:spcBef>
              <a:spcAft>
                <a:spcPts val="250"/>
              </a:spcAft>
              <a:buClr>
                <a:srgbClr val="C62828"/>
              </a:buClr>
              <a:buFont typeface="Arial"/>
              <a:buChar char="●"/>
            </a:pPr>
            <a:r>
              <a:rPr sz="1000" b="0" i="0">
                <a:solidFill>
                  <a:srgbClr val="212121"/>
                </a:solidFill>
                <a:latin typeface="Calibri"/>
              </a:rPr>
              <a:t>Inclusion: 22 languages, voice, WhatsApp</a:t>
            </a:r>
          </a:p>
        </p:txBody>
      </p:sp>
      <p:sp>
        <p:nvSpPr>
          <p:cNvPr id="17423" name="Rectangle 17422"/>
          <p:cNvSpPr/>
          <p:nvPr/>
        </p:nvSpPr>
        <p:spPr>
          <a:xfrm>
            <a:off x="4453128" y="2587752"/>
            <a:ext cx="4297680" cy="1078992"/>
          </a:xfrm>
          <a:prstGeom prst="rect">
            <a:avLst/>
          </a:prstGeom>
          <a:solidFill>
            <a:srgbClr val="FCF3EB"/>
          </a:solidFill>
          <a:ln w="9525">
            <a:solidFill>
              <a:srgbClr val="F2BC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ectangle 17423"/>
          <p:cNvSpPr/>
          <p:nvPr/>
        </p:nvSpPr>
        <p:spPr>
          <a:xfrm>
            <a:off x="4453128" y="2587752"/>
            <a:ext cx="292608" cy="1078992"/>
          </a:xfrm>
          <a:prstGeom prst="rect">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lnSpc>
                <a:spcPct val="100000"/>
              </a:lnSpc>
              <a:spcBef>
                <a:spcPts val="0"/>
              </a:spcBef>
              <a:spcAft>
                <a:spcPts val="200"/>
              </a:spcAft>
            </a:pPr>
            <a:r>
              <a:rPr sz="850" b="1" i="0">
                <a:solidFill>
                  <a:srgbClr val="FFFFFF"/>
                </a:solidFill>
                <a:latin typeface="Calibri"/>
              </a:rPr>
              <a:t>ECONOMIC</a:t>
            </a:r>
          </a:p>
        </p:txBody>
      </p:sp>
      <p:sp>
        <p:nvSpPr>
          <p:cNvPr id="17425" name="TextBox 17424"/>
          <p:cNvSpPr txBox="1"/>
          <p:nvPr/>
        </p:nvSpPr>
        <p:spPr>
          <a:xfrm>
            <a:off x="4800600" y="2633472"/>
            <a:ext cx="3895344" cy="1005839"/>
          </a:xfrm>
          <a:prstGeom prst="rect">
            <a:avLst/>
          </a:prstGeom>
          <a:noFill/>
        </p:spPr>
        <p:txBody>
          <a:bodyPr wrap="square" anchor="ctr" lIns="36576" rIns="36576" tIns="36576" bIns="36576"/>
          <a:lstStyle/>
          <a:p>
            <a:pPr algn="l" marL="128016" indent="-128016">
              <a:lnSpc>
                <a:spcPct val="100000"/>
              </a:lnSpc>
              <a:spcBef>
                <a:spcPts val="0"/>
              </a:spcBef>
              <a:spcAft>
                <a:spcPts val="250"/>
              </a:spcAft>
              <a:buClr>
                <a:srgbClr val="E46C0A"/>
              </a:buClr>
              <a:buFont typeface="Arial"/>
              <a:buChar char="●"/>
            </a:pPr>
            <a:r>
              <a:rPr sz="1000" b="0" i="0">
                <a:solidFill>
                  <a:srgbClr val="212121"/>
                </a:solidFill>
                <a:latin typeface="Calibri"/>
              </a:rPr>
              <a:t>Faster approvals &amp; land handover → less cost overrun</a:t>
            </a:r>
          </a:p>
          <a:p>
            <a:pPr algn="l" marL="128016" indent="-128016">
              <a:lnSpc>
                <a:spcPct val="100000"/>
              </a:lnSpc>
              <a:spcBef>
                <a:spcPts val="0"/>
              </a:spcBef>
              <a:spcAft>
                <a:spcPts val="250"/>
              </a:spcAft>
              <a:buClr>
                <a:srgbClr val="E46C0A"/>
              </a:buClr>
              <a:buFont typeface="Arial"/>
              <a:buChar char="●"/>
            </a:pPr>
            <a:r>
              <a:rPr sz="1000" b="0" i="0">
                <a:solidFill>
                  <a:srgbClr val="212121"/>
                </a:solidFill>
                <a:latin typeface="Calibri"/>
              </a:rPr>
              <a:t>No duplicate data entry, less paper</a:t>
            </a:r>
          </a:p>
          <a:p>
            <a:pPr algn="l" marL="128016" indent="-128016">
              <a:lnSpc>
                <a:spcPct val="100000"/>
              </a:lnSpc>
              <a:spcBef>
                <a:spcPts val="0"/>
              </a:spcBef>
              <a:spcAft>
                <a:spcPts val="250"/>
              </a:spcAft>
              <a:buClr>
                <a:srgbClr val="E46C0A"/>
              </a:buClr>
              <a:buFont typeface="Arial"/>
              <a:buChar char="●"/>
            </a:pPr>
            <a:r>
              <a:rPr sz="1000" b="0" i="0">
                <a:solidFill>
                  <a:srgbClr val="212121"/>
                </a:solidFill>
                <a:latin typeface="Calibri"/>
              </a:rPr>
              <a:t>Direct PFMS/DBT payment, no middlemen</a:t>
            </a:r>
          </a:p>
        </p:txBody>
      </p:sp>
      <p:sp>
        <p:nvSpPr>
          <p:cNvPr id="17426" name="Rectangle 17425"/>
          <p:cNvSpPr/>
          <p:nvPr/>
        </p:nvSpPr>
        <p:spPr>
          <a:xfrm>
            <a:off x="4453128" y="3730752"/>
            <a:ext cx="4297680" cy="1078992"/>
          </a:xfrm>
          <a:prstGeom prst="rect">
            <a:avLst/>
          </a:prstGeom>
          <a:solidFill>
            <a:srgbClr val="EEF4EE"/>
          </a:solidFill>
          <a:ln w="9525">
            <a:solidFill>
              <a:srgbClr val="A0C4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ectangle 17426"/>
          <p:cNvSpPr/>
          <p:nvPr/>
        </p:nvSpPr>
        <p:spPr>
          <a:xfrm>
            <a:off x="4453128" y="3730752"/>
            <a:ext cx="292608" cy="107899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lnSpc>
                <a:spcPct val="100000"/>
              </a:lnSpc>
              <a:spcBef>
                <a:spcPts val="0"/>
              </a:spcBef>
              <a:spcAft>
                <a:spcPts val="200"/>
              </a:spcAft>
            </a:pPr>
            <a:r>
              <a:rPr sz="850" b="1" i="0">
                <a:solidFill>
                  <a:srgbClr val="FFFFFF"/>
                </a:solidFill>
                <a:latin typeface="Calibri"/>
              </a:rPr>
              <a:t>ENVIRONMENTAL</a:t>
            </a:r>
          </a:p>
        </p:txBody>
      </p:sp>
      <p:sp>
        <p:nvSpPr>
          <p:cNvPr id="17428" name="TextBox 17427"/>
          <p:cNvSpPr txBox="1"/>
          <p:nvPr/>
        </p:nvSpPr>
        <p:spPr>
          <a:xfrm>
            <a:off x="4800600" y="3776472"/>
            <a:ext cx="3895344" cy="1005839"/>
          </a:xfrm>
          <a:prstGeom prst="rect">
            <a:avLst/>
          </a:prstGeom>
          <a:noFill/>
        </p:spPr>
        <p:txBody>
          <a:bodyPr wrap="square" anchor="ctr" lIns="36576" rIns="36576" tIns="36576" bIns="36576"/>
          <a:lstStyle/>
          <a:p>
            <a:pPr algn="l" marL="128016" indent="-128016">
              <a:lnSpc>
                <a:spcPct val="100000"/>
              </a:lnSpc>
              <a:spcBef>
                <a:spcPts val="0"/>
              </a:spcBef>
              <a:spcAft>
                <a:spcPts val="250"/>
              </a:spcAft>
              <a:buClr>
                <a:srgbClr val="2E7D32"/>
              </a:buClr>
              <a:buFont typeface="Arial"/>
              <a:buChar char="●"/>
            </a:pPr>
            <a:r>
              <a:rPr sz="1000" b="0" i="0">
                <a:solidFill>
                  <a:srgbClr val="212121"/>
                </a:solidFill>
                <a:latin typeface="Calibri"/>
              </a:rPr>
              <a:t>Impact-zone mapping for less damaging alignments</a:t>
            </a:r>
          </a:p>
          <a:p>
            <a:pPr algn="l" marL="128016" indent="-128016">
              <a:lnSpc>
                <a:spcPct val="100000"/>
              </a:lnSpc>
              <a:spcBef>
                <a:spcPts val="0"/>
              </a:spcBef>
              <a:spcAft>
                <a:spcPts val="250"/>
              </a:spcAft>
              <a:buClr>
                <a:srgbClr val="2E7D32"/>
              </a:buClr>
              <a:buFont typeface="Arial"/>
              <a:buChar char="●"/>
            </a:pPr>
            <a:r>
              <a:rPr sz="1000" b="0" i="0">
                <a:solidFill>
                  <a:srgbClr val="212121"/>
                </a:solidFill>
                <a:latin typeface="Calibri"/>
              </a:rPr>
              <a:t>Land bank reuses acquired-but-idle land</a:t>
            </a:r>
          </a:p>
          <a:p>
            <a:pPr algn="l" marL="128016" indent="-128016">
              <a:lnSpc>
                <a:spcPct val="100000"/>
              </a:lnSpc>
              <a:spcBef>
                <a:spcPts val="0"/>
              </a:spcBef>
              <a:spcAft>
                <a:spcPts val="250"/>
              </a:spcAft>
              <a:buClr>
                <a:srgbClr val="2E7D32"/>
              </a:buClr>
              <a:buFont typeface="Arial"/>
              <a:buChar char="●"/>
            </a:pPr>
            <a:r>
              <a:rPr sz="1000" b="0" i="0">
                <a:solidFill>
                  <a:srgbClr val="212121"/>
                </a:solidFill>
                <a:latin typeface="Calibri"/>
              </a:rPr>
              <a:t>Paperless process; encroachment monitoring</a:t>
            </a:r>
          </a:p>
        </p:txBody>
      </p:sp>
      <p:sp>
        <p:nvSpPr>
          <p:cNvPr id="17429" name="Rectangle 17428"/>
          <p:cNvSpPr/>
          <p:nvPr/>
        </p:nvSpPr>
        <p:spPr>
          <a:xfrm>
            <a:off x="4453128" y="4873752"/>
            <a:ext cx="4297680" cy="1298448"/>
          </a:xfrm>
          <a:prstGeom prst="rect">
            <a:avLst/>
          </a:prstGeom>
          <a:solidFill>
            <a:srgbClr val="EAF3F9"/>
          </a:solidFill>
          <a:ln w="9525">
            <a:solidFill>
              <a:srgbClr val="8CB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Rectangle 17429"/>
          <p:cNvSpPr/>
          <p:nvPr/>
        </p:nvSpPr>
        <p:spPr>
          <a:xfrm>
            <a:off x="4453128" y="4873752"/>
            <a:ext cx="292608" cy="129844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lnSpc>
                <a:spcPct val="100000"/>
              </a:lnSpc>
              <a:spcBef>
                <a:spcPts val="0"/>
              </a:spcBef>
              <a:spcAft>
                <a:spcPts val="200"/>
              </a:spcAft>
            </a:pPr>
            <a:r>
              <a:rPr sz="850" b="1" i="0">
                <a:solidFill>
                  <a:srgbClr val="FFFFFF"/>
                </a:solidFill>
                <a:latin typeface="Calibri"/>
              </a:rPr>
              <a:t>GOVERNANCE</a:t>
            </a:r>
          </a:p>
        </p:txBody>
      </p:sp>
      <p:sp>
        <p:nvSpPr>
          <p:cNvPr id="17431" name="TextBox 17430"/>
          <p:cNvSpPr txBox="1"/>
          <p:nvPr/>
        </p:nvSpPr>
        <p:spPr>
          <a:xfrm>
            <a:off x="4800600" y="4919472"/>
            <a:ext cx="3895344" cy="1225295"/>
          </a:xfrm>
          <a:prstGeom prst="rect">
            <a:avLst/>
          </a:prstGeom>
          <a:noFill/>
        </p:spPr>
        <p:txBody>
          <a:bodyPr wrap="square" anchor="ctr" lIns="36576" rIns="36576" tIns="36576" bIns="36576"/>
          <a:lstStyle/>
          <a:p>
            <a:pPr algn="l" marL="128016" indent="-128016">
              <a:lnSpc>
                <a:spcPct val="100000"/>
              </a:lnSpc>
              <a:spcBef>
                <a:spcPts val="0"/>
              </a:spcBef>
              <a:spcAft>
                <a:spcPts val="250"/>
              </a:spcAft>
              <a:buClr>
                <a:srgbClr val="0070C0"/>
              </a:buClr>
              <a:buFont typeface="Arial"/>
              <a:buChar char="●"/>
            </a:pPr>
            <a:r>
              <a:rPr sz="1000" b="0" i="0">
                <a:solidFill>
                  <a:srgbClr val="212121"/>
                </a:solidFill>
                <a:latin typeface="Calibri"/>
              </a:rPr>
              <a:t>Transparency: public portal &amp; open data</a:t>
            </a:r>
          </a:p>
          <a:p>
            <a:pPr algn="l" marL="128016" indent="-128016">
              <a:lnSpc>
                <a:spcPct val="100000"/>
              </a:lnSpc>
              <a:spcBef>
                <a:spcPts val="0"/>
              </a:spcBef>
              <a:spcAft>
                <a:spcPts val="250"/>
              </a:spcAft>
              <a:buClr>
                <a:srgbClr val="0070C0"/>
              </a:buClr>
              <a:buFont typeface="Arial"/>
              <a:buChar char="●"/>
            </a:pPr>
            <a:r>
              <a:rPr sz="1000" b="0" i="0">
                <a:solidFill>
                  <a:srgbClr val="212121"/>
                </a:solidFill>
                <a:latin typeface="Calibri"/>
              </a:rPr>
              <a:t>Accountability: tamper-evident audit trail</a:t>
            </a:r>
          </a:p>
          <a:p>
            <a:pPr algn="l" marL="128016" indent="-128016">
              <a:lnSpc>
                <a:spcPct val="100000"/>
              </a:lnSpc>
              <a:spcBef>
                <a:spcPts val="0"/>
              </a:spcBef>
              <a:spcAft>
                <a:spcPts val="250"/>
              </a:spcAft>
              <a:buClr>
                <a:srgbClr val="0070C0"/>
              </a:buClr>
              <a:buFont typeface="Arial"/>
              <a:buChar char="●"/>
            </a:pPr>
            <a:r>
              <a:rPr sz="1000" b="0" i="0">
                <a:solidFill>
                  <a:srgbClr val="212121"/>
                </a:solidFill>
                <a:latin typeface="Calibri"/>
              </a:rPr>
              <a:t>Legal compliance &amp; anti-corruption by design</a:t>
            </a:r>
          </a:p>
          <a:p>
            <a:pPr algn="l" marL="128016" indent="-128016">
              <a:lnSpc>
                <a:spcPct val="100000"/>
              </a:lnSpc>
              <a:spcBef>
                <a:spcPts val="0"/>
              </a:spcBef>
              <a:spcAft>
                <a:spcPts val="250"/>
              </a:spcAft>
              <a:buClr>
                <a:srgbClr val="0070C0"/>
              </a:buClr>
              <a:buFont typeface="Arial"/>
              <a:buChar char="●"/>
            </a:pPr>
            <a:r>
              <a:rPr sz="1000" b="0" i="0">
                <a:solidFill>
                  <a:srgbClr val="212121"/>
                </a:solidFill>
                <a:latin typeface="Calibri"/>
              </a:rPr>
              <a:t>Inter-agency coordination on one live record</a:t>
            </a:r>
          </a:p>
        </p:txBody>
      </p:sp>
      <p:sp>
        <p:nvSpPr>
          <p:cNvPr id="17432" name="Rectangle 17431"/>
          <p:cNvSpPr/>
          <p:nvPr/>
        </p:nvSpPr>
        <p:spPr>
          <a:xfrm>
            <a:off x="8860536" y="1143000"/>
            <a:ext cx="3054096" cy="5120640"/>
          </a:xfrm>
          <a:prstGeom prst="rect">
            <a:avLst/>
          </a:prstGeom>
          <a:solidFill>
            <a:srgbClr val="EDF5F4"/>
          </a:solidFill>
          <a:ln w="9525">
            <a:solidFill>
              <a:srgbClr val="8CC2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Rectangle 17432"/>
          <p:cNvSpPr/>
          <p:nvPr/>
        </p:nvSpPr>
        <p:spPr>
          <a:xfrm>
            <a:off x="8860536" y="1143000"/>
            <a:ext cx="3054096" cy="292608"/>
          </a:xfrm>
          <a:prstGeom prst="rect">
            <a:avLst/>
          </a:prstGeom>
          <a:solidFill>
            <a:srgbClr val="0079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100" b="1" i="0">
                <a:solidFill>
                  <a:srgbClr val="FFFFFF"/>
                </a:solidFill>
                <a:latin typeface="Calibri"/>
              </a:rPr>
              <a:t>SUSTAINABLE DEVELOPMENT GOALS</a:t>
            </a:r>
          </a:p>
        </p:txBody>
      </p:sp>
      <p:sp>
        <p:nvSpPr>
          <p:cNvPr id="17434" name="Rectangle 17433"/>
          <p:cNvSpPr/>
          <p:nvPr/>
        </p:nvSpPr>
        <p:spPr>
          <a:xfrm>
            <a:off x="8933688" y="1499616"/>
            <a:ext cx="502920" cy="502920"/>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85000"/>
              </a:lnSpc>
              <a:spcBef>
                <a:spcPts val="0"/>
              </a:spcBef>
              <a:spcAft>
                <a:spcPts val="0"/>
              </a:spcAft>
            </a:pPr>
            <a:r>
              <a:rPr sz="650" b="1" i="0">
                <a:solidFill>
                  <a:srgbClr val="FFFFFF"/>
                </a:solidFill>
                <a:latin typeface="Calibri"/>
              </a:rPr>
              <a:t>SDG</a:t>
            </a:r>
          </a:p>
          <a:p>
            <a:pPr algn="ctr">
              <a:lnSpc>
                <a:spcPct val="85000"/>
              </a:lnSpc>
              <a:spcBef>
                <a:spcPts val="0"/>
              </a:spcBef>
              <a:spcAft>
                <a:spcPts val="200"/>
              </a:spcAft>
            </a:pPr>
            <a:r>
              <a:rPr sz="1500" b="1" i="0">
                <a:solidFill>
                  <a:srgbClr val="FFFFFF"/>
                </a:solidFill>
                <a:latin typeface="Calibri"/>
              </a:rPr>
              <a:t>1</a:t>
            </a:r>
          </a:p>
        </p:txBody>
      </p:sp>
      <p:sp>
        <p:nvSpPr>
          <p:cNvPr id="17435" name="TextBox 17434"/>
          <p:cNvSpPr txBox="1"/>
          <p:nvPr/>
        </p:nvSpPr>
        <p:spPr>
          <a:xfrm>
            <a:off x="9482328" y="1481328"/>
            <a:ext cx="2359152" cy="566928"/>
          </a:xfrm>
          <a:prstGeom prst="rect">
            <a:avLst/>
          </a:prstGeom>
          <a:noFill/>
        </p:spPr>
        <p:txBody>
          <a:bodyPr wrap="square" anchor="ctr" lIns="9144" rIns="9144" tIns="9144" bIns="9144"/>
          <a:lstStyle/>
          <a:p>
            <a:pPr algn="l">
              <a:lnSpc>
                <a:spcPct val="100000"/>
              </a:lnSpc>
              <a:spcBef>
                <a:spcPts val="0"/>
              </a:spcBef>
              <a:spcAft>
                <a:spcPts val="0"/>
              </a:spcAft>
            </a:pPr>
            <a:r>
              <a:rPr sz="900" b="1" i="0">
                <a:solidFill>
                  <a:srgbClr val="E5243B"/>
                </a:solidFill>
                <a:latin typeface="Calibri"/>
              </a:rPr>
              <a:t>No Poverty</a:t>
            </a:r>
          </a:p>
          <a:p>
            <a:pPr algn="l">
              <a:lnSpc>
                <a:spcPct val="100000"/>
              </a:lnSpc>
              <a:spcBef>
                <a:spcPts val="0"/>
              </a:spcBef>
              <a:spcAft>
                <a:spcPts val="200"/>
              </a:spcAft>
            </a:pPr>
            <a:r>
              <a:rPr sz="830" b="0" i="0">
                <a:solidFill>
                  <a:srgbClr val="212121"/>
                </a:solidFill>
                <a:latin typeface="Calibri"/>
              </a:rPr>
              <a:t>R&amp;R entitlements protect displaced families</a:t>
            </a:r>
          </a:p>
        </p:txBody>
      </p:sp>
      <p:sp>
        <p:nvSpPr>
          <p:cNvPr id="17436" name="Rectangle 17435"/>
          <p:cNvSpPr/>
          <p:nvPr/>
        </p:nvSpPr>
        <p:spPr>
          <a:xfrm>
            <a:off x="8933688" y="2075688"/>
            <a:ext cx="502920" cy="502920"/>
          </a:xfrm>
          <a:prstGeom prst="rect">
            <a:avLst/>
          </a:prstGeom>
          <a:solidFill>
            <a:srgbClr val="FD69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85000"/>
              </a:lnSpc>
              <a:spcBef>
                <a:spcPts val="0"/>
              </a:spcBef>
              <a:spcAft>
                <a:spcPts val="0"/>
              </a:spcAft>
            </a:pPr>
            <a:r>
              <a:rPr sz="650" b="1" i="0">
                <a:solidFill>
                  <a:srgbClr val="FFFFFF"/>
                </a:solidFill>
                <a:latin typeface="Calibri"/>
              </a:rPr>
              <a:t>SDG</a:t>
            </a:r>
          </a:p>
          <a:p>
            <a:pPr algn="ctr">
              <a:lnSpc>
                <a:spcPct val="85000"/>
              </a:lnSpc>
              <a:spcBef>
                <a:spcPts val="0"/>
              </a:spcBef>
              <a:spcAft>
                <a:spcPts val="200"/>
              </a:spcAft>
            </a:pPr>
            <a:r>
              <a:rPr sz="1500" b="1" i="0">
                <a:solidFill>
                  <a:srgbClr val="FFFFFF"/>
                </a:solidFill>
                <a:latin typeface="Calibri"/>
              </a:rPr>
              <a:t>9</a:t>
            </a:r>
          </a:p>
        </p:txBody>
      </p:sp>
      <p:sp>
        <p:nvSpPr>
          <p:cNvPr id="17437" name="TextBox 17436"/>
          <p:cNvSpPr txBox="1"/>
          <p:nvPr/>
        </p:nvSpPr>
        <p:spPr>
          <a:xfrm>
            <a:off x="9482328" y="2057400"/>
            <a:ext cx="2359152" cy="566928"/>
          </a:xfrm>
          <a:prstGeom prst="rect">
            <a:avLst/>
          </a:prstGeom>
          <a:noFill/>
        </p:spPr>
        <p:txBody>
          <a:bodyPr wrap="square" anchor="ctr" lIns="9144" rIns="9144" tIns="9144" bIns="9144"/>
          <a:lstStyle/>
          <a:p>
            <a:pPr algn="l">
              <a:lnSpc>
                <a:spcPct val="100000"/>
              </a:lnSpc>
              <a:spcBef>
                <a:spcPts val="0"/>
              </a:spcBef>
              <a:spcAft>
                <a:spcPts val="0"/>
              </a:spcAft>
            </a:pPr>
            <a:r>
              <a:rPr sz="900" b="1" i="0">
                <a:solidFill>
                  <a:srgbClr val="FD6925"/>
                </a:solidFill>
                <a:latin typeface="Calibri"/>
              </a:rPr>
              <a:t>Industry, Innovation &amp; Infrastructure</a:t>
            </a:r>
          </a:p>
          <a:p>
            <a:pPr algn="l">
              <a:lnSpc>
                <a:spcPct val="100000"/>
              </a:lnSpc>
              <a:spcBef>
                <a:spcPts val="0"/>
              </a:spcBef>
              <a:spcAft>
                <a:spcPts val="200"/>
              </a:spcAft>
            </a:pPr>
            <a:r>
              <a:rPr sz="830" b="0" i="0">
                <a:solidFill>
                  <a:srgbClr val="212121"/>
                </a:solidFill>
                <a:latin typeface="Calibri"/>
              </a:rPr>
              <a:t>Faster land for infrastructure</a:t>
            </a:r>
          </a:p>
        </p:txBody>
      </p:sp>
      <p:sp>
        <p:nvSpPr>
          <p:cNvPr id="17438" name="Rectangle 17437"/>
          <p:cNvSpPr/>
          <p:nvPr/>
        </p:nvSpPr>
        <p:spPr>
          <a:xfrm>
            <a:off x="8933688" y="2651760"/>
            <a:ext cx="502920" cy="502920"/>
          </a:xfrm>
          <a:prstGeom prst="rect">
            <a:avLst/>
          </a:prstGeom>
          <a:solidFill>
            <a:srgbClr val="DD13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85000"/>
              </a:lnSpc>
              <a:spcBef>
                <a:spcPts val="0"/>
              </a:spcBef>
              <a:spcAft>
                <a:spcPts val="0"/>
              </a:spcAft>
            </a:pPr>
            <a:r>
              <a:rPr sz="650" b="1" i="0">
                <a:solidFill>
                  <a:srgbClr val="FFFFFF"/>
                </a:solidFill>
                <a:latin typeface="Calibri"/>
              </a:rPr>
              <a:t>SDG</a:t>
            </a:r>
          </a:p>
          <a:p>
            <a:pPr algn="ctr">
              <a:lnSpc>
                <a:spcPct val="85000"/>
              </a:lnSpc>
              <a:spcBef>
                <a:spcPts val="0"/>
              </a:spcBef>
              <a:spcAft>
                <a:spcPts val="200"/>
              </a:spcAft>
            </a:pPr>
            <a:r>
              <a:rPr sz="1500" b="1" i="0">
                <a:solidFill>
                  <a:srgbClr val="FFFFFF"/>
                </a:solidFill>
                <a:latin typeface="Calibri"/>
              </a:rPr>
              <a:t>10</a:t>
            </a:r>
          </a:p>
        </p:txBody>
      </p:sp>
      <p:sp>
        <p:nvSpPr>
          <p:cNvPr id="17439" name="TextBox 17438"/>
          <p:cNvSpPr txBox="1"/>
          <p:nvPr/>
        </p:nvSpPr>
        <p:spPr>
          <a:xfrm>
            <a:off x="9482328" y="2633472"/>
            <a:ext cx="2359152" cy="566928"/>
          </a:xfrm>
          <a:prstGeom prst="rect">
            <a:avLst/>
          </a:prstGeom>
          <a:noFill/>
        </p:spPr>
        <p:txBody>
          <a:bodyPr wrap="square" anchor="ctr" lIns="9144" rIns="9144" tIns="9144" bIns="9144"/>
          <a:lstStyle/>
          <a:p>
            <a:pPr algn="l">
              <a:lnSpc>
                <a:spcPct val="100000"/>
              </a:lnSpc>
              <a:spcBef>
                <a:spcPts val="0"/>
              </a:spcBef>
              <a:spcAft>
                <a:spcPts val="0"/>
              </a:spcAft>
            </a:pPr>
            <a:r>
              <a:rPr sz="900" b="1" i="0">
                <a:solidFill>
                  <a:srgbClr val="DD1367"/>
                </a:solidFill>
                <a:latin typeface="Calibri"/>
              </a:rPr>
              <a:t>Reduced Inequalities</a:t>
            </a:r>
          </a:p>
          <a:p>
            <a:pPr algn="l">
              <a:lnSpc>
                <a:spcPct val="100000"/>
              </a:lnSpc>
              <a:spcBef>
                <a:spcPts val="0"/>
              </a:spcBef>
              <a:spcAft>
                <a:spcPts val="200"/>
              </a:spcAft>
            </a:pPr>
            <a:r>
              <a:rPr sz="830" b="0" i="0">
                <a:solidFill>
                  <a:srgbClr val="212121"/>
                </a:solidFill>
                <a:latin typeface="Calibri"/>
              </a:rPr>
              <a:t>Tenants &amp; vulnerable households counted</a:t>
            </a:r>
          </a:p>
        </p:txBody>
      </p:sp>
      <p:sp>
        <p:nvSpPr>
          <p:cNvPr id="17440" name="Rectangle 17439"/>
          <p:cNvSpPr/>
          <p:nvPr/>
        </p:nvSpPr>
        <p:spPr>
          <a:xfrm>
            <a:off x="8933688" y="3227832"/>
            <a:ext cx="502920" cy="502920"/>
          </a:xfrm>
          <a:prstGeom prst="rect">
            <a:avLst/>
          </a:prstGeom>
          <a:solidFill>
            <a:srgbClr val="FD9D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85000"/>
              </a:lnSpc>
              <a:spcBef>
                <a:spcPts val="0"/>
              </a:spcBef>
              <a:spcAft>
                <a:spcPts val="0"/>
              </a:spcAft>
            </a:pPr>
            <a:r>
              <a:rPr sz="650" b="1" i="0">
                <a:solidFill>
                  <a:srgbClr val="FFFFFF"/>
                </a:solidFill>
                <a:latin typeface="Calibri"/>
              </a:rPr>
              <a:t>SDG</a:t>
            </a:r>
          </a:p>
          <a:p>
            <a:pPr algn="ctr">
              <a:lnSpc>
                <a:spcPct val="85000"/>
              </a:lnSpc>
              <a:spcBef>
                <a:spcPts val="0"/>
              </a:spcBef>
              <a:spcAft>
                <a:spcPts val="200"/>
              </a:spcAft>
            </a:pPr>
            <a:r>
              <a:rPr sz="1500" b="1" i="0">
                <a:solidFill>
                  <a:srgbClr val="FFFFFF"/>
                </a:solidFill>
                <a:latin typeface="Calibri"/>
              </a:rPr>
              <a:t>11</a:t>
            </a:r>
          </a:p>
        </p:txBody>
      </p:sp>
      <p:sp>
        <p:nvSpPr>
          <p:cNvPr id="17441" name="TextBox 17440"/>
          <p:cNvSpPr txBox="1"/>
          <p:nvPr/>
        </p:nvSpPr>
        <p:spPr>
          <a:xfrm>
            <a:off x="9482328" y="3209544"/>
            <a:ext cx="2359152" cy="566928"/>
          </a:xfrm>
          <a:prstGeom prst="rect">
            <a:avLst/>
          </a:prstGeom>
          <a:noFill/>
        </p:spPr>
        <p:txBody>
          <a:bodyPr wrap="square" anchor="ctr" lIns="9144" rIns="9144" tIns="9144" bIns="9144"/>
          <a:lstStyle/>
          <a:p>
            <a:pPr algn="l">
              <a:lnSpc>
                <a:spcPct val="100000"/>
              </a:lnSpc>
              <a:spcBef>
                <a:spcPts val="0"/>
              </a:spcBef>
              <a:spcAft>
                <a:spcPts val="0"/>
              </a:spcAft>
            </a:pPr>
            <a:r>
              <a:rPr sz="900" b="1" i="0">
                <a:solidFill>
                  <a:srgbClr val="FD9D24"/>
                </a:solidFill>
                <a:latin typeface="Calibri"/>
              </a:rPr>
              <a:t>Sustainable Cities &amp; Communities</a:t>
            </a:r>
          </a:p>
          <a:p>
            <a:pPr algn="l">
              <a:lnSpc>
                <a:spcPct val="100000"/>
              </a:lnSpc>
              <a:spcBef>
                <a:spcPts val="0"/>
              </a:spcBef>
              <a:spcAft>
                <a:spcPts val="200"/>
              </a:spcAft>
            </a:pPr>
            <a:r>
              <a:rPr sz="830" b="0" i="0">
                <a:solidFill>
                  <a:srgbClr val="212121"/>
                </a:solidFill>
                <a:latin typeface="Calibri"/>
              </a:rPr>
              <a:t>Participatory planning; resettlement amenities</a:t>
            </a:r>
          </a:p>
        </p:txBody>
      </p:sp>
      <p:sp>
        <p:nvSpPr>
          <p:cNvPr id="17442" name="Rectangle 17441"/>
          <p:cNvSpPr/>
          <p:nvPr/>
        </p:nvSpPr>
        <p:spPr>
          <a:xfrm>
            <a:off x="8933688" y="3803904"/>
            <a:ext cx="502920" cy="502920"/>
          </a:xfrm>
          <a:prstGeom prst="rect">
            <a:avLst/>
          </a:prstGeom>
          <a:solidFill>
            <a:srgbClr val="56C0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85000"/>
              </a:lnSpc>
              <a:spcBef>
                <a:spcPts val="0"/>
              </a:spcBef>
              <a:spcAft>
                <a:spcPts val="0"/>
              </a:spcAft>
            </a:pPr>
            <a:r>
              <a:rPr sz="650" b="1" i="0">
                <a:solidFill>
                  <a:srgbClr val="FFFFFF"/>
                </a:solidFill>
                <a:latin typeface="Calibri"/>
              </a:rPr>
              <a:t>SDG</a:t>
            </a:r>
          </a:p>
          <a:p>
            <a:pPr algn="ctr">
              <a:lnSpc>
                <a:spcPct val="85000"/>
              </a:lnSpc>
              <a:spcBef>
                <a:spcPts val="0"/>
              </a:spcBef>
              <a:spcAft>
                <a:spcPts val="200"/>
              </a:spcAft>
            </a:pPr>
            <a:r>
              <a:rPr sz="1500" b="1" i="0">
                <a:solidFill>
                  <a:srgbClr val="FFFFFF"/>
                </a:solidFill>
                <a:latin typeface="Calibri"/>
              </a:rPr>
              <a:t>15</a:t>
            </a:r>
          </a:p>
        </p:txBody>
      </p:sp>
      <p:sp>
        <p:nvSpPr>
          <p:cNvPr id="17443" name="TextBox 17442"/>
          <p:cNvSpPr txBox="1"/>
          <p:nvPr/>
        </p:nvSpPr>
        <p:spPr>
          <a:xfrm>
            <a:off x="9482328" y="3785616"/>
            <a:ext cx="2359152" cy="566928"/>
          </a:xfrm>
          <a:prstGeom prst="rect">
            <a:avLst/>
          </a:prstGeom>
          <a:noFill/>
        </p:spPr>
        <p:txBody>
          <a:bodyPr wrap="square" anchor="ctr" lIns="9144" rIns="9144" tIns="9144" bIns="9144"/>
          <a:lstStyle/>
          <a:p>
            <a:pPr algn="l">
              <a:lnSpc>
                <a:spcPct val="100000"/>
              </a:lnSpc>
              <a:spcBef>
                <a:spcPts val="0"/>
              </a:spcBef>
              <a:spcAft>
                <a:spcPts val="0"/>
              </a:spcAft>
            </a:pPr>
            <a:r>
              <a:rPr sz="900" b="1" i="0">
                <a:solidFill>
                  <a:srgbClr val="56C02B"/>
                </a:solidFill>
                <a:latin typeface="Calibri"/>
              </a:rPr>
              <a:t>Life on Land</a:t>
            </a:r>
          </a:p>
          <a:p>
            <a:pPr algn="l">
              <a:lnSpc>
                <a:spcPct val="100000"/>
              </a:lnSpc>
              <a:spcBef>
                <a:spcPts val="0"/>
              </a:spcBef>
              <a:spcAft>
                <a:spcPts val="200"/>
              </a:spcAft>
            </a:pPr>
            <a:r>
              <a:rPr sz="830" b="0" i="0">
                <a:solidFill>
                  <a:srgbClr val="212121"/>
                </a:solidFill>
                <a:latin typeface="Calibri"/>
              </a:rPr>
              <a:t>Impact zones, encroachment checks, land reuse</a:t>
            </a:r>
          </a:p>
        </p:txBody>
      </p:sp>
      <p:sp>
        <p:nvSpPr>
          <p:cNvPr id="17444" name="Rectangle 17443"/>
          <p:cNvSpPr/>
          <p:nvPr/>
        </p:nvSpPr>
        <p:spPr>
          <a:xfrm>
            <a:off x="8933688" y="4379976"/>
            <a:ext cx="502920" cy="502920"/>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85000"/>
              </a:lnSpc>
              <a:spcBef>
                <a:spcPts val="0"/>
              </a:spcBef>
              <a:spcAft>
                <a:spcPts val="0"/>
              </a:spcAft>
            </a:pPr>
            <a:r>
              <a:rPr sz="650" b="1" i="0">
                <a:solidFill>
                  <a:srgbClr val="FFFFFF"/>
                </a:solidFill>
                <a:latin typeface="Calibri"/>
              </a:rPr>
              <a:t>SDG</a:t>
            </a:r>
          </a:p>
          <a:p>
            <a:pPr algn="ctr">
              <a:lnSpc>
                <a:spcPct val="85000"/>
              </a:lnSpc>
              <a:spcBef>
                <a:spcPts val="0"/>
              </a:spcBef>
              <a:spcAft>
                <a:spcPts val="200"/>
              </a:spcAft>
            </a:pPr>
            <a:r>
              <a:rPr sz="1500" b="1" i="0">
                <a:solidFill>
                  <a:srgbClr val="FFFFFF"/>
                </a:solidFill>
                <a:latin typeface="Calibri"/>
              </a:rPr>
              <a:t>16</a:t>
            </a:r>
          </a:p>
        </p:txBody>
      </p:sp>
      <p:sp>
        <p:nvSpPr>
          <p:cNvPr id="17445" name="TextBox 17444"/>
          <p:cNvSpPr txBox="1"/>
          <p:nvPr/>
        </p:nvSpPr>
        <p:spPr>
          <a:xfrm>
            <a:off x="9482328" y="4361688"/>
            <a:ext cx="2359152" cy="566928"/>
          </a:xfrm>
          <a:prstGeom prst="rect">
            <a:avLst/>
          </a:prstGeom>
          <a:noFill/>
        </p:spPr>
        <p:txBody>
          <a:bodyPr wrap="square" anchor="ctr" lIns="9144" rIns="9144" tIns="9144" bIns="9144"/>
          <a:lstStyle/>
          <a:p>
            <a:pPr algn="l">
              <a:lnSpc>
                <a:spcPct val="100000"/>
              </a:lnSpc>
              <a:spcBef>
                <a:spcPts val="0"/>
              </a:spcBef>
              <a:spcAft>
                <a:spcPts val="0"/>
              </a:spcAft>
            </a:pPr>
            <a:r>
              <a:rPr sz="900" b="1" i="0">
                <a:solidFill>
                  <a:srgbClr val="00689D"/>
                </a:solidFill>
                <a:latin typeface="Calibri"/>
              </a:rPr>
              <a:t>Peace, Justice &amp; Strong Institutions</a:t>
            </a:r>
          </a:p>
          <a:p>
            <a:pPr algn="l">
              <a:lnSpc>
                <a:spcPct val="100000"/>
              </a:lnSpc>
              <a:spcBef>
                <a:spcPts val="0"/>
              </a:spcBef>
              <a:spcAft>
                <a:spcPts val="200"/>
              </a:spcAft>
            </a:pPr>
            <a:r>
              <a:rPr sz="830" b="0" i="0">
                <a:solidFill>
                  <a:srgbClr val="212121"/>
                </a:solidFill>
                <a:latin typeface="Calibri"/>
              </a:rPr>
              <a:t>16.5 anti-corruption · 16.6 accountability · 16.10 access to info</a:t>
            </a:r>
          </a:p>
        </p:txBody>
      </p:sp>
      <p:sp>
        <p:nvSpPr>
          <p:cNvPr id="17446" name="Rectangle 17445"/>
          <p:cNvSpPr/>
          <p:nvPr/>
        </p:nvSpPr>
        <p:spPr>
          <a:xfrm>
            <a:off x="8933688" y="4956048"/>
            <a:ext cx="502920" cy="502920"/>
          </a:xfrm>
          <a:prstGeom prst="rect">
            <a:avLst/>
          </a:prstGeom>
          <a:solidFill>
            <a:srgbClr val="1948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85000"/>
              </a:lnSpc>
              <a:spcBef>
                <a:spcPts val="0"/>
              </a:spcBef>
              <a:spcAft>
                <a:spcPts val="0"/>
              </a:spcAft>
            </a:pPr>
            <a:r>
              <a:rPr sz="650" b="1" i="0">
                <a:solidFill>
                  <a:srgbClr val="FFFFFF"/>
                </a:solidFill>
                <a:latin typeface="Calibri"/>
              </a:rPr>
              <a:t>SDG</a:t>
            </a:r>
          </a:p>
          <a:p>
            <a:pPr algn="ctr">
              <a:lnSpc>
                <a:spcPct val="85000"/>
              </a:lnSpc>
              <a:spcBef>
                <a:spcPts val="0"/>
              </a:spcBef>
              <a:spcAft>
                <a:spcPts val="200"/>
              </a:spcAft>
            </a:pPr>
            <a:r>
              <a:rPr sz="1500" b="1" i="0">
                <a:solidFill>
                  <a:srgbClr val="FFFFFF"/>
                </a:solidFill>
                <a:latin typeface="Calibri"/>
              </a:rPr>
              <a:t>17</a:t>
            </a:r>
          </a:p>
        </p:txBody>
      </p:sp>
      <p:sp>
        <p:nvSpPr>
          <p:cNvPr id="17447" name="TextBox 17446"/>
          <p:cNvSpPr txBox="1"/>
          <p:nvPr/>
        </p:nvSpPr>
        <p:spPr>
          <a:xfrm>
            <a:off x="9482328" y="4937760"/>
            <a:ext cx="2359152" cy="566928"/>
          </a:xfrm>
          <a:prstGeom prst="rect">
            <a:avLst/>
          </a:prstGeom>
          <a:noFill/>
        </p:spPr>
        <p:txBody>
          <a:bodyPr wrap="square" anchor="ctr" lIns="9144" rIns="9144" tIns="9144" bIns="9144"/>
          <a:lstStyle/>
          <a:p>
            <a:pPr algn="l">
              <a:lnSpc>
                <a:spcPct val="100000"/>
              </a:lnSpc>
              <a:spcBef>
                <a:spcPts val="0"/>
              </a:spcBef>
              <a:spcAft>
                <a:spcPts val="0"/>
              </a:spcAft>
            </a:pPr>
            <a:r>
              <a:rPr sz="900" b="1" i="0">
                <a:solidFill>
                  <a:srgbClr val="19486A"/>
                </a:solidFill>
                <a:latin typeface="Calibri"/>
              </a:rPr>
              <a:t>Partnerships for the Goals</a:t>
            </a:r>
          </a:p>
          <a:p>
            <a:pPr algn="l">
              <a:lnSpc>
                <a:spcPct val="100000"/>
              </a:lnSpc>
              <a:spcBef>
                <a:spcPts val="0"/>
              </a:spcBef>
              <a:spcAft>
                <a:spcPts val="200"/>
              </a:spcAft>
            </a:pPr>
            <a:r>
              <a:rPr sz="830" b="0" i="0">
                <a:solidFill>
                  <a:srgbClr val="212121"/>
                </a:solidFill>
                <a:latin typeface="Calibri"/>
              </a:rPr>
              <a:t>17.18 standardised, interoperable data</a:t>
            </a:r>
          </a:p>
        </p:txBody>
      </p:sp>
      <p:sp>
        <p:nvSpPr>
          <p:cNvPr id="17448" name="TextBox 17447"/>
          <p:cNvSpPr txBox="1"/>
          <p:nvPr/>
        </p:nvSpPr>
        <p:spPr>
          <a:xfrm>
            <a:off x="8933688" y="5550407"/>
            <a:ext cx="2907791" cy="457200"/>
          </a:xfrm>
          <a:prstGeom prst="rect">
            <a:avLst/>
          </a:prstGeom>
          <a:noFill/>
        </p:spPr>
        <p:txBody>
          <a:bodyPr wrap="square" anchor="t" lIns="9144" rIns="9144" tIns="9144" bIns="9144"/>
          <a:lstStyle/>
          <a:p>
            <a:pPr algn="l">
              <a:lnSpc>
                <a:spcPct val="100000"/>
              </a:lnSpc>
              <a:spcBef>
                <a:spcPts val="0"/>
              </a:spcBef>
              <a:spcAft>
                <a:spcPts val="200"/>
              </a:spcAft>
            </a:pPr>
            <a:r>
              <a:rPr sz="850" b="1" i="0">
                <a:solidFill>
                  <a:srgbClr val="00796B"/>
                </a:solidFill>
                <a:latin typeface="Calibri"/>
              </a:rPr>
              <a:t>Also aligned with: </a:t>
            </a:r>
            <a:r>
              <a:rPr sz="850" b="0" i="0">
                <a:solidFill>
                  <a:srgbClr val="212121"/>
                </a:solidFill>
                <a:latin typeface="Calibri"/>
              </a:rPr>
              <a:t>Digital India · DILRMP · PM Gati Shakti · DPDP Act 2023</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0"/>
            <a:ext cx="7863840" cy="105156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274320" y="1143000"/>
            <a:ext cx="11640312" cy="914400"/>
          </a:xfrm>
          <a:prstGeom prst="roundRect">
            <a:avLst>
              <a:gd name="adj" fmla="val 8000"/>
            </a:avLst>
          </a:prstGeom>
          <a:solidFill>
            <a:srgbClr val="E5F0F8"/>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TextBox 17410"/>
          <p:cNvSpPr txBox="1"/>
          <p:nvPr/>
        </p:nvSpPr>
        <p:spPr>
          <a:xfrm>
            <a:off x="411480" y="1179576"/>
            <a:ext cx="11338560" cy="274320"/>
          </a:xfrm>
          <a:prstGeom prst="rect">
            <a:avLst/>
          </a:prstGeom>
          <a:noFill/>
        </p:spPr>
        <p:txBody>
          <a:bodyPr wrap="square" anchor="t" lIns="0" rIns="0" tIns="0" bIns="0"/>
          <a:lstStyle/>
          <a:p>
            <a:pPr algn="l">
              <a:lnSpc>
                <a:spcPct val="100000"/>
              </a:lnSpc>
              <a:spcBef>
                <a:spcPts val="0"/>
              </a:spcBef>
              <a:spcAft>
                <a:spcPts val="200"/>
              </a:spcAft>
            </a:pPr>
            <a:r>
              <a:rPr sz="1200" b="1" i="0">
                <a:solidFill>
                  <a:srgbClr val="1F3864"/>
                </a:solidFill>
                <a:latin typeface="Calibri"/>
              </a:rPr>
              <a:t>PROTOTYPE, DEMO &amp; PROJECT DOCUMENTS</a:t>
            </a:r>
          </a:p>
        </p:txBody>
      </p:sp>
      <p:sp>
        <p:nvSpPr>
          <p:cNvPr id="17412" name="TextBox 17411"/>
          <p:cNvSpPr txBox="1"/>
          <p:nvPr/>
        </p:nvSpPr>
        <p:spPr>
          <a:xfrm>
            <a:off x="411480" y="1463040"/>
            <a:ext cx="5669280" cy="603504"/>
          </a:xfrm>
          <a:prstGeom prst="rect">
            <a:avLst/>
          </a:prstGeom>
          <a:noFill/>
        </p:spPr>
        <p:txBody>
          <a:bodyPr wrap="square" anchor="t" lIns="0" rIns="0" tIns="0" bIns="0"/>
          <a:lstStyle/>
          <a:p>
            <a:pPr algn="l">
              <a:lnSpc>
                <a:spcPct val="100000"/>
              </a:lnSpc>
              <a:spcBef>
                <a:spcPts val="0"/>
              </a:spcBef>
              <a:spcAft>
                <a:spcPts val="300"/>
              </a:spcAft>
            </a:pPr>
            <a:r>
              <a:rPr sz="1050" b="1" i="0">
                <a:solidFill>
                  <a:srgbClr val="1F3864"/>
                </a:solidFill>
                <a:latin typeface="Calibri"/>
              </a:rPr>
              <a:t>▶ Prototype demo: </a:t>
            </a:r>
            <a:r>
              <a:rPr sz="1050" b="0" i="0">
                <a:solidFill>
                  <a:srgbClr val="0070C0"/>
                </a:solidFill>
                <a:latin typeface="Calibri"/>
              </a:rPr>
              <a:t>[add deployed URL]</a:t>
            </a:r>
          </a:p>
          <a:p>
            <a:pPr algn="l">
              <a:lnSpc>
                <a:spcPct val="100000"/>
              </a:lnSpc>
              <a:spcBef>
                <a:spcPts val="0"/>
              </a:spcBef>
              <a:spcAft>
                <a:spcPts val="200"/>
              </a:spcAft>
            </a:pPr>
            <a:r>
              <a:rPr sz="1050" b="1" i="0">
                <a:solidFill>
                  <a:srgbClr val="1F3864"/>
                </a:solidFill>
                <a:latin typeface="Calibri"/>
              </a:rPr>
              <a:t>🎬 Demo video: </a:t>
            </a:r>
            <a:r>
              <a:rPr sz="1050" b="0" i="0">
                <a:solidFill>
                  <a:srgbClr val="0070C0"/>
                </a:solidFill>
                <a:latin typeface="Calibri"/>
              </a:rPr>
              <a:t>[add YouTube / Drive link]</a:t>
            </a:r>
          </a:p>
        </p:txBody>
      </p:sp>
      <p:sp>
        <p:nvSpPr>
          <p:cNvPr id="17413" name="TextBox 17412"/>
          <p:cNvSpPr txBox="1"/>
          <p:nvPr/>
        </p:nvSpPr>
        <p:spPr>
          <a:xfrm>
            <a:off x="6126480" y="1463040"/>
            <a:ext cx="5715000" cy="603504"/>
          </a:xfrm>
          <a:prstGeom prst="rect">
            <a:avLst/>
          </a:prstGeom>
          <a:noFill/>
        </p:spPr>
        <p:txBody>
          <a:bodyPr wrap="square" anchor="t" lIns="0" rIns="0" tIns="0" bIns="0"/>
          <a:lstStyle/>
          <a:p>
            <a:pPr algn="l">
              <a:lnSpc>
                <a:spcPct val="100000"/>
              </a:lnSpc>
              <a:spcBef>
                <a:spcPts val="0"/>
              </a:spcBef>
              <a:spcAft>
                <a:spcPts val="300"/>
              </a:spcAft>
            </a:pPr>
            <a:r>
              <a:rPr sz="1050" b="1" i="0">
                <a:solidFill>
                  <a:srgbClr val="1F3864"/>
                </a:solidFill>
                <a:latin typeface="Calibri"/>
              </a:rPr>
              <a:t>💻 Source code: </a:t>
            </a:r>
            <a:r>
              <a:rPr sz="1050" b="0" i="0">
                <a:solidFill>
                  <a:srgbClr val="0070C0"/>
                </a:solidFill>
                <a:latin typeface="Calibri"/>
                <a:hlinkClick r:id="rId4"/>
              </a:rPr>
              <a:t>github.com/amdravidranjan/Cup_of_tea</a:t>
            </a:r>
          </a:p>
          <a:p>
            <a:pPr algn="l">
              <a:lnSpc>
                <a:spcPct val="100000"/>
              </a:lnSpc>
              <a:spcBef>
                <a:spcPts val="0"/>
              </a:spcBef>
              <a:spcAft>
                <a:spcPts val="200"/>
              </a:spcAft>
            </a:pPr>
            <a:r>
              <a:rPr sz="1050" b="1" i="0">
                <a:solidFill>
                  <a:srgbClr val="1F3864"/>
                </a:solidFill>
                <a:latin typeface="Calibri"/>
              </a:rPr>
              <a:t>📄 Documentation: </a:t>
            </a:r>
            <a:r>
              <a:rPr sz="1050" b="0" i="0">
                <a:solidFill>
                  <a:srgbClr val="0070C0"/>
                </a:solidFill>
                <a:latin typeface="Calibri"/>
              </a:rPr>
              <a:t>[add Drive link — design spec, feature list, novelty, PS coverage matrix]</a:t>
            </a:r>
          </a:p>
        </p:txBody>
      </p:sp>
      <p:sp>
        <p:nvSpPr>
          <p:cNvPr id="17414" name="Rectangle 17413"/>
          <p:cNvSpPr/>
          <p:nvPr/>
        </p:nvSpPr>
        <p:spPr>
          <a:xfrm>
            <a:off x="274320" y="2212848"/>
            <a:ext cx="3788664" cy="3044952"/>
          </a:xfrm>
          <a:prstGeom prst="rect">
            <a:avLst/>
          </a:prstGeom>
          <a:solidFill>
            <a:srgbClr val="EFF1F4"/>
          </a:solidFill>
          <a:ln w="9525">
            <a:solidFill>
              <a:srgbClr val="9AA5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ectangle 17414"/>
          <p:cNvSpPr/>
          <p:nvPr/>
        </p:nvSpPr>
        <p:spPr>
          <a:xfrm>
            <a:off x="274320" y="2212848"/>
            <a:ext cx="3788664"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050" b="1" i="0">
                <a:solidFill>
                  <a:srgbClr val="FFFFFF"/>
                </a:solidFill>
                <a:latin typeface="Calibri"/>
              </a:rPr>
              <a:t>LAW, POLICY &amp; PROBLEM STATEMENT</a:t>
            </a:r>
          </a:p>
        </p:txBody>
      </p:sp>
      <p:sp>
        <p:nvSpPr>
          <p:cNvPr id="17416" name="TextBox 17415"/>
          <p:cNvSpPr txBox="1"/>
          <p:nvPr/>
        </p:nvSpPr>
        <p:spPr>
          <a:xfrm>
            <a:off x="329184" y="2560320"/>
            <a:ext cx="3678936" cy="3657600"/>
          </a:xfrm>
          <a:prstGeom prst="rect">
            <a:avLst/>
          </a:prstGeom>
          <a:noFill/>
        </p:spPr>
        <p:txBody>
          <a:bodyPr wrap="square" anchor="t" lIns="27432" rIns="27432" tIns="27432" bIns="27432"/>
          <a:lstStyle/>
          <a:p>
            <a:pPr algn="l" marL="128016" indent="-128016">
              <a:lnSpc>
                <a:spcPct val="100000"/>
              </a:lnSpc>
              <a:spcBef>
                <a:spcPts val="0"/>
              </a:spcBef>
              <a:spcAft>
                <a:spcPts val="0"/>
              </a:spcAft>
              <a:buClr>
                <a:srgbClr val="1F3864"/>
              </a:buClr>
              <a:buFont typeface="Arial"/>
              <a:buChar char="•"/>
            </a:pPr>
            <a:r>
              <a:rPr sz="980" b="1" i="0">
                <a:solidFill>
                  <a:srgbClr val="212121"/>
                </a:solidFill>
                <a:latin typeface="Calibri"/>
              </a:rPr>
              <a:t>RFCTLARR Act, 2013 (Act 30 of 2013) — India Code</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5"/>
              </a:rPr>
              <a:t>indiacode.nic.in</a:t>
            </a:r>
          </a:p>
          <a:p>
            <a:pPr algn="l" marL="128016" indent="-128016">
              <a:lnSpc>
                <a:spcPct val="100000"/>
              </a:lnSpc>
              <a:spcBef>
                <a:spcPts val="0"/>
              </a:spcBef>
              <a:spcAft>
                <a:spcPts val="0"/>
              </a:spcAft>
              <a:buClr>
                <a:srgbClr val="1F3864"/>
              </a:buClr>
              <a:buFont typeface="Arial"/>
              <a:buChar char="•"/>
            </a:pPr>
            <a:r>
              <a:rPr sz="980" b="1" i="0">
                <a:solidFill>
                  <a:srgbClr val="212121"/>
                </a:solidFill>
                <a:latin typeface="Calibri"/>
              </a:rPr>
              <a:t>Department of Land Resources, MoRD</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6"/>
              </a:rPr>
              <a:t>dolr.gov.in</a:t>
            </a:r>
          </a:p>
          <a:p>
            <a:pPr algn="l" marL="128016" indent="-128016">
              <a:lnSpc>
                <a:spcPct val="100000"/>
              </a:lnSpc>
              <a:spcBef>
                <a:spcPts val="0"/>
              </a:spcBef>
              <a:spcAft>
                <a:spcPts val="0"/>
              </a:spcAft>
              <a:buClr>
                <a:srgbClr val="1F3864"/>
              </a:buClr>
              <a:buFont typeface="Arial"/>
              <a:buChar char="•"/>
            </a:pPr>
            <a:r>
              <a:rPr sz="980" b="1" i="0">
                <a:solidFill>
                  <a:srgbClr val="212121"/>
                </a:solidFill>
                <a:latin typeface="Calibri"/>
              </a:rPr>
              <a:t>DILRMP &amp; ULPIN (Bhu-Aadhaar)</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7"/>
              </a:rPr>
              <a:t>dilrmp.gov.in</a:t>
            </a:r>
          </a:p>
          <a:p>
            <a:pPr algn="l" marL="128016" indent="-128016">
              <a:lnSpc>
                <a:spcPct val="100000"/>
              </a:lnSpc>
              <a:spcBef>
                <a:spcPts val="0"/>
              </a:spcBef>
              <a:spcAft>
                <a:spcPts val="0"/>
              </a:spcAft>
              <a:buClr>
                <a:srgbClr val="1F3864"/>
              </a:buClr>
              <a:buFont typeface="Arial"/>
              <a:buChar char="•"/>
            </a:pPr>
            <a:r>
              <a:rPr sz="980" b="1" i="0">
                <a:solidFill>
                  <a:srgbClr val="212121"/>
                </a:solidFill>
                <a:latin typeface="Calibri"/>
              </a:rPr>
              <a:t>SIH 2026 Problem Statement 26016</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8"/>
              </a:rPr>
              <a:t>sih.gov.in</a:t>
            </a:r>
          </a:p>
          <a:p>
            <a:pPr algn="l" marL="128016" indent="-128016">
              <a:lnSpc>
                <a:spcPct val="100000"/>
              </a:lnSpc>
              <a:spcBef>
                <a:spcPts val="0"/>
              </a:spcBef>
              <a:spcAft>
                <a:spcPts val="0"/>
              </a:spcAft>
              <a:buClr>
                <a:srgbClr val="1F3864"/>
              </a:buClr>
              <a:buFont typeface="Arial"/>
              <a:buChar char="•"/>
            </a:pPr>
            <a:r>
              <a:rPr sz="980" b="1" i="0">
                <a:solidFill>
                  <a:srgbClr val="212121"/>
                </a:solidFill>
                <a:latin typeface="Calibri"/>
              </a:rPr>
              <a:t>Digital Personal Data Protection Act, 2023 — MeitY</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9"/>
              </a:rPr>
              <a:t>meity.gov.in</a:t>
            </a:r>
          </a:p>
          <a:p>
            <a:pPr algn="l" marL="128016" indent="-128016">
              <a:lnSpc>
                <a:spcPct val="100000"/>
              </a:lnSpc>
              <a:spcBef>
                <a:spcPts val="0"/>
              </a:spcBef>
              <a:spcAft>
                <a:spcPts val="0"/>
              </a:spcAft>
              <a:buClr>
                <a:srgbClr val="1F3864"/>
              </a:buClr>
              <a:buFont typeface="Arial"/>
              <a:buChar char="•"/>
            </a:pPr>
            <a:r>
              <a:rPr sz="980" b="1" i="0">
                <a:solidFill>
                  <a:srgbClr val="212121"/>
                </a:solidFill>
                <a:latin typeface="Calibri"/>
              </a:rPr>
              <a:t>PM Gati Shakti National Master Plan</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0"/>
              </a:rPr>
              <a:t>pmgatishakti.gov.in</a:t>
            </a:r>
          </a:p>
          <a:p>
            <a:pPr algn="l" marL="128016" indent="-128016">
              <a:lnSpc>
                <a:spcPct val="100000"/>
              </a:lnSpc>
              <a:spcBef>
                <a:spcPts val="0"/>
              </a:spcBef>
              <a:spcAft>
                <a:spcPts val="0"/>
              </a:spcAft>
              <a:buClr>
                <a:srgbClr val="1F3864"/>
              </a:buClr>
              <a:buFont typeface="Arial"/>
              <a:buChar char="•"/>
            </a:pPr>
            <a:r>
              <a:rPr sz="980" b="1" i="0">
                <a:solidFill>
                  <a:srgbClr val="212121"/>
                </a:solidFill>
                <a:latin typeface="Calibri"/>
              </a:rPr>
              <a:t>UN Sustainable Development Goals</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1"/>
              </a:rPr>
              <a:t>sdgs.un.org/goals</a:t>
            </a:r>
          </a:p>
        </p:txBody>
      </p:sp>
      <p:sp>
        <p:nvSpPr>
          <p:cNvPr id="17417" name="Rectangle 17416"/>
          <p:cNvSpPr/>
          <p:nvPr/>
        </p:nvSpPr>
        <p:spPr>
          <a:xfrm>
            <a:off x="4200144" y="2212848"/>
            <a:ext cx="3788664" cy="3044952"/>
          </a:xfrm>
          <a:prstGeom prst="rect">
            <a:avLst/>
          </a:prstGeom>
          <a:solidFill>
            <a:srgbClr val="FDF4ED"/>
          </a:solidFill>
          <a:ln w="9525">
            <a:solidFill>
              <a:srgbClr val="F2BC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ectangle 17417"/>
          <p:cNvSpPr/>
          <p:nvPr/>
        </p:nvSpPr>
        <p:spPr>
          <a:xfrm>
            <a:off x="4200144" y="2212848"/>
            <a:ext cx="3788664" cy="292608"/>
          </a:xfrm>
          <a:prstGeom prst="rect">
            <a:avLst/>
          </a:prstGeom>
          <a:solidFill>
            <a:srgbClr val="E46C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050" b="1" i="0">
                <a:solidFill>
                  <a:srgbClr val="FFFFFF"/>
                </a:solidFill>
                <a:latin typeface="Calibri"/>
              </a:rPr>
              <a:t>EXISTING SYSTEMS &amp; PLATFORMS STUDIED</a:t>
            </a:r>
          </a:p>
        </p:txBody>
      </p:sp>
      <p:sp>
        <p:nvSpPr>
          <p:cNvPr id="17419" name="TextBox 17418"/>
          <p:cNvSpPr txBox="1"/>
          <p:nvPr/>
        </p:nvSpPr>
        <p:spPr>
          <a:xfrm>
            <a:off x="4255008" y="2560320"/>
            <a:ext cx="3678936" cy="3657600"/>
          </a:xfrm>
          <a:prstGeom prst="rect">
            <a:avLst/>
          </a:prstGeom>
          <a:noFill/>
        </p:spPr>
        <p:txBody>
          <a:bodyPr wrap="square" anchor="t" lIns="27432" rIns="27432" tIns="27432" bIns="27432"/>
          <a:lstStyle/>
          <a:p>
            <a:pPr algn="l" marL="128016" indent="-128016">
              <a:lnSpc>
                <a:spcPct val="100000"/>
              </a:lnSpc>
              <a:spcBef>
                <a:spcPts val="0"/>
              </a:spcBef>
              <a:spcAft>
                <a:spcPts val="0"/>
              </a:spcAft>
              <a:buClr>
                <a:srgbClr val="E46C0A"/>
              </a:buClr>
              <a:buFont typeface="Arial"/>
              <a:buChar char="•"/>
            </a:pPr>
            <a:r>
              <a:rPr sz="980" b="1" i="0">
                <a:solidFill>
                  <a:srgbClr val="212121"/>
                </a:solidFill>
                <a:latin typeface="Calibri"/>
              </a:rPr>
              <a:t>Bhoomi Rashi portal — 1,467 NHAI projects (PIB)</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2"/>
              </a:rPr>
              <a:t>pib.gov.in/PressReleaseIframePage.aspx?PRID=1…</a:t>
            </a:r>
          </a:p>
          <a:p>
            <a:pPr algn="l" marL="128016" indent="-128016">
              <a:lnSpc>
                <a:spcPct val="100000"/>
              </a:lnSpc>
              <a:spcBef>
                <a:spcPts val="0"/>
              </a:spcBef>
              <a:spcAft>
                <a:spcPts val="0"/>
              </a:spcAft>
              <a:buClr>
                <a:srgbClr val="E46C0A"/>
              </a:buClr>
              <a:buFont typeface="Arial"/>
              <a:buChar char="•"/>
            </a:pPr>
            <a:r>
              <a:rPr sz="980" b="1" i="0">
                <a:solidFill>
                  <a:srgbClr val="212121"/>
                </a:solidFill>
                <a:latin typeface="Calibri"/>
              </a:rPr>
              <a:t>Bhoomi Rashi — digitised NH land acquisition (PIB)</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3"/>
              </a:rPr>
              <a:t>pib.gov.in/PressReleaseIframePage.aspx?PRID=1…</a:t>
            </a:r>
          </a:p>
          <a:p>
            <a:pPr algn="l" marL="128016" indent="-128016">
              <a:lnSpc>
                <a:spcPct val="100000"/>
              </a:lnSpc>
              <a:spcBef>
                <a:spcPts val="0"/>
              </a:spcBef>
              <a:spcAft>
                <a:spcPts val="400"/>
              </a:spcAft>
              <a:buClr>
                <a:srgbClr val="E46C0A"/>
              </a:buClr>
              <a:buFont typeface="Arial"/>
              <a:buChar char="•"/>
            </a:pPr>
            <a:r>
              <a:rPr sz="980" b="1" i="0">
                <a:solidFill>
                  <a:srgbClr val="212121"/>
                </a:solidFill>
                <a:latin typeface="Calibri"/>
              </a:rPr>
              <a:t>TN-GLMS, Commissionerate of Land Administration, Govt. of Tamil Nadu</a:t>
            </a:r>
          </a:p>
          <a:p>
            <a:pPr algn="l" marL="128016" indent="-128016">
              <a:lnSpc>
                <a:spcPct val="100000"/>
              </a:lnSpc>
              <a:spcBef>
                <a:spcPts val="0"/>
              </a:spcBef>
              <a:spcAft>
                <a:spcPts val="0"/>
              </a:spcAft>
              <a:buClr>
                <a:srgbClr val="E46C0A"/>
              </a:buClr>
              <a:buFont typeface="Arial"/>
              <a:buChar char="•"/>
            </a:pPr>
            <a:r>
              <a:rPr sz="980" b="1" i="0">
                <a:solidFill>
                  <a:srgbClr val="212121"/>
                </a:solidFill>
                <a:latin typeface="Calibri"/>
              </a:rPr>
              <a:t>e-Gazette of India</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4"/>
              </a:rPr>
              <a:t>egazette.gov.in</a:t>
            </a:r>
          </a:p>
          <a:p>
            <a:pPr algn="l" marL="128016" indent="-128016">
              <a:lnSpc>
                <a:spcPct val="100000"/>
              </a:lnSpc>
              <a:spcBef>
                <a:spcPts val="0"/>
              </a:spcBef>
              <a:spcAft>
                <a:spcPts val="0"/>
              </a:spcAft>
              <a:buClr>
                <a:srgbClr val="E46C0A"/>
              </a:buClr>
              <a:buFont typeface="Arial"/>
              <a:buChar char="•"/>
            </a:pPr>
            <a:r>
              <a:rPr sz="980" b="1" i="0">
                <a:solidFill>
                  <a:srgbClr val="212121"/>
                </a:solidFill>
                <a:latin typeface="Calibri"/>
              </a:rPr>
              <a:t>PFMS — Public Financial Management System</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5"/>
              </a:rPr>
              <a:t>pfms.nic.in</a:t>
            </a:r>
          </a:p>
          <a:p>
            <a:pPr algn="l" marL="128016" indent="-128016">
              <a:lnSpc>
                <a:spcPct val="100000"/>
              </a:lnSpc>
              <a:spcBef>
                <a:spcPts val="0"/>
              </a:spcBef>
              <a:spcAft>
                <a:spcPts val="0"/>
              </a:spcAft>
              <a:buClr>
                <a:srgbClr val="E46C0A"/>
              </a:buClr>
              <a:buFont typeface="Arial"/>
              <a:buChar char="•"/>
            </a:pPr>
            <a:r>
              <a:rPr sz="980" b="1" i="0">
                <a:solidFill>
                  <a:srgbClr val="212121"/>
                </a:solidFill>
                <a:latin typeface="Calibri"/>
              </a:rPr>
              <a:t>DigiLocker</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6"/>
              </a:rPr>
              <a:t>digilocker.gov.in</a:t>
            </a:r>
          </a:p>
          <a:p>
            <a:pPr algn="l" marL="128016" indent="-128016">
              <a:lnSpc>
                <a:spcPct val="100000"/>
              </a:lnSpc>
              <a:spcBef>
                <a:spcPts val="0"/>
              </a:spcBef>
              <a:spcAft>
                <a:spcPts val="0"/>
              </a:spcAft>
              <a:buClr>
                <a:srgbClr val="E46C0A"/>
              </a:buClr>
              <a:buFont typeface="Arial"/>
              <a:buChar char="•"/>
            </a:pPr>
            <a:r>
              <a:rPr sz="980" b="1" i="0">
                <a:solidFill>
                  <a:srgbClr val="212121"/>
                </a:solidFill>
                <a:latin typeface="Calibri"/>
              </a:rPr>
              <a:t>Bhashini — National Language Translation Mission</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7"/>
              </a:rPr>
              <a:t>bhashini.gov.in</a:t>
            </a:r>
          </a:p>
          <a:p>
            <a:pPr algn="l" marL="128016" indent="-128016">
              <a:lnSpc>
                <a:spcPct val="100000"/>
              </a:lnSpc>
              <a:spcBef>
                <a:spcPts val="0"/>
              </a:spcBef>
              <a:spcAft>
                <a:spcPts val="0"/>
              </a:spcAft>
              <a:buClr>
                <a:srgbClr val="E46C0A"/>
              </a:buClr>
              <a:buFont typeface="Arial"/>
              <a:buChar char="•"/>
            </a:pPr>
            <a:r>
              <a:rPr sz="980" b="1" i="0">
                <a:solidFill>
                  <a:srgbClr val="212121"/>
                </a:solidFill>
                <a:latin typeface="Calibri"/>
              </a:rPr>
              <a:t>ISRO Bhuvan geoportal</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8"/>
              </a:rPr>
              <a:t>bhuvan.nrsc.gov.in</a:t>
            </a:r>
          </a:p>
        </p:txBody>
      </p:sp>
      <p:sp>
        <p:nvSpPr>
          <p:cNvPr id="17420" name="Rectangle 17419"/>
          <p:cNvSpPr/>
          <p:nvPr/>
        </p:nvSpPr>
        <p:spPr>
          <a:xfrm>
            <a:off x="8125968" y="2212848"/>
            <a:ext cx="3788664" cy="3044952"/>
          </a:xfrm>
          <a:prstGeom prst="rect">
            <a:avLst/>
          </a:prstGeom>
          <a:solidFill>
            <a:srgbClr val="F0F5F0"/>
          </a:solidFill>
          <a:ln w="9525">
            <a:solidFill>
              <a:srgbClr val="A0C4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ectangle 17420"/>
          <p:cNvSpPr/>
          <p:nvPr/>
        </p:nvSpPr>
        <p:spPr>
          <a:xfrm>
            <a:off x="8125968" y="2212848"/>
            <a:ext cx="3788664"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100000"/>
              </a:lnSpc>
              <a:spcBef>
                <a:spcPts val="0"/>
              </a:spcBef>
              <a:spcAft>
                <a:spcPts val="200"/>
              </a:spcAft>
            </a:pPr>
            <a:r>
              <a:rPr sz="1050" b="1" i="0">
                <a:solidFill>
                  <a:srgbClr val="FFFFFF"/>
                </a:solidFill>
                <a:latin typeface="Calibri"/>
              </a:rPr>
              <a:t>RESEARCH &amp; EVIDENCE</a:t>
            </a:r>
          </a:p>
        </p:txBody>
      </p:sp>
      <p:sp>
        <p:nvSpPr>
          <p:cNvPr id="17422" name="TextBox 17421"/>
          <p:cNvSpPr txBox="1"/>
          <p:nvPr/>
        </p:nvSpPr>
        <p:spPr>
          <a:xfrm>
            <a:off x="8180832" y="2560320"/>
            <a:ext cx="3678936" cy="3657600"/>
          </a:xfrm>
          <a:prstGeom prst="rect">
            <a:avLst/>
          </a:prstGeom>
          <a:noFill/>
        </p:spPr>
        <p:txBody>
          <a:bodyPr wrap="square" anchor="t" lIns="27432" rIns="27432" tIns="27432" bIns="27432"/>
          <a:lstStyle/>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Land Conflict Watch: 6.5 million people affected (Down To Earth)</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19"/>
              </a:rPr>
              <a:t>downtoearth.org.in/environment/land-conflict-…</a:t>
            </a:r>
          </a:p>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Land Conflict Watch — conflicts database</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20"/>
              </a:rPr>
              <a:t>landconflictwatch.org/all-conflicts</a:t>
            </a:r>
          </a:p>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179 land conflicts, 3.6 million people in 2025</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21"/>
              </a:rPr>
              <a:t>counterview.net/2026/03/ngo-research-document…</a:t>
            </a:r>
          </a:p>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Oxfam India — Locating the Breach: land conflicts</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22"/>
              </a:rPr>
              <a:t>oxfamindia.org/knowledgehub/workingpaper/loca…</a:t>
            </a:r>
          </a:p>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CAG Report 35 of 2015 — delays in 66% of cases</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23"/>
              </a:rPr>
              <a:t>cag.gov.in/uploads/download_audit_report/2015…</a:t>
            </a:r>
          </a:p>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CAG — non-transparent compensation rates (Karnataka)</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24"/>
              </a:rPr>
              <a:t>cag.gov.in/uploads/download_audit_report/2014…</a:t>
            </a:r>
          </a:p>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CAG — Bengaluru Metro ₹6,603 cr land cost rise</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25"/>
              </a:rPr>
              <a:t>thenewsmill.com/2026/08/cag-audit-finds-overe…</a:t>
            </a:r>
          </a:p>
          <a:p>
            <a:pPr algn="l" marL="128016" indent="-128016">
              <a:lnSpc>
                <a:spcPct val="100000"/>
              </a:lnSpc>
              <a:spcBef>
                <a:spcPts val="0"/>
              </a:spcBef>
              <a:spcAft>
                <a:spcPts val="0"/>
              </a:spcAft>
              <a:buClr>
                <a:srgbClr val="2E7D32"/>
              </a:buClr>
              <a:buFont typeface="Arial"/>
              <a:buChar char="•"/>
            </a:pPr>
            <a:r>
              <a:rPr sz="980" b="1" i="0">
                <a:solidFill>
                  <a:srgbClr val="212121"/>
                </a:solidFill>
                <a:latin typeface="Calibri"/>
              </a:rPr>
              <a:t>PostGIS · GeoServer · Next.js documentation</a:t>
            </a:r>
          </a:p>
          <a:p>
            <a:pPr algn="l" marL="128016" indent="-128016">
              <a:lnSpc>
                <a:spcPct val="100000"/>
              </a:lnSpc>
              <a:spcBef>
                <a:spcPts val="0"/>
              </a:spcBef>
              <a:spcAft>
                <a:spcPts val="400"/>
              </a:spcAft>
              <a:buClr>
                <a:srgbClr val="FFFFFF"/>
              </a:buClr>
              <a:buFont typeface="Arial"/>
              <a:buChar char=" "/>
            </a:pPr>
            <a:r>
              <a:rPr sz="800" b="0" i="0">
                <a:solidFill>
                  <a:srgbClr val="0070C0"/>
                </a:solidFill>
                <a:latin typeface="Calibri"/>
                <a:hlinkClick r:id="rId26"/>
              </a:rPr>
              <a:t>postgis.net</a:t>
            </a:r>
          </a:p>
        </p:txBody>
      </p:sp>
      <p:sp>
        <p:nvSpPr>
          <p:cNvPr id="17423" name="Rounded Rectangle 17422"/>
          <p:cNvSpPr/>
          <p:nvPr/>
        </p:nvSpPr>
        <p:spPr>
          <a:xfrm>
            <a:off x="274320" y="5349240"/>
            <a:ext cx="11640312" cy="914400"/>
          </a:xfrm>
          <a:prstGeom prst="roundRect">
            <a:avLst>
              <a:gd name="adj" fmla="val 8000"/>
            </a:avLst>
          </a:prstGeom>
          <a:solidFill>
            <a:srgbClr val="E8EBE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411480" y="5376672"/>
            <a:ext cx="11338560" cy="237744"/>
          </a:xfrm>
          <a:prstGeom prst="rect">
            <a:avLst/>
          </a:prstGeom>
          <a:noFill/>
        </p:spPr>
        <p:txBody>
          <a:bodyPr wrap="square" anchor="t" lIns="0" rIns="0" tIns="0" bIns="0"/>
          <a:lstStyle/>
          <a:p>
            <a:pPr algn="l">
              <a:lnSpc>
                <a:spcPct val="100000"/>
              </a:lnSpc>
              <a:spcBef>
                <a:spcPts val="0"/>
              </a:spcBef>
              <a:spcAft>
                <a:spcPts val="200"/>
              </a:spcAft>
            </a:pPr>
            <a:r>
              <a:rPr sz="1100" b="1" i="0">
                <a:solidFill>
                  <a:srgbClr val="1F3864"/>
                </a:solidFill>
                <a:latin typeface="Calibri"/>
              </a:rPr>
              <a:t>KEY RESEARCH INSIGHTS THAT SHAPED NILAMS</a:t>
            </a:r>
          </a:p>
        </p:txBody>
      </p:sp>
      <p:sp>
        <p:nvSpPr>
          <p:cNvPr id="17425" name="TextBox 17424"/>
          <p:cNvSpPr txBox="1"/>
          <p:nvPr/>
        </p:nvSpPr>
        <p:spPr>
          <a:xfrm>
            <a:off x="411480" y="5641848"/>
            <a:ext cx="5669280" cy="274320"/>
          </a:xfrm>
          <a:prstGeom prst="rect">
            <a:avLst/>
          </a:prstGeom>
          <a:noFill/>
        </p:spPr>
        <p:txBody>
          <a:bodyPr wrap="square" anchor="t" lIns="0" rIns="0" tIns="0" bIns="0"/>
          <a:lstStyle/>
          <a:p>
            <a:pPr algn="l">
              <a:lnSpc>
                <a:spcPct val="100000"/>
              </a:lnSpc>
              <a:spcBef>
                <a:spcPts val="0"/>
              </a:spcBef>
              <a:spcAft>
                <a:spcPts val="200"/>
              </a:spcAft>
            </a:pPr>
            <a:r>
              <a:rPr sz="960" b="1" i="0">
                <a:solidFill>
                  <a:srgbClr val="212121"/>
                </a:solidFill>
                <a:latin typeface="Calibri"/>
              </a:rPr>
              <a:t>◆ Only highways have a national LA portal (Bhoomi Rashi) </a:t>
            </a:r>
            <a:r>
              <a:rPr sz="960" b="1" i="0">
                <a:solidFill>
                  <a:srgbClr val="2E7D32"/>
                </a:solidFill>
                <a:latin typeface="Calibri"/>
              </a:rPr>
              <a:t>→ one cross-sector platform for all projects</a:t>
            </a:r>
          </a:p>
        </p:txBody>
      </p:sp>
      <p:sp>
        <p:nvSpPr>
          <p:cNvPr id="17426" name="TextBox 17425"/>
          <p:cNvSpPr txBox="1"/>
          <p:nvPr/>
        </p:nvSpPr>
        <p:spPr>
          <a:xfrm>
            <a:off x="6172200" y="5641848"/>
            <a:ext cx="5669280" cy="274320"/>
          </a:xfrm>
          <a:prstGeom prst="rect">
            <a:avLst/>
          </a:prstGeom>
          <a:noFill/>
        </p:spPr>
        <p:txBody>
          <a:bodyPr wrap="square" anchor="t" lIns="0" rIns="0" tIns="0" bIns="0"/>
          <a:lstStyle/>
          <a:p>
            <a:pPr algn="l">
              <a:lnSpc>
                <a:spcPct val="100000"/>
              </a:lnSpc>
              <a:spcBef>
                <a:spcPts val="0"/>
              </a:spcBef>
              <a:spcAft>
                <a:spcPts val="200"/>
              </a:spcAft>
            </a:pPr>
            <a:r>
              <a:rPr sz="960" b="1" i="0">
                <a:solidFill>
                  <a:srgbClr val="212121"/>
                </a:solidFill>
                <a:latin typeface="Calibri"/>
              </a:rPr>
              <a:t>◆ Infrastructure projects affect 3M+ of the 6.5M people in land conflicts </a:t>
            </a:r>
            <a:r>
              <a:rPr sz="960" b="1" i="0">
                <a:solidFill>
                  <a:srgbClr val="2E7D32"/>
                </a:solidFill>
                <a:latin typeface="Calibri"/>
              </a:rPr>
              <a:t>→ transparency &amp; grievance tracking</a:t>
            </a:r>
          </a:p>
        </p:txBody>
      </p:sp>
      <p:sp>
        <p:nvSpPr>
          <p:cNvPr id="17427" name="TextBox 17426"/>
          <p:cNvSpPr txBox="1"/>
          <p:nvPr/>
        </p:nvSpPr>
        <p:spPr>
          <a:xfrm>
            <a:off x="411480" y="5934456"/>
            <a:ext cx="5669280" cy="274320"/>
          </a:xfrm>
          <a:prstGeom prst="rect">
            <a:avLst/>
          </a:prstGeom>
          <a:noFill/>
        </p:spPr>
        <p:txBody>
          <a:bodyPr wrap="square" anchor="t" lIns="0" rIns="0" tIns="0" bIns="0"/>
          <a:lstStyle/>
          <a:p>
            <a:pPr algn="l">
              <a:lnSpc>
                <a:spcPct val="100000"/>
              </a:lnSpc>
              <a:spcBef>
                <a:spcPts val="0"/>
              </a:spcBef>
              <a:spcAft>
                <a:spcPts val="200"/>
              </a:spcAft>
            </a:pPr>
            <a:r>
              <a:rPr sz="960" b="1" i="0">
                <a:solidFill>
                  <a:srgbClr val="212121"/>
                </a:solidFill>
                <a:latin typeface="Calibri"/>
              </a:rPr>
              <a:t>◆ CAG: long delays &amp; non-transparent rates </a:t>
            </a:r>
            <a:r>
              <a:rPr sz="960" b="1" i="0">
                <a:solidFill>
                  <a:srgbClr val="2E7D32"/>
                </a:solidFill>
                <a:latin typeface="Calibri"/>
              </a:rPr>
              <a:t>→ statutory-deadline alerts + explainable compensation</a:t>
            </a:r>
          </a:p>
        </p:txBody>
      </p:sp>
      <p:sp>
        <p:nvSpPr>
          <p:cNvPr id="17428" name="TextBox 17427"/>
          <p:cNvSpPr txBox="1"/>
          <p:nvPr/>
        </p:nvSpPr>
        <p:spPr>
          <a:xfrm>
            <a:off x="6172200" y="5934456"/>
            <a:ext cx="5669280" cy="274320"/>
          </a:xfrm>
          <a:prstGeom prst="rect">
            <a:avLst/>
          </a:prstGeom>
          <a:noFill/>
        </p:spPr>
        <p:txBody>
          <a:bodyPr wrap="square" anchor="t" lIns="0" rIns="0" tIns="0" bIns="0"/>
          <a:lstStyle/>
          <a:p>
            <a:pPr algn="l">
              <a:lnSpc>
                <a:spcPct val="100000"/>
              </a:lnSpc>
              <a:spcBef>
                <a:spcPts val="0"/>
              </a:spcBef>
              <a:spcAft>
                <a:spcPts val="200"/>
              </a:spcAft>
            </a:pPr>
            <a:r>
              <a:rPr sz="960" b="1" i="0">
                <a:solidFill>
                  <a:srgbClr val="212121"/>
                </a:solidFill>
                <a:latin typeface="Calibri"/>
              </a:rPr>
              <a:t>◆ RFCTLARR protects non-titleholders too </a:t>
            </a:r>
            <a:r>
              <a:rPr sz="960" b="1" i="0">
                <a:solidFill>
                  <a:srgbClr val="2E7D32"/>
                </a:solidFill>
                <a:latin typeface="Calibri"/>
              </a:rPr>
              <a:t>→ a people-centric family &amp; entitlement register</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NILAMS – National Integrated Land Acquisition Management System | SIH 2026 PS 26016</dc:title>
  <dc:subject>Smart India Hackathon 2026 idea submission, Problem Statement 26016</dc:subject>
  <dc:creator>Team [Team Name]</dc:creator>
  <cp:keywords>NILAMS; land acquisition; RFCTLARR Act 2013; GIS; PostGIS; rehabilitation and resettlement; R&amp;R; compensation; national dashboard; MIS; RBAC; audit trail; predictive analytics; ULPIN; PFMS; e-Gazette; DigiLocker; Bhashini; SIH 2026; PS 26016</cp:keywords>
  <dc:description/>
  <cp:lastModifiedBy>AICTE</cp:lastModifiedBy>
  <cp:revision>148</cp:revision>
  <dcterms:created xsi:type="dcterms:W3CDTF">2013-12-12T18:46:50Z</dcterms:created>
  <dcterms:modified xsi:type="dcterms:W3CDTF">2026-06-02T09:29:39Z</dcterms:modified>
  <cp:category/>
</cp:coreProperties>
</file>