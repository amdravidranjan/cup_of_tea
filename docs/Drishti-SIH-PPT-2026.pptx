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Trade Gothic Condensed Bold" charset="1" panose="020B0806040303020004"/>
      <p:regular r:id="rId18"/>
    </p:embeddedFont>
    <p:embeddedFont>
      <p:font typeface="Times New Roman Bold" charset="1" panose="02020803070505020304"/>
      <p:regular r:id="rId19"/>
    </p:embeddedFont>
    <p:embeddedFont>
      <p:font typeface="Times New Roman" charset="1" panose="02020603050405020304"/>
      <p:regular r:id="rId20"/>
    </p:embeddedFont>
    <p:embeddedFont>
      <p:font typeface="Trade Gothic Condensed" charset="1" panose="020B0506040303020004"/>
      <p:regular r:id="rId21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22.svg" Type="http://schemas.openxmlformats.org/officeDocument/2006/relationships/image"/><Relationship Id="rId21" Target="../media/image23.png" Type="http://schemas.openxmlformats.org/officeDocument/2006/relationships/image"/><Relationship Id="rId22" Target="../media/image24.svg" Type="http://schemas.openxmlformats.org/officeDocument/2006/relationships/image"/><Relationship Id="rId23" Target="../media/image25.png" Type="http://schemas.openxmlformats.org/officeDocument/2006/relationships/image"/><Relationship Id="rId24" Target="../media/image26.svg" Type="http://schemas.openxmlformats.org/officeDocument/2006/relationships/image"/><Relationship Id="rId25" Target="../media/image27.png" Type="http://schemas.openxmlformats.org/officeDocument/2006/relationships/image"/><Relationship Id="rId26" Target="../media/image28.png" Type="http://schemas.openxmlformats.org/officeDocument/2006/relationships/image"/><Relationship Id="rId27" Target="../media/image29.svg" Type="http://schemas.openxmlformats.org/officeDocument/2006/relationships/image"/><Relationship Id="rId28" Target="../media/image30.png" Type="http://schemas.openxmlformats.org/officeDocument/2006/relationships/image"/><Relationship Id="rId29" Target="../media/image31.svg" Type="http://schemas.openxmlformats.org/officeDocument/2006/relationships/image"/><Relationship Id="rId3" Target="../media/image4.jpeg" Type="http://schemas.openxmlformats.org/officeDocument/2006/relationships/image"/><Relationship Id="rId30" Target="../media/image32.png" Type="http://schemas.openxmlformats.org/officeDocument/2006/relationships/image"/><Relationship Id="rId31" Target="../media/image33.svg" Type="http://schemas.openxmlformats.org/officeDocument/2006/relationships/image"/><Relationship Id="rId32" Target="../media/image34.png" Type="http://schemas.openxmlformats.org/officeDocument/2006/relationships/image"/><Relationship Id="rId33" Target="../media/image35.svg" Type="http://schemas.openxmlformats.org/officeDocument/2006/relationships/image"/><Relationship Id="rId34" Target="../media/image36.png" Type="http://schemas.openxmlformats.org/officeDocument/2006/relationships/image"/><Relationship Id="rId35" Target="../media/image37.svg" Type="http://schemas.openxmlformats.org/officeDocument/2006/relationships/image"/><Relationship Id="rId36" Target="../media/image38.png" Type="http://schemas.openxmlformats.org/officeDocument/2006/relationships/image"/><Relationship Id="rId37" Target="../media/image39.svg" Type="http://schemas.openxmlformats.org/officeDocument/2006/relationships/image"/><Relationship Id="rId38" Target="../media/image40.png" Type="http://schemas.openxmlformats.org/officeDocument/2006/relationships/image"/><Relationship Id="rId39" Target="../media/image41.svg" Type="http://schemas.openxmlformats.org/officeDocument/2006/relationships/image"/><Relationship Id="rId4" Target="../media/image5.png" Type="http://schemas.openxmlformats.org/officeDocument/2006/relationships/image"/><Relationship Id="rId40" Target="../media/image42.png" Type="http://schemas.openxmlformats.org/officeDocument/2006/relationships/image"/><Relationship Id="rId41" Target="../media/image43.svg" Type="http://schemas.openxmlformats.org/officeDocument/2006/relationships/image"/><Relationship Id="rId42" Target="../media/image44.png" Type="http://schemas.openxmlformats.org/officeDocument/2006/relationships/image"/><Relationship Id="rId43" Target="../media/image45.svg" Type="http://schemas.openxmlformats.org/officeDocument/2006/relationships/image"/><Relationship Id="rId44" Target="../media/image46.png" Type="http://schemas.openxmlformats.org/officeDocument/2006/relationships/image"/><Relationship Id="rId45" Target="../media/image47.svg" Type="http://schemas.openxmlformats.org/officeDocument/2006/relationships/image"/><Relationship Id="rId46" Target="../media/image48.png" Type="http://schemas.openxmlformats.org/officeDocument/2006/relationships/image"/><Relationship Id="rId47" Target="../media/image49.svg" Type="http://schemas.openxmlformats.org/officeDocument/2006/relationships/image"/><Relationship Id="rId48" Target="../media/image50.png" Type="http://schemas.openxmlformats.org/officeDocument/2006/relationships/image"/><Relationship Id="rId49" Target="../media/image51.svg" Type="http://schemas.openxmlformats.org/officeDocument/2006/relationships/image"/><Relationship Id="rId5" Target="../media/image7.png" Type="http://schemas.openxmlformats.org/officeDocument/2006/relationships/image"/><Relationship Id="rId50" Target="../media/image52.png" Type="http://schemas.openxmlformats.org/officeDocument/2006/relationships/image"/><Relationship Id="rId51" Target="../media/image53.svg" Type="http://schemas.openxmlformats.org/officeDocument/2006/relationships/image"/><Relationship Id="rId52" Target="../media/image54.png" Type="http://schemas.openxmlformats.org/officeDocument/2006/relationships/image"/><Relationship Id="rId53" Target="../media/image55.svg" Type="http://schemas.openxmlformats.org/officeDocument/2006/relationships/image"/><Relationship Id="rId54" Target="../media/image56.png" Type="http://schemas.openxmlformats.org/officeDocument/2006/relationships/image"/><Relationship Id="rId55" Target="../media/image57.svg" Type="http://schemas.openxmlformats.org/officeDocument/2006/relationships/image"/><Relationship Id="rId56" Target="../media/image58.png" Type="http://schemas.openxmlformats.org/officeDocument/2006/relationships/image"/><Relationship Id="rId57" Target="../media/image59.svg" Type="http://schemas.openxmlformats.org/officeDocument/2006/relationships/image"/><Relationship Id="rId58" Target="../media/image60.png" Type="http://schemas.openxmlformats.org/officeDocument/2006/relationships/image"/><Relationship Id="rId59" Target="../media/image61.svg" Type="http://schemas.openxmlformats.org/officeDocument/2006/relationships/image"/><Relationship Id="rId6" Target="../media/image8.svg" Type="http://schemas.openxmlformats.org/officeDocument/2006/relationships/image"/><Relationship Id="rId60" Target="../media/image62.png" Type="http://schemas.openxmlformats.org/officeDocument/2006/relationships/image"/><Relationship Id="rId61" Target="../media/image63.svg" Type="http://schemas.openxmlformats.org/officeDocument/2006/relationships/image"/><Relationship Id="rId62" Target="../media/image64.png" Type="http://schemas.openxmlformats.org/officeDocument/2006/relationships/image"/><Relationship Id="rId63" Target="../media/image65.svg" Type="http://schemas.openxmlformats.org/officeDocument/2006/relationships/image"/><Relationship Id="rId64" Target="../media/image66.png" Type="http://schemas.openxmlformats.org/officeDocument/2006/relationships/image"/><Relationship Id="rId65" Target="../media/image67.svg" Type="http://schemas.openxmlformats.org/officeDocument/2006/relationships/image"/><Relationship Id="rId66" Target="../media/image68.png" Type="http://schemas.openxmlformats.org/officeDocument/2006/relationships/image"/><Relationship Id="rId67" Target="../media/image69.svg" Type="http://schemas.openxmlformats.org/officeDocument/2006/relationships/image"/><Relationship Id="rId68" Target="../media/image70.png" Type="http://schemas.openxmlformats.org/officeDocument/2006/relationships/image"/><Relationship Id="rId69" Target="../media/image71.svg" Type="http://schemas.openxmlformats.org/officeDocument/2006/relationships/image"/><Relationship Id="rId7" Target="../media/image9.png" Type="http://schemas.openxmlformats.org/officeDocument/2006/relationships/image"/><Relationship Id="rId70" Target="../media/image72.png" Type="http://schemas.openxmlformats.org/officeDocument/2006/relationships/image"/><Relationship Id="rId71" Target="../media/image73.svg" Type="http://schemas.openxmlformats.org/officeDocument/2006/relationships/image"/><Relationship Id="rId72" Target="../media/image74.png" Type="http://schemas.openxmlformats.org/officeDocument/2006/relationships/image"/><Relationship Id="rId73" Target="../media/image75.svg" Type="http://schemas.openxmlformats.org/officeDocument/2006/relationships/image"/><Relationship Id="rId74" Target="../media/image76.png" Type="http://schemas.openxmlformats.org/officeDocument/2006/relationships/image"/><Relationship Id="rId75" Target="../media/image77.svg" Type="http://schemas.openxmlformats.org/officeDocument/2006/relationships/image"/><Relationship Id="rId76" Target="../media/image78.png" Type="http://schemas.openxmlformats.org/officeDocument/2006/relationships/image"/><Relationship Id="rId77" Target="../media/image79.svg" Type="http://schemas.openxmlformats.org/officeDocument/2006/relationships/image"/><Relationship Id="rId78" Target="../media/image80.png" Type="http://schemas.openxmlformats.org/officeDocument/2006/relationships/image"/><Relationship Id="rId79" Target="../media/image81.svg" Type="http://schemas.openxmlformats.org/officeDocument/2006/relationships/image"/><Relationship Id="rId8" Target="../media/image10.svg" Type="http://schemas.openxmlformats.org/officeDocument/2006/relationships/image"/><Relationship Id="rId80" Target="../media/image82.png" Type="http://schemas.openxmlformats.org/officeDocument/2006/relationships/image"/><Relationship Id="rId81" Target="../media/image83.svg" Type="http://schemas.openxmlformats.org/officeDocument/2006/relationships/image"/><Relationship Id="rId82" Target="../media/image84.png" Type="http://schemas.openxmlformats.org/officeDocument/2006/relationships/image"/><Relationship Id="rId83" Target="../media/image85.svg" Type="http://schemas.openxmlformats.org/officeDocument/2006/relationships/image"/><Relationship Id="rId84" Target="../media/image86.png" Type="http://schemas.openxmlformats.org/officeDocument/2006/relationships/image"/><Relationship Id="rId85" Target="../media/image87.svg" Type="http://schemas.openxmlformats.org/officeDocument/2006/relationships/image"/><Relationship Id="rId86" Target="../media/image88.png" Type="http://schemas.openxmlformats.org/officeDocument/2006/relationships/image"/><Relationship Id="rId87" Target="../media/image89.svg" Type="http://schemas.openxmlformats.org/officeDocument/2006/relationships/image"/><Relationship Id="rId88" Target="../media/image90.png" Type="http://schemas.openxmlformats.org/officeDocument/2006/relationships/image"/><Relationship Id="rId89" Target="../media/image91.svg" Type="http://schemas.openxmlformats.org/officeDocument/2006/relationships/image"/><Relationship Id="rId9" Target="../media/image11.png" Type="http://schemas.openxmlformats.org/officeDocument/2006/relationships/image"/><Relationship Id="rId90" Target="../media/image92.png" Type="http://schemas.openxmlformats.org/officeDocument/2006/relationships/image"/><Relationship Id="rId91" Target="../media/image93.svg" Type="http://schemas.openxmlformats.org/officeDocument/2006/relationships/image"/><Relationship Id="rId9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png" Type="http://schemas.openxmlformats.org/officeDocument/2006/relationships/image"/><Relationship Id="rId11" Target="../media/image100.png" Type="http://schemas.openxmlformats.org/officeDocument/2006/relationships/image"/><Relationship Id="rId12" Target="../media/image101.png" Type="http://schemas.openxmlformats.org/officeDocument/2006/relationships/image"/><Relationship Id="rId13" Target="../media/image102.png" Type="http://schemas.openxmlformats.org/officeDocument/2006/relationships/image"/><Relationship Id="rId14" Target="../media/image103.png" Type="http://schemas.openxmlformats.org/officeDocument/2006/relationships/image"/><Relationship Id="rId15" Target="../media/image104.png" Type="http://schemas.openxmlformats.org/officeDocument/2006/relationships/image"/><Relationship Id="rId16" Target="../media/image105.png" Type="http://schemas.openxmlformats.org/officeDocument/2006/relationships/image"/><Relationship Id="rId17" Target="../media/image106.svg" Type="http://schemas.openxmlformats.org/officeDocument/2006/relationships/image"/><Relationship Id="rId18" Target="../media/image107.png" Type="http://schemas.openxmlformats.org/officeDocument/2006/relationships/image"/><Relationship Id="rId19" Target="../media/image108.sv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109.png" Type="http://schemas.openxmlformats.org/officeDocument/2006/relationships/image"/><Relationship Id="rId21" Target="../media/image110.svg" Type="http://schemas.openxmlformats.org/officeDocument/2006/relationships/image"/><Relationship Id="rId22" Target="../media/image111.png" Type="http://schemas.openxmlformats.org/officeDocument/2006/relationships/image"/><Relationship Id="rId23" Target="../media/image112.svg" Type="http://schemas.openxmlformats.org/officeDocument/2006/relationships/image"/><Relationship Id="rId24" Target="../media/image113.png" Type="http://schemas.openxmlformats.org/officeDocument/2006/relationships/image"/><Relationship Id="rId25" Target="../media/image114.svg" Type="http://schemas.openxmlformats.org/officeDocument/2006/relationships/image"/><Relationship Id="rId26" Target="../media/image115.png" Type="http://schemas.openxmlformats.org/officeDocument/2006/relationships/image"/><Relationship Id="rId27" Target="../media/image116.svg" Type="http://schemas.openxmlformats.org/officeDocument/2006/relationships/image"/><Relationship Id="rId28" Target="../media/image117.png" Type="http://schemas.openxmlformats.org/officeDocument/2006/relationships/image"/><Relationship Id="rId29" Target="../media/image118.svg" Type="http://schemas.openxmlformats.org/officeDocument/2006/relationships/image"/><Relationship Id="rId3" Target="../media/image4.jpeg" Type="http://schemas.openxmlformats.org/officeDocument/2006/relationships/image"/><Relationship Id="rId30" Target="../media/image119.png" Type="http://schemas.openxmlformats.org/officeDocument/2006/relationships/image"/><Relationship Id="rId31" Target="../media/image120.svg" Type="http://schemas.openxmlformats.org/officeDocument/2006/relationships/image"/><Relationship Id="rId32" Target="../media/image121.png" Type="http://schemas.openxmlformats.org/officeDocument/2006/relationships/image"/><Relationship Id="rId33" Target="../media/image122.svg" Type="http://schemas.openxmlformats.org/officeDocument/2006/relationships/image"/><Relationship Id="rId34" Target="../media/image123.png" Type="http://schemas.openxmlformats.org/officeDocument/2006/relationships/image"/><Relationship Id="rId35" Target="../media/image124.svg" Type="http://schemas.openxmlformats.org/officeDocument/2006/relationships/image"/><Relationship Id="rId36" Target="../media/image125.png" Type="http://schemas.openxmlformats.org/officeDocument/2006/relationships/image"/><Relationship Id="rId37" Target="../media/image126.svg" Type="http://schemas.openxmlformats.org/officeDocument/2006/relationships/image"/><Relationship Id="rId38" Target="../media/image127.png" Type="http://schemas.openxmlformats.org/officeDocument/2006/relationships/image"/><Relationship Id="rId39" Target="../media/image128.svg" Type="http://schemas.openxmlformats.org/officeDocument/2006/relationships/image"/><Relationship Id="rId4" Target="../media/image5.png" Type="http://schemas.openxmlformats.org/officeDocument/2006/relationships/image"/><Relationship Id="rId40" Target="../media/image129.png" Type="http://schemas.openxmlformats.org/officeDocument/2006/relationships/image"/><Relationship Id="rId41" Target="../media/image130.svg" Type="http://schemas.openxmlformats.org/officeDocument/2006/relationships/image"/><Relationship Id="rId42" Target="../media/image131.png" Type="http://schemas.openxmlformats.org/officeDocument/2006/relationships/image"/><Relationship Id="rId43" Target="../media/image132.svg" Type="http://schemas.openxmlformats.org/officeDocument/2006/relationships/image"/><Relationship Id="rId44" Target="../media/image133.png" Type="http://schemas.openxmlformats.org/officeDocument/2006/relationships/image"/><Relationship Id="rId45" Target="../media/image134.png" Type="http://schemas.openxmlformats.org/officeDocument/2006/relationships/image"/><Relationship Id="rId46" Target="../media/image135.svg" Type="http://schemas.openxmlformats.org/officeDocument/2006/relationships/image"/><Relationship Id="rId47" Target="../media/image136.png" Type="http://schemas.openxmlformats.org/officeDocument/2006/relationships/image"/><Relationship Id="rId48" Target="../media/image137.svg" Type="http://schemas.openxmlformats.org/officeDocument/2006/relationships/image"/><Relationship Id="rId49" Target="../media/image138.png" Type="http://schemas.openxmlformats.org/officeDocument/2006/relationships/image"/><Relationship Id="rId5" Target="../media/image94.png" Type="http://schemas.openxmlformats.org/officeDocument/2006/relationships/image"/><Relationship Id="rId50" Target="../media/image139.svg" Type="http://schemas.openxmlformats.org/officeDocument/2006/relationships/image"/><Relationship Id="rId51" Target="../media/image6.png" Type="http://schemas.openxmlformats.org/officeDocument/2006/relationships/image"/><Relationship Id="rId52" Target="../media/image140.png" Type="http://schemas.openxmlformats.org/officeDocument/2006/relationships/image"/><Relationship Id="rId6" Target="../media/image95.png" Type="http://schemas.openxmlformats.org/officeDocument/2006/relationships/image"/><Relationship Id="rId7" Target="../media/image96.png" Type="http://schemas.openxmlformats.org/officeDocument/2006/relationships/image"/><Relationship Id="rId8" Target="../media/image97.png" Type="http://schemas.openxmlformats.org/officeDocument/2006/relationships/image"/><Relationship Id="rId9" Target="../media/image9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5.svg" Type="http://schemas.openxmlformats.org/officeDocument/2006/relationships/image"/><Relationship Id="rId11" Target="../media/image146.png" Type="http://schemas.openxmlformats.org/officeDocument/2006/relationships/image"/><Relationship Id="rId12" Target="../media/image147.svg" Type="http://schemas.openxmlformats.org/officeDocument/2006/relationships/image"/><Relationship Id="rId13" Target="../media/image148.png" Type="http://schemas.openxmlformats.org/officeDocument/2006/relationships/image"/><Relationship Id="rId14" Target="../media/image149.svg" Type="http://schemas.openxmlformats.org/officeDocument/2006/relationships/image"/><Relationship Id="rId15" Target="../media/image150.png" Type="http://schemas.openxmlformats.org/officeDocument/2006/relationships/image"/><Relationship Id="rId16" Target="../media/image151.svg" Type="http://schemas.openxmlformats.org/officeDocument/2006/relationships/image"/><Relationship Id="rId17" Target="../media/image152.png" Type="http://schemas.openxmlformats.org/officeDocument/2006/relationships/image"/><Relationship Id="rId18" Target="../media/image153.svg" Type="http://schemas.openxmlformats.org/officeDocument/2006/relationships/image"/><Relationship Id="rId19" Target="../media/image154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155.svg" Type="http://schemas.openxmlformats.org/officeDocument/2006/relationships/image"/><Relationship Id="rId21" Target="../media/image156.png" Type="http://schemas.openxmlformats.org/officeDocument/2006/relationships/image"/><Relationship Id="rId22" Target="../media/image157.svg" Type="http://schemas.openxmlformats.org/officeDocument/2006/relationships/image"/><Relationship Id="rId23" Target="../media/image158.png" Type="http://schemas.openxmlformats.org/officeDocument/2006/relationships/image"/><Relationship Id="rId24" Target="../media/image159.svg" Type="http://schemas.openxmlformats.org/officeDocument/2006/relationships/image"/><Relationship Id="rId25" Target="../media/image160.png" Type="http://schemas.openxmlformats.org/officeDocument/2006/relationships/image"/><Relationship Id="rId26" Target="../embeddings/oleObject1.bin" Type="http://schemas.openxmlformats.org/officeDocument/2006/relationships/oleObject"/><Relationship Id="rId27" Target="../media/image161.png" Type="http://schemas.openxmlformats.org/officeDocument/2006/relationships/image"/><Relationship Id="rId28" Target="../embeddings/oleObject2.bin" Type="http://schemas.openxmlformats.org/officeDocument/2006/relationships/oleObject"/><Relationship Id="rId29" Target="../media/image162.png" Type="http://schemas.openxmlformats.org/officeDocument/2006/relationships/image"/><Relationship Id="rId3" Target="../media/image6.png" Type="http://schemas.openxmlformats.org/officeDocument/2006/relationships/image"/><Relationship Id="rId30" Target="../media/image163.png" Type="http://schemas.openxmlformats.org/officeDocument/2006/relationships/image"/><Relationship Id="rId31" Target="../media/image164.svg" Type="http://schemas.openxmlformats.org/officeDocument/2006/relationships/image"/><Relationship Id="rId32" Target="../media/image165.png" Type="http://schemas.openxmlformats.org/officeDocument/2006/relationships/image"/><Relationship Id="rId33" Target="../media/image166.png" Type="http://schemas.openxmlformats.org/officeDocument/2006/relationships/image"/><Relationship Id="rId34" Target="../media/image167.svg" Type="http://schemas.openxmlformats.org/officeDocument/2006/relationships/image"/><Relationship Id="rId35" Target="../media/image168.png" Type="http://schemas.openxmlformats.org/officeDocument/2006/relationships/image"/><Relationship Id="rId36" Target="../media/image169.svg" Type="http://schemas.openxmlformats.org/officeDocument/2006/relationships/image"/><Relationship Id="rId37" Target="../media/image170.png" Type="http://schemas.openxmlformats.org/officeDocument/2006/relationships/image"/><Relationship Id="rId38" Target="../media/image171.svg" Type="http://schemas.openxmlformats.org/officeDocument/2006/relationships/image"/><Relationship Id="rId39" Target="../media/image172.png" Type="http://schemas.openxmlformats.org/officeDocument/2006/relationships/image"/><Relationship Id="rId4" Target="../media/image4.jpeg" Type="http://schemas.openxmlformats.org/officeDocument/2006/relationships/image"/><Relationship Id="rId40" Target="../media/image173.png" Type="http://schemas.openxmlformats.org/officeDocument/2006/relationships/image"/><Relationship Id="rId41" Target="../media/image174.svg" Type="http://schemas.openxmlformats.org/officeDocument/2006/relationships/image"/><Relationship Id="rId42" Target="../media/image175.png" Type="http://schemas.openxmlformats.org/officeDocument/2006/relationships/image"/><Relationship Id="rId43" Target="../media/image176.svg" Type="http://schemas.openxmlformats.org/officeDocument/2006/relationships/image"/><Relationship Id="rId5" Target="../media/image5.png" Type="http://schemas.openxmlformats.org/officeDocument/2006/relationships/image"/><Relationship Id="rId6" Target="../media/image141.png" Type="http://schemas.openxmlformats.org/officeDocument/2006/relationships/image"/><Relationship Id="rId7" Target="../media/image142.png" Type="http://schemas.openxmlformats.org/officeDocument/2006/relationships/image"/><Relationship Id="rId8" Target="../media/image143.png" Type="http://schemas.openxmlformats.org/officeDocument/2006/relationships/image"/><Relationship Id="rId9" Target="../media/image14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177.png" Type="http://schemas.openxmlformats.org/officeDocument/2006/relationships/image"/><Relationship Id="rId7" Target="../media/image17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5.png" Type="http://schemas.openxmlformats.org/officeDocument/2006/relationships/image"/><Relationship Id="rId11" Target="../media/image186.svg" Type="http://schemas.openxmlformats.org/officeDocument/2006/relationships/image"/><Relationship Id="rId12" Target="../media/image187.png" Type="http://schemas.openxmlformats.org/officeDocument/2006/relationships/image"/><Relationship Id="rId13" Target="../media/image188.svg" Type="http://schemas.openxmlformats.org/officeDocument/2006/relationships/image"/><Relationship Id="rId14" Target="../media/image6.png" Type="http://schemas.openxmlformats.org/officeDocument/2006/relationships/image"/><Relationship Id="rId2" Target="../media/image179.png" Type="http://schemas.openxmlformats.org/officeDocument/2006/relationships/image"/><Relationship Id="rId3" Target="../media/image180.png" Type="http://schemas.openxmlformats.org/officeDocument/2006/relationships/image"/><Relationship Id="rId4" Target="../embeddings/oleObject3.bin" Type="http://schemas.openxmlformats.org/officeDocument/2006/relationships/oleObject"/><Relationship Id="rId5" Target="../media/image5.png" Type="http://schemas.openxmlformats.org/officeDocument/2006/relationships/image"/><Relationship Id="rId6" Target="../media/image181.png" Type="http://schemas.openxmlformats.org/officeDocument/2006/relationships/image"/><Relationship Id="rId7" Target="../media/image182.png" Type="http://schemas.openxmlformats.org/officeDocument/2006/relationships/image"/><Relationship Id="rId8" Target="../media/image183.png" Type="http://schemas.openxmlformats.org/officeDocument/2006/relationships/image"/><Relationship Id="rId9" Target="../media/image18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9.png" Type="http://schemas.openxmlformats.org/officeDocument/2006/relationships/image"/><Relationship Id="rId11" Target="../media/image190.svg" Type="http://schemas.openxmlformats.org/officeDocument/2006/relationships/image"/><Relationship Id="rId12" Target="../media/image191.png" Type="http://schemas.openxmlformats.org/officeDocument/2006/relationships/image"/><Relationship Id="rId13" Target="../media/image192.svg" Type="http://schemas.openxmlformats.org/officeDocument/2006/relationships/image"/><Relationship Id="rId14" Target="../media/image6.png" Type="http://schemas.openxmlformats.org/officeDocument/2006/relationships/image"/><Relationship Id="rId15" Target="../media/image193.png" Type="http://schemas.openxmlformats.org/officeDocument/2006/relationships/image"/><Relationship Id="rId16" Target="../embeddings/oleObject4.bin" Type="http://schemas.openxmlformats.org/officeDocument/2006/relationships/oleObjec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https://rmets.onlinelibrary.wiley.com/doi/10.1002/gdj3.260" TargetMode="External" Type="http://schemas.openxmlformats.org/officeDocument/2006/relationships/hyperlink"/><Relationship Id="rId5" Target="https://ieeexplore.ieee.org/document/8771378" TargetMode="External" Type="http://schemas.openxmlformats.org/officeDocument/2006/relationships/hyperlink"/><Relationship Id="rId6" Target="https://arxiv.org/abs/2507.05595" TargetMode="External" Type="http://schemas.openxmlformats.org/officeDocument/2006/relationships/hyperlink"/><Relationship Id="rId7" Target="https://www.pib.gov.in/PressReleasePage.aspx?PRID=2243028&amp;reg=48&amp;lang=2" TargetMode="External" Type="http://schemas.openxmlformats.org/officeDocument/2006/relationships/hyperlink"/><Relationship Id="rId8" Target="https://iccc.niua.org/iccc/sector/use-case/815e6212def15fe76ed27cec7a393d59" TargetMode="External" Type="http://schemas.openxmlformats.org/officeDocument/2006/relationships/hyperlink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6929" y="2295963"/>
            <a:ext cx="9043606" cy="675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0"/>
              </a:lnSpc>
            </a:pPr>
          </a:p>
          <a:p>
            <a:pPr algn="just" marL="597218" indent="-298609" lvl="1">
              <a:lnSpc>
                <a:spcPts val="79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SIH26124</a:t>
            </a:r>
          </a:p>
          <a:p>
            <a:pPr algn="just" marL="597218" indent="-298609" lvl="1">
              <a:lnSpc>
                <a:spcPts val="396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AI-Powered Mobile Urban Intelligence Platform Using Public Transport Fleet</a:t>
            </a:r>
          </a:p>
          <a:p>
            <a:pPr algn="just" marL="597218" indent="-298609" lvl="1">
              <a:lnSpc>
                <a:spcPts val="79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Smart Automation</a:t>
            </a:r>
          </a:p>
          <a:p>
            <a:pPr algn="just" marL="597218" indent="-298609" lvl="1">
              <a:lnSpc>
                <a:spcPts val="79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597218" indent="-298609" lvl="1">
              <a:lnSpc>
                <a:spcPts val="79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P96</a:t>
            </a:r>
          </a:p>
          <a:p>
            <a:pPr algn="just" marL="597218" indent="-298609" lvl="1">
              <a:lnSpc>
                <a:spcPts val="79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portal)- Drishti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0" y="0"/>
            <a:ext cx="975942" cy="1227318"/>
          </a:xfrm>
          <a:custGeom>
            <a:avLst/>
            <a:gdLst/>
            <a:ahLst/>
            <a:cxnLst/>
            <a:rect r="r" b="b" t="t" l="l"/>
            <a:pathLst>
              <a:path h="1227318" w="975942">
                <a:moveTo>
                  <a:pt x="0" y="0"/>
                </a:moveTo>
                <a:lnTo>
                  <a:pt x="975942" y="0"/>
                </a:lnTo>
                <a:lnTo>
                  <a:pt x="975942" y="1227318"/>
                </a:lnTo>
                <a:lnTo>
                  <a:pt x="0" y="1227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3002" t="-68294" r="-93531" b="-5955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4525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76059" y="-188447"/>
            <a:ext cx="16459200" cy="1665014"/>
            <a:chOff x="0" y="0"/>
            <a:chExt cx="21945600" cy="222001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945600" cy="2220019"/>
              <a:chOff x="0" y="0"/>
              <a:chExt cx="21945600" cy="222001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945600" cy="2220019"/>
              </a:xfrm>
              <a:custGeom>
                <a:avLst/>
                <a:gdLst/>
                <a:ahLst/>
                <a:cxnLst/>
                <a:rect r="r" b="b" t="t" l="l"/>
                <a:pathLst>
                  <a:path h="2220019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2220019"/>
                    </a:lnTo>
                    <a:lnTo>
                      <a:pt x="0" y="222001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1129" r="0" b="-144101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21945600" cy="224859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679"/>
                  </a:lnSpc>
                </a:pPr>
                <a:r>
                  <a:rPr lang="en-US" b="true" sz="6399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DRISHTI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958299" y="1559206"/>
              <a:ext cx="14333803" cy="610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r>
                <a:rPr lang="en-US" sz="27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URNING EVERY BUS INTO A SENSOR FOR SMARTER CITIES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73955" y="2488792"/>
            <a:ext cx="9525" cy="28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5345949" y="2188719"/>
            <a:ext cx="7596142" cy="7129173"/>
            <a:chOff x="0" y="0"/>
            <a:chExt cx="2000630" cy="1877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00630" cy="1877642"/>
            </a:xfrm>
            <a:custGeom>
              <a:avLst/>
              <a:gdLst/>
              <a:ahLst/>
              <a:cxnLst/>
              <a:rect r="r" b="b" t="t" l="l"/>
              <a:pathLst>
                <a:path h="1877642" w="2000630">
                  <a:moveTo>
                    <a:pt x="75420" y="0"/>
                  </a:moveTo>
                  <a:lnTo>
                    <a:pt x="1925210" y="0"/>
                  </a:lnTo>
                  <a:cubicBezTo>
                    <a:pt x="1945212" y="0"/>
                    <a:pt x="1964396" y="7946"/>
                    <a:pt x="1978540" y="22090"/>
                  </a:cubicBezTo>
                  <a:cubicBezTo>
                    <a:pt x="1992684" y="36234"/>
                    <a:pt x="2000630" y="55417"/>
                    <a:pt x="2000630" y="75420"/>
                  </a:cubicBezTo>
                  <a:lnTo>
                    <a:pt x="2000630" y="1802222"/>
                  </a:lnTo>
                  <a:cubicBezTo>
                    <a:pt x="2000630" y="1822225"/>
                    <a:pt x="1992684" y="1841408"/>
                    <a:pt x="1978540" y="1855552"/>
                  </a:cubicBezTo>
                  <a:cubicBezTo>
                    <a:pt x="1964396" y="1869696"/>
                    <a:pt x="1945212" y="1877642"/>
                    <a:pt x="1925210" y="1877642"/>
                  </a:cubicBezTo>
                  <a:lnTo>
                    <a:pt x="75420" y="1877642"/>
                  </a:lnTo>
                  <a:cubicBezTo>
                    <a:pt x="55417" y="1877642"/>
                    <a:pt x="36234" y="1869696"/>
                    <a:pt x="22090" y="1855552"/>
                  </a:cubicBezTo>
                  <a:cubicBezTo>
                    <a:pt x="7946" y="1841408"/>
                    <a:pt x="0" y="1822225"/>
                    <a:pt x="0" y="1802222"/>
                  </a:cubicBezTo>
                  <a:lnTo>
                    <a:pt x="0" y="75420"/>
                  </a:lnTo>
                  <a:cubicBezTo>
                    <a:pt x="0" y="55417"/>
                    <a:pt x="7946" y="36234"/>
                    <a:pt x="22090" y="22090"/>
                  </a:cubicBezTo>
                  <a:cubicBezTo>
                    <a:pt x="36234" y="7946"/>
                    <a:pt x="55417" y="0"/>
                    <a:pt x="75420" y="0"/>
                  </a:cubicBezTo>
                  <a:close/>
                </a:path>
              </a:pathLst>
            </a:custGeom>
            <a:ln w="19050" cap="rnd">
              <a:solidFill>
                <a:srgbClr val="163D17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00630" cy="1915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258890" y="2188719"/>
            <a:ext cx="4786013" cy="7069581"/>
            <a:chOff x="0" y="0"/>
            <a:chExt cx="1260514" cy="18619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0514" cy="1861947"/>
            </a:xfrm>
            <a:custGeom>
              <a:avLst/>
              <a:gdLst/>
              <a:ahLst/>
              <a:cxnLst/>
              <a:rect r="r" b="b" t="t" l="l"/>
              <a:pathLst>
                <a:path h="1861947" w="1260514">
                  <a:moveTo>
                    <a:pt x="119703" y="0"/>
                  </a:moveTo>
                  <a:lnTo>
                    <a:pt x="1140810" y="0"/>
                  </a:lnTo>
                  <a:cubicBezTo>
                    <a:pt x="1172558" y="0"/>
                    <a:pt x="1203005" y="12612"/>
                    <a:pt x="1225453" y="35060"/>
                  </a:cubicBezTo>
                  <a:cubicBezTo>
                    <a:pt x="1247902" y="57509"/>
                    <a:pt x="1260514" y="87956"/>
                    <a:pt x="1260514" y="119703"/>
                  </a:cubicBezTo>
                  <a:lnTo>
                    <a:pt x="1260514" y="1742244"/>
                  </a:lnTo>
                  <a:cubicBezTo>
                    <a:pt x="1260514" y="1773991"/>
                    <a:pt x="1247902" y="1804438"/>
                    <a:pt x="1225453" y="1826887"/>
                  </a:cubicBezTo>
                  <a:cubicBezTo>
                    <a:pt x="1203005" y="1849336"/>
                    <a:pt x="1172558" y="1861947"/>
                    <a:pt x="1140810" y="1861947"/>
                  </a:cubicBezTo>
                  <a:lnTo>
                    <a:pt x="119703" y="1861947"/>
                  </a:lnTo>
                  <a:cubicBezTo>
                    <a:pt x="87956" y="1861947"/>
                    <a:pt x="57509" y="1849336"/>
                    <a:pt x="35060" y="1826887"/>
                  </a:cubicBezTo>
                  <a:cubicBezTo>
                    <a:pt x="12612" y="1804438"/>
                    <a:pt x="0" y="1773991"/>
                    <a:pt x="0" y="1742244"/>
                  </a:cubicBezTo>
                  <a:lnTo>
                    <a:pt x="0" y="119703"/>
                  </a:lnTo>
                  <a:cubicBezTo>
                    <a:pt x="0" y="87956"/>
                    <a:pt x="12612" y="57509"/>
                    <a:pt x="35060" y="35060"/>
                  </a:cubicBezTo>
                  <a:cubicBezTo>
                    <a:pt x="57509" y="12612"/>
                    <a:pt x="87956" y="0"/>
                    <a:pt x="119703" y="0"/>
                  </a:cubicBezTo>
                  <a:close/>
                </a:path>
              </a:pathLst>
            </a:custGeom>
            <a:ln w="19050" cap="rnd">
              <a:solidFill>
                <a:srgbClr val="1F497D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60514" cy="1900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3137" y="2188719"/>
            <a:ext cx="4786013" cy="7069581"/>
            <a:chOff x="0" y="0"/>
            <a:chExt cx="1260514" cy="18619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0514" cy="1861947"/>
            </a:xfrm>
            <a:custGeom>
              <a:avLst/>
              <a:gdLst/>
              <a:ahLst/>
              <a:cxnLst/>
              <a:rect r="r" b="b" t="t" l="l"/>
              <a:pathLst>
                <a:path h="1861947" w="1260514">
                  <a:moveTo>
                    <a:pt x="119703" y="0"/>
                  </a:moveTo>
                  <a:lnTo>
                    <a:pt x="1140810" y="0"/>
                  </a:lnTo>
                  <a:cubicBezTo>
                    <a:pt x="1172558" y="0"/>
                    <a:pt x="1203005" y="12612"/>
                    <a:pt x="1225453" y="35060"/>
                  </a:cubicBezTo>
                  <a:cubicBezTo>
                    <a:pt x="1247902" y="57509"/>
                    <a:pt x="1260514" y="87956"/>
                    <a:pt x="1260514" y="119703"/>
                  </a:cubicBezTo>
                  <a:lnTo>
                    <a:pt x="1260514" y="1742244"/>
                  </a:lnTo>
                  <a:cubicBezTo>
                    <a:pt x="1260514" y="1773991"/>
                    <a:pt x="1247902" y="1804438"/>
                    <a:pt x="1225453" y="1826887"/>
                  </a:cubicBezTo>
                  <a:cubicBezTo>
                    <a:pt x="1203005" y="1849336"/>
                    <a:pt x="1172558" y="1861947"/>
                    <a:pt x="1140810" y="1861947"/>
                  </a:cubicBezTo>
                  <a:lnTo>
                    <a:pt x="119703" y="1861947"/>
                  </a:lnTo>
                  <a:cubicBezTo>
                    <a:pt x="87956" y="1861947"/>
                    <a:pt x="57509" y="1849336"/>
                    <a:pt x="35060" y="1826887"/>
                  </a:cubicBezTo>
                  <a:cubicBezTo>
                    <a:pt x="12612" y="1804438"/>
                    <a:pt x="0" y="1773991"/>
                    <a:pt x="0" y="1742244"/>
                  </a:cubicBezTo>
                  <a:lnTo>
                    <a:pt x="0" y="119703"/>
                  </a:lnTo>
                  <a:cubicBezTo>
                    <a:pt x="0" y="87956"/>
                    <a:pt x="12612" y="57509"/>
                    <a:pt x="35060" y="35060"/>
                  </a:cubicBezTo>
                  <a:cubicBezTo>
                    <a:pt x="57509" y="12612"/>
                    <a:pt x="87956" y="0"/>
                    <a:pt x="119703" y="0"/>
                  </a:cubicBezTo>
                  <a:close/>
                </a:path>
              </a:pathLst>
            </a:custGeom>
            <a:ln w="19050" cap="rnd">
              <a:solidFill>
                <a:srgbClr val="C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60514" cy="19000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l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243137" y="2793570"/>
            <a:ext cx="4788479" cy="0"/>
          </a:xfrm>
          <a:prstGeom prst="line">
            <a:avLst/>
          </a:prstGeom>
          <a:ln cap="flat" w="19050">
            <a:solidFill>
              <a:srgbClr val="C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5368808" y="2793570"/>
            <a:ext cx="7566732" cy="3500"/>
          </a:xfrm>
          <a:prstGeom prst="line">
            <a:avLst/>
          </a:prstGeom>
          <a:ln cap="flat" w="19050">
            <a:solidFill>
              <a:srgbClr val="163D1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256416" y="2816120"/>
            <a:ext cx="4729163" cy="0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2626619" y="2797070"/>
            <a:ext cx="9525" cy="6461230"/>
          </a:xfrm>
          <a:prstGeom prst="line">
            <a:avLst/>
          </a:prstGeom>
          <a:ln cap="flat" w="19050">
            <a:solidFill>
              <a:srgbClr val="C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234305" y="4395505"/>
            <a:ext cx="4784628" cy="4139"/>
          </a:xfrm>
          <a:prstGeom prst="line">
            <a:avLst/>
          </a:prstGeom>
          <a:ln cap="flat" w="19050">
            <a:solidFill>
              <a:srgbClr val="C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246988" y="6003169"/>
            <a:ext cx="4784628" cy="4139"/>
          </a:xfrm>
          <a:prstGeom prst="line">
            <a:avLst/>
          </a:prstGeom>
          <a:ln cap="flat" w="19050">
            <a:solidFill>
              <a:srgbClr val="C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246988" y="7611790"/>
            <a:ext cx="4782163" cy="13763"/>
          </a:xfrm>
          <a:prstGeom prst="line">
            <a:avLst/>
          </a:prstGeom>
          <a:ln cap="flat" w="19050">
            <a:solidFill>
              <a:srgbClr val="C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376059" y="3268217"/>
            <a:ext cx="652641" cy="652641"/>
            <a:chOff x="0" y="0"/>
            <a:chExt cx="870188" cy="870188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870188" cy="870188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0000">
                  <a:alpha val="5098"/>
                </a:srgbClr>
              </a:solidFill>
              <a:ln w="9525" cap="sq">
                <a:solidFill>
                  <a:srgbClr val="9E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36390" y="200612"/>
              <a:ext cx="597408" cy="468965"/>
            </a:xfrm>
            <a:custGeom>
              <a:avLst/>
              <a:gdLst/>
              <a:ahLst/>
              <a:cxnLst/>
              <a:rect r="r" b="b" t="t" l="l"/>
              <a:pathLst>
                <a:path h="468965" w="597408">
                  <a:moveTo>
                    <a:pt x="0" y="0"/>
                  </a:moveTo>
                  <a:lnTo>
                    <a:pt x="597408" y="0"/>
                  </a:lnTo>
                  <a:lnTo>
                    <a:pt x="597408" y="468965"/>
                  </a:lnTo>
                  <a:lnTo>
                    <a:pt x="0" y="468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76059" y="4875869"/>
            <a:ext cx="652641" cy="652641"/>
            <a:chOff x="0" y="0"/>
            <a:chExt cx="870188" cy="87018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70188" cy="870188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0000">
                  <a:alpha val="5098"/>
                </a:srgbClr>
              </a:solidFill>
              <a:ln w="9525" cap="sq">
                <a:solidFill>
                  <a:srgbClr val="9E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4074" lIns="34074" bIns="34074" rIns="34074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84124" y="294706"/>
              <a:ext cx="701941" cy="280776"/>
            </a:xfrm>
            <a:custGeom>
              <a:avLst/>
              <a:gdLst/>
              <a:ahLst/>
              <a:cxnLst/>
              <a:rect r="r" b="b" t="t" l="l"/>
              <a:pathLst>
                <a:path h="280776" w="701941">
                  <a:moveTo>
                    <a:pt x="0" y="0"/>
                  </a:moveTo>
                  <a:lnTo>
                    <a:pt x="701940" y="0"/>
                  </a:lnTo>
                  <a:lnTo>
                    <a:pt x="701940" y="280776"/>
                  </a:lnTo>
                  <a:lnTo>
                    <a:pt x="0" y="280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76059" y="6481967"/>
            <a:ext cx="652641" cy="65264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0000">
                <a:alpha val="5098"/>
              </a:srgbClr>
            </a:solidFill>
            <a:ln w="9525" cap="sq">
              <a:solidFill>
                <a:srgbClr val="9E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774520" y="3278916"/>
            <a:ext cx="652641" cy="65264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0000">
                <a:alpha val="5098"/>
              </a:srgbClr>
            </a:solidFill>
            <a:ln w="9525" cap="sq">
              <a:solidFill>
                <a:srgbClr val="9E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774520" y="4913969"/>
            <a:ext cx="652641" cy="652641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0000">
                <a:alpha val="5098"/>
              </a:srgbClr>
            </a:solidFill>
            <a:ln w="9525" cap="sq">
              <a:solidFill>
                <a:srgbClr val="9E000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779019" y="6520067"/>
            <a:ext cx="652641" cy="65264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0000">
                <a:alpha val="5098"/>
              </a:srgbClr>
            </a:solidFill>
            <a:ln w="9525" cap="sq">
              <a:solidFill>
                <a:srgbClr val="9E000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2904157" y="6637908"/>
            <a:ext cx="402365" cy="416959"/>
          </a:xfrm>
          <a:custGeom>
            <a:avLst/>
            <a:gdLst/>
            <a:ahLst/>
            <a:cxnLst/>
            <a:rect r="r" b="b" t="t" l="l"/>
            <a:pathLst>
              <a:path h="416959" w="402365">
                <a:moveTo>
                  <a:pt x="0" y="0"/>
                </a:moveTo>
                <a:lnTo>
                  <a:pt x="402365" y="0"/>
                </a:lnTo>
                <a:lnTo>
                  <a:pt x="402365" y="416959"/>
                </a:lnTo>
                <a:lnTo>
                  <a:pt x="0" y="4169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376059" y="7764190"/>
            <a:ext cx="2110629" cy="976535"/>
            <a:chOff x="0" y="0"/>
            <a:chExt cx="2814172" cy="1302047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431859"/>
              <a:ext cx="870188" cy="870188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0000">
                  <a:alpha val="5098"/>
                </a:srgbClr>
              </a:solidFill>
              <a:ln w="9525" cap="sq">
                <a:solidFill>
                  <a:srgbClr val="9E0000"/>
                </a:solidFill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4074" lIns="34074" bIns="34074" rIns="34074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202769" y="657802"/>
              <a:ext cx="464650" cy="418185"/>
            </a:xfrm>
            <a:custGeom>
              <a:avLst/>
              <a:gdLst/>
              <a:ahLst/>
              <a:cxnLst/>
              <a:rect r="r" b="b" t="t" l="l"/>
              <a:pathLst>
                <a:path h="418185" w="464650">
                  <a:moveTo>
                    <a:pt x="0" y="0"/>
                  </a:moveTo>
                  <a:lnTo>
                    <a:pt x="464650" y="0"/>
                  </a:lnTo>
                  <a:lnTo>
                    <a:pt x="464650" y="418184"/>
                  </a:lnTo>
                  <a:lnTo>
                    <a:pt x="0" y="418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 rot="0">
              <a:off x="202769" y="-28575"/>
              <a:ext cx="2568947" cy="2699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39"/>
                </a:lnSpc>
                <a:spcBef>
                  <a:spcPct val="0"/>
                </a:spcBef>
              </a:pPr>
              <a:r>
                <a:rPr lang="en-US" b="true" sz="1200" u="sng">
                  <a:solidFill>
                    <a:srgbClr val="9E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Missing / Unsafe Infrastructure: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044063" y="409754"/>
              <a:ext cx="1770109" cy="892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20"/>
                </a:lnSpc>
                <a:spcBef>
                  <a:spcPct val="0"/>
                </a:spcBef>
              </a:pPr>
              <a:r>
                <a:rPr lang="en-US" sz="1100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Missing</a:t>
              </a:r>
              <a:r>
                <a:rPr lang="en-US" b="true" sz="1100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 dividers, </a:t>
              </a:r>
              <a:r>
                <a:rPr lang="en-US" sz="1100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faded</a:t>
              </a:r>
              <a:r>
                <a:rPr lang="en-US" b="true" sz="1100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 zebra crossings, </a:t>
              </a:r>
              <a:r>
                <a:rPr lang="en-US" sz="1100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damaged </a:t>
              </a:r>
              <a:r>
                <a:rPr lang="en-US" b="true" sz="1100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signs → </a:t>
              </a:r>
              <a:r>
                <a:rPr lang="en-US" sz="1100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increase risk for pedestrians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774520" y="8097610"/>
            <a:ext cx="652641" cy="652641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0000">
                <a:alpha val="5098"/>
              </a:srgbClr>
            </a:solidFill>
            <a:ln w="9525" cap="sq">
              <a:solidFill>
                <a:srgbClr val="9E0000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928191" y="8270699"/>
            <a:ext cx="354297" cy="311315"/>
            <a:chOff x="0" y="0"/>
            <a:chExt cx="472396" cy="41508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81880" cy="415087"/>
            </a:xfrm>
            <a:custGeom>
              <a:avLst/>
              <a:gdLst/>
              <a:ahLst/>
              <a:cxnLst/>
              <a:rect r="r" b="b" t="t" l="l"/>
              <a:pathLst>
                <a:path h="415087" w="381880">
                  <a:moveTo>
                    <a:pt x="0" y="0"/>
                  </a:moveTo>
                  <a:lnTo>
                    <a:pt x="381880" y="0"/>
                  </a:lnTo>
                  <a:lnTo>
                    <a:pt x="381880" y="415087"/>
                  </a:lnTo>
                  <a:lnTo>
                    <a:pt x="0" y="415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350971" y="29108"/>
              <a:ext cx="121425" cy="197439"/>
            </a:xfrm>
            <a:custGeom>
              <a:avLst/>
              <a:gdLst/>
              <a:ahLst/>
              <a:cxnLst/>
              <a:rect r="r" b="b" t="t" l="l"/>
              <a:pathLst>
                <a:path h="197439" w="121425">
                  <a:moveTo>
                    <a:pt x="0" y="0"/>
                  </a:moveTo>
                  <a:lnTo>
                    <a:pt x="121425" y="0"/>
                  </a:lnTo>
                  <a:lnTo>
                    <a:pt x="121425" y="197439"/>
                  </a:lnTo>
                  <a:lnTo>
                    <a:pt x="0" y="197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1431373" y="2288337"/>
            <a:ext cx="373578" cy="349296"/>
          </a:xfrm>
          <a:custGeom>
            <a:avLst/>
            <a:gdLst/>
            <a:ahLst/>
            <a:cxnLst/>
            <a:rect r="r" b="b" t="t" l="l"/>
            <a:pathLst>
              <a:path h="349296" w="373578">
                <a:moveTo>
                  <a:pt x="0" y="0"/>
                </a:moveTo>
                <a:lnTo>
                  <a:pt x="373579" y="0"/>
                </a:lnTo>
                <a:lnTo>
                  <a:pt x="373579" y="349296"/>
                </a:lnTo>
                <a:lnTo>
                  <a:pt x="0" y="349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519914" y="6618219"/>
            <a:ext cx="364931" cy="380136"/>
          </a:xfrm>
          <a:custGeom>
            <a:avLst/>
            <a:gdLst/>
            <a:ahLst/>
            <a:cxnLst/>
            <a:rect r="r" b="b" t="t" l="l"/>
            <a:pathLst>
              <a:path h="380136" w="364931">
                <a:moveTo>
                  <a:pt x="0" y="0"/>
                </a:moveTo>
                <a:lnTo>
                  <a:pt x="364931" y="0"/>
                </a:lnTo>
                <a:lnTo>
                  <a:pt x="364931" y="380137"/>
                </a:lnTo>
                <a:lnTo>
                  <a:pt x="0" y="38013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2902027" y="5070304"/>
            <a:ext cx="397628" cy="339972"/>
          </a:xfrm>
          <a:custGeom>
            <a:avLst/>
            <a:gdLst/>
            <a:ahLst/>
            <a:cxnLst/>
            <a:rect r="r" b="b" t="t" l="l"/>
            <a:pathLst>
              <a:path h="339972" w="397628">
                <a:moveTo>
                  <a:pt x="0" y="0"/>
                </a:moveTo>
                <a:lnTo>
                  <a:pt x="397628" y="0"/>
                </a:lnTo>
                <a:lnTo>
                  <a:pt x="397628" y="339971"/>
                </a:lnTo>
                <a:lnTo>
                  <a:pt x="0" y="33997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2954511" y="3383589"/>
            <a:ext cx="301657" cy="421898"/>
          </a:xfrm>
          <a:custGeom>
            <a:avLst/>
            <a:gdLst/>
            <a:ahLst/>
            <a:cxnLst/>
            <a:rect r="r" b="b" t="t" l="l"/>
            <a:pathLst>
              <a:path h="421898" w="301657">
                <a:moveTo>
                  <a:pt x="0" y="0"/>
                </a:moveTo>
                <a:lnTo>
                  <a:pt x="301657" y="0"/>
                </a:lnTo>
                <a:lnTo>
                  <a:pt x="301657" y="421898"/>
                </a:lnTo>
                <a:lnTo>
                  <a:pt x="0" y="42189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7519126" y="2272503"/>
            <a:ext cx="338350" cy="433783"/>
          </a:xfrm>
          <a:custGeom>
            <a:avLst/>
            <a:gdLst/>
            <a:ahLst/>
            <a:cxnLst/>
            <a:rect r="r" b="b" t="t" l="l"/>
            <a:pathLst>
              <a:path h="433783" w="338350">
                <a:moveTo>
                  <a:pt x="0" y="0"/>
                </a:moveTo>
                <a:lnTo>
                  <a:pt x="338351" y="0"/>
                </a:lnTo>
                <a:lnTo>
                  <a:pt x="338351" y="433782"/>
                </a:lnTo>
                <a:lnTo>
                  <a:pt x="0" y="43378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6266986" y="3123709"/>
            <a:ext cx="5754028" cy="1159878"/>
            <a:chOff x="0" y="0"/>
            <a:chExt cx="1515464" cy="30548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15464" cy="305482"/>
            </a:xfrm>
            <a:custGeom>
              <a:avLst/>
              <a:gdLst/>
              <a:ahLst/>
              <a:cxnLst/>
              <a:rect r="r" b="b" t="t" l="l"/>
              <a:pathLst>
                <a:path h="305482" w="1515464">
                  <a:moveTo>
                    <a:pt x="13455" y="0"/>
                  </a:moveTo>
                  <a:lnTo>
                    <a:pt x="1502009" y="0"/>
                  </a:lnTo>
                  <a:cubicBezTo>
                    <a:pt x="1505578" y="0"/>
                    <a:pt x="1509000" y="1418"/>
                    <a:pt x="1511523" y="3941"/>
                  </a:cubicBezTo>
                  <a:cubicBezTo>
                    <a:pt x="1514047" y="6464"/>
                    <a:pt x="1515464" y="9886"/>
                    <a:pt x="1515464" y="13455"/>
                  </a:cubicBezTo>
                  <a:lnTo>
                    <a:pt x="1515464" y="292028"/>
                  </a:lnTo>
                  <a:cubicBezTo>
                    <a:pt x="1515464" y="295596"/>
                    <a:pt x="1514047" y="299018"/>
                    <a:pt x="1511523" y="301541"/>
                  </a:cubicBezTo>
                  <a:cubicBezTo>
                    <a:pt x="1509000" y="304065"/>
                    <a:pt x="1505578" y="305482"/>
                    <a:pt x="1502009" y="305482"/>
                  </a:cubicBezTo>
                  <a:lnTo>
                    <a:pt x="13455" y="305482"/>
                  </a:lnTo>
                  <a:cubicBezTo>
                    <a:pt x="6024" y="305482"/>
                    <a:pt x="0" y="299458"/>
                    <a:pt x="0" y="292028"/>
                  </a:cubicBezTo>
                  <a:lnTo>
                    <a:pt x="0" y="13455"/>
                  </a:lnTo>
                  <a:cubicBezTo>
                    <a:pt x="0" y="9886"/>
                    <a:pt x="1418" y="6464"/>
                    <a:pt x="3941" y="3941"/>
                  </a:cubicBezTo>
                  <a:cubicBezTo>
                    <a:pt x="6464" y="1418"/>
                    <a:pt x="9886" y="0"/>
                    <a:pt x="13455" y="0"/>
                  </a:cubicBezTo>
                  <a:close/>
                </a:path>
              </a:pathLst>
            </a:custGeom>
            <a:ln w="9525" cap="sq">
              <a:solidFill>
                <a:srgbClr val="163D17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515464" cy="343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6829864" y="3360313"/>
            <a:ext cx="341307" cy="426634"/>
          </a:xfrm>
          <a:custGeom>
            <a:avLst/>
            <a:gdLst/>
            <a:ahLst/>
            <a:cxnLst/>
            <a:rect r="r" b="b" t="t" l="l"/>
            <a:pathLst>
              <a:path h="426634" w="341307">
                <a:moveTo>
                  <a:pt x="0" y="0"/>
                </a:moveTo>
                <a:lnTo>
                  <a:pt x="341308" y="0"/>
                </a:lnTo>
                <a:lnTo>
                  <a:pt x="341308" y="426635"/>
                </a:lnTo>
                <a:lnTo>
                  <a:pt x="0" y="42663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7871962" y="3386576"/>
            <a:ext cx="400594" cy="388576"/>
          </a:xfrm>
          <a:custGeom>
            <a:avLst/>
            <a:gdLst/>
            <a:ahLst/>
            <a:cxnLst/>
            <a:rect r="r" b="b" t="t" l="l"/>
            <a:pathLst>
              <a:path h="388576" w="400594">
                <a:moveTo>
                  <a:pt x="0" y="0"/>
                </a:moveTo>
                <a:lnTo>
                  <a:pt x="400594" y="0"/>
                </a:lnTo>
                <a:lnTo>
                  <a:pt x="400594" y="388575"/>
                </a:lnTo>
                <a:lnTo>
                  <a:pt x="0" y="38857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913951" y="3410134"/>
            <a:ext cx="460097" cy="317467"/>
          </a:xfrm>
          <a:custGeom>
            <a:avLst/>
            <a:gdLst/>
            <a:ahLst/>
            <a:cxnLst/>
            <a:rect r="r" b="b" t="t" l="l"/>
            <a:pathLst>
              <a:path h="317467" w="460097">
                <a:moveTo>
                  <a:pt x="0" y="0"/>
                </a:moveTo>
                <a:lnTo>
                  <a:pt x="460098" y="0"/>
                </a:lnTo>
                <a:lnTo>
                  <a:pt x="460098" y="317468"/>
                </a:lnTo>
                <a:lnTo>
                  <a:pt x="0" y="31746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0025336" y="3341429"/>
            <a:ext cx="380810" cy="464402"/>
          </a:xfrm>
          <a:custGeom>
            <a:avLst/>
            <a:gdLst/>
            <a:ahLst/>
            <a:cxnLst/>
            <a:rect r="r" b="b" t="t" l="l"/>
            <a:pathLst>
              <a:path h="464402" w="380810">
                <a:moveTo>
                  <a:pt x="0" y="0"/>
                </a:moveTo>
                <a:lnTo>
                  <a:pt x="380810" y="0"/>
                </a:lnTo>
                <a:lnTo>
                  <a:pt x="380810" y="464403"/>
                </a:lnTo>
                <a:lnTo>
                  <a:pt x="0" y="46440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1072290" y="3400253"/>
            <a:ext cx="430384" cy="430384"/>
          </a:xfrm>
          <a:custGeom>
            <a:avLst/>
            <a:gdLst/>
            <a:ahLst/>
            <a:cxnLst/>
            <a:rect r="r" b="b" t="t" l="l"/>
            <a:pathLst>
              <a:path h="430384" w="430384">
                <a:moveTo>
                  <a:pt x="0" y="0"/>
                </a:moveTo>
                <a:lnTo>
                  <a:pt x="430384" y="0"/>
                </a:lnTo>
                <a:lnTo>
                  <a:pt x="430384" y="430384"/>
                </a:lnTo>
                <a:lnTo>
                  <a:pt x="0" y="430384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6674197" y="3247310"/>
            <a:ext cx="4939605" cy="652641"/>
            <a:chOff x="0" y="0"/>
            <a:chExt cx="6586141" cy="870188"/>
          </a:xfrm>
        </p:grpSpPr>
        <p:grpSp>
          <p:nvGrpSpPr>
            <p:cNvPr name="Group 81" id="81"/>
            <p:cNvGrpSpPr/>
            <p:nvPr/>
          </p:nvGrpSpPr>
          <p:grpSpPr>
            <a:xfrm rot="0">
              <a:off x="0" y="0"/>
              <a:ext cx="870188" cy="870188"/>
              <a:chOff x="0" y="0"/>
              <a:chExt cx="812800" cy="8128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3D17">
                  <a:alpha val="3922"/>
                </a:srgbClr>
              </a:solidFill>
              <a:ln w="9525" cap="sq">
                <a:solidFill>
                  <a:srgbClr val="163D17"/>
                </a:solidFill>
                <a:prstDash val="solid"/>
                <a:miter/>
              </a:ln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4074" lIns="34074" bIns="34074" rIns="34074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1428988" y="0"/>
              <a:ext cx="870188" cy="870188"/>
              <a:chOff x="0" y="0"/>
              <a:chExt cx="812800" cy="812800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3D17">
                  <a:alpha val="3922"/>
                </a:srgbClr>
              </a:solidFill>
              <a:ln w="9525" cap="sq">
                <a:solidFill>
                  <a:srgbClr val="163D17"/>
                </a:solidFill>
                <a:prstDash val="solid"/>
                <a:miter/>
              </a:ln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4074" lIns="34074" bIns="34074" rIns="34074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2857976" y="0"/>
              <a:ext cx="870188" cy="870188"/>
              <a:chOff x="0" y="0"/>
              <a:chExt cx="812800" cy="8128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3D17">
                  <a:alpha val="3922"/>
                </a:srgbClr>
              </a:solidFill>
              <a:ln w="9525" cap="sq">
                <a:solidFill>
                  <a:srgbClr val="163D17"/>
                </a:solidFill>
                <a:prstDash val="solid"/>
                <a:miter/>
              </a:ln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4074" lIns="34074" bIns="34074" rIns="34074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0" id="90"/>
            <p:cNvGrpSpPr/>
            <p:nvPr/>
          </p:nvGrpSpPr>
          <p:grpSpPr>
            <a:xfrm rot="0">
              <a:off x="4286964" y="0"/>
              <a:ext cx="870188" cy="870188"/>
              <a:chOff x="0" y="0"/>
              <a:chExt cx="812800" cy="812800"/>
            </a:xfrm>
          </p:grpSpPr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3D17">
                  <a:alpha val="3922"/>
                </a:srgbClr>
              </a:solidFill>
              <a:ln w="9525" cap="sq">
                <a:solidFill>
                  <a:srgbClr val="163D17"/>
                </a:solidFill>
                <a:prstDash val="solid"/>
                <a:miter/>
              </a:ln>
            </p:spPr>
          </p:sp>
          <p:sp>
            <p:nvSpPr>
              <p:cNvPr name="TextBox 92" id="9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4074" lIns="34074" bIns="34074" rIns="34074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93" id="93"/>
            <p:cNvGrpSpPr/>
            <p:nvPr/>
          </p:nvGrpSpPr>
          <p:grpSpPr>
            <a:xfrm rot="0">
              <a:off x="5715953" y="0"/>
              <a:ext cx="870188" cy="870188"/>
              <a:chOff x="0" y="0"/>
              <a:chExt cx="812800" cy="812800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63D17">
                  <a:alpha val="3922"/>
                </a:srgbClr>
              </a:solidFill>
              <a:ln w="9525" cap="sq">
                <a:solidFill>
                  <a:srgbClr val="163D17"/>
                </a:solidFill>
                <a:prstDash val="solid"/>
                <a:miter/>
              </a:ln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34074" lIns="34074" bIns="34074" rIns="34074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96" id="96"/>
          <p:cNvSpPr/>
          <p:nvPr/>
        </p:nvSpPr>
        <p:spPr>
          <a:xfrm flipH="false" flipV="false" rot="0">
            <a:off x="7390638" y="3515939"/>
            <a:ext cx="261858" cy="199012"/>
          </a:xfrm>
          <a:custGeom>
            <a:avLst/>
            <a:gdLst/>
            <a:ahLst/>
            <a:cxnLst/>
            <a:rect r="r" b="b" t="t" l="l"/>
            <a:pathLst>
              <a:path h="199012" w="261858">
                <a:moveTo>
                  <a:pt x="0" y="0"/>
                </a:moveTo>
                <a:lnTo>
                  <a:pt x="261858" y="0"/>
                </a:lnTo>
                <a:lnTo>
                  <a:pt x="261858" y="199012"/>
                </a:lnTo>
                <a:lnTo>
                  <a:pt x="0" y="19901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8461593" y="3505730"/>
            <a:ext cx="261858" cy="199012"/>
          </a:xfrm>
          <a:custGeom>
            <a:avLst/>
            <a:gdLst/>
            <a:ahLst/>
            <a:cxnLst/>
            <a:rect r="r" b="b" t="t" l="l"/>
            <a:pathLst>
              <a:path h="199012" w="261858">
                <a:moveTo>
                  <a:pt x="0" y="0"/>
                </a:moveTo>
                <a:lnTo>
                  <a:pt x="261858" y="0"/>
                </a:lnTo>
                <a:lnTo>
                  <a:pt x="261858" y="199013"/>
                </a:lnTo>
                <a:lnTo>
                  <a:pt x="0" y="19901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9568763" y="3515939"/>
            <a:ext cx="261858" cy="199012"/>
          </a:xfrm>
          <a:custGeom>
            <a:avLst/>
            <a:gdLst/>
            <a:ahLst/>
            <a:cxnLst/>
            <a:rect r="r" b="b" t="t" l="l"/>
            <a:pathLst>
              <a:path h="199012" w="261858">
                <a:moveTo>
                  <a:pt x="0" y="0"/>
                </a:moveTo>
                <a:lnTo>
                  <a:pt x="261858" y="0"/>
                </a:lnTo>
                <a:lnTo>
                  <a:pt x="261858" y="199012"/>
                </a:lnTo>
                <a:lnTo>
                  <a:pt x="0" y="199012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0608289" y="3505730"/>
            <a:ext cx="261858" cy="199012"/>
          </a:xfrm>
          <a:custGeom>
            <a:avLst/>
            <a:gdLst/>
            <a:ahLst/>
            <a:cxnLst/>
            <a:rect r="r" b="b" t="t" l="l"/>
            <a:pathLst>
              <a:path h="199012" w="261858">
                <a:moveTo>
                  <a:pt x="0" y="0"/>
                </a:moveTo>
                <a:lnTo>
                  <a:pt x="261858" y="0"/>
                </a:lnTo>
                <a:lnTo>
                  <a:pt x="261858" y="199013"/>
                </a:lnTo>
                <a:lnTo>
                  <a:pt x="0" y="19901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5626202" y="4904365"/>
            <a:ext cx="2161887" cy="4187982"/>
            <a:chOff x="0" y="0"/>
            <a:chExt cx="569386" cy="110300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69386" cy="1103008"/>
            </a:xfrm>
            <a:custGeom>
              <a:avLst/>
              <a:gdLst/>
              <a:ahLst/>
              <a:cxnLst/>
              <a:rect r="r" b="b" t="t" l="l"/>
              <a:pathLst>
                <a:path h="1103008" w="569386">
                  <a:moveTo>
                    <a:pt x="71622" y="0"/>
                  </a:moveTo>
                  <a:lnTo>
                    <a:pt x="497764" y="0"/>
                  </a:lnTo>
                  <a:cubicBezTo>
                    <a:pt x="516759" y="0"/>
                    <a:pt x="534976" y="7546"/>
                    <a:pt x="548408" y="20978"/>
                  </a:cubicBezTo>
                  <a:cubicBezTo>
                    <a:pt x="561840" y="34409"/>
                    <a:pt x="569386" y="52627"/>
                    <a:pt x="569386" y="71622"/>
                  </a:cubicBezTo>
                  <a:lnTo>
                    <a:pt x="569386" y="1031386"/>
                  </a:lnTo>
                  <a:cubicBezTo>
                    <a:pt x="569386" y="1070941"/>
                    <a:pt x="537320" y="1103008"/>
                    <a:pt x="497764" y="1103008"/>
                  </a:cubicBezTo>
                  <a:lnTo>
                    <a:pt x="71622" y="1103008"/>
                  </a:lnTo>
                  <a:cubicBezTo>
                    <a:pt x="32066" y="1103008"/>
                    <a:pt x="0" y="1070941"/>
                    <a:pt x="0" y="1031386"/>
                  </a:cubicBezTo>
                  <a:lnTo>
                    <a:pt x="0" y="71622"/>
                  </a:lnTo>
                  <a:cubicBezTo>
                    <a:pt x="0" y="32066"/>
                    <a:pt x="32066" y="0"/>
                    <a:pt x="71622" y="0"/>
                  </a:cubicBezTo>
                  <a:close/>
                </a:path>
              </a:pathLst>
            </a:custGeom>
            <a:ln w="19050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569386" cy="1141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064314" y="4875869"/>
            <a:ext cx="2161887" cy="4216478"/>
            <a:chOff x="0" y="0"/>
            <a:chExt cx="569386" cy="111051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69386" cy="1110513"/>
            </a:xfrm>
            <a:custGeom>
              <a:avLst/>
              <a:gdLst/>
              <a:ahLst/>
              <a:cxnLst/>
              <a:rect r="r" b="b" t="t" l="l"/>
              <a:pathLst>
                <a:path h="1110513" w="569386">
                  <a:moveTo>
                    <a:pt x="71622" y="0"/>
                  </a:moveTo>
                  <a:lnTo>
                    <a:pt x="497764" y="0"/>
                  </a:lnTo>
                  <a:cubicBezTo>
                    <a:pt x="516759" y="0"/>
                    <a:pt x="534976" y="7546"/>
                    <a:pt x="548408" y="20978"/>
                  </a:cubicBezTo>
                  <a:cubicBezTo>
                    <a:pt x="561840" y="34409"/>
                    <a:pt x="569386" y="52627"/>
                    <a:pt x="569386" y="71622"/>
                  </a:cubicBezTo>
                  <a:lnTo>
                    <a:pt x="569386" y="1038891"/>
                  </a:lnTo>
                  <a:cubicBezTo>
                    <a:pt x="569386" y="1078446"/>
                    <a:pt x="537320" y="1110513"/>
                    <a:pt x="497764" y="1110513"/>
                  </a:cubicBezTo>
                  <a:lnTo>
                    <a:pt x="71622" y="1110513"/>
                  </a:lnTo>
                  <a:cubicBezTo>
                    <a:pt x="32066" y="1110513"/>
                    <a:pt x="0" y="1078446"/>
                    <a:pt x="0" y="1038891"/>
                  </a:cubicBezTo>
                  <a:lnTo>
                    <a:pt x="0" y="71622"/>
                  </a:lnTo>
                  <a:cubicBezTo>
                    <a:pt x="0" y="32066"/>
                    <a:pt x="32066" y="0"/>
                    <a:pt x="71622" y="0"/>
                  </a:cubicBezTo>
                  <a:close/>
                </a:path>
              </a:pathLst>
            </a:custGeom>
            <a:ln w="19050" cap="sq">
              <a:solidFill>
                <a:srgbClr val="F26720"/>
              </a:solidFill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569386" cy="1148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502425" y="4875869"/>
            <a:ext cx="2161887" cy="4216478"/>
            <a:chOff x="0" y="0"/>
            <a:chExt cx="569386" cy="111051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69386" cy="1110513"/>
            </a:xfrm>
            <a:custGeom>
              <a:avLst/>
              <a:gdLst/>
              <a:ahLst/>
              <a:cxnLst/>
              <a:rect r="r" b="b" t="t" l="l"/>
              <a:pathLst>
                <a:path h="1110513" w="569386">
                  <a:moveTo>
                    <a:pt x="71622" y="0"/>
                  </a:moveTo>
                  <a:lnTo>
                    <a:pt x="497764" y="0"/>
                  </a:lnTo>
                  <a:cubicBezTo>
                    <a:pt x="516759" y="0"/>
                    <a:pt x="534976" y="7546"/>
                    <a:pt x="548408" y="20978"/>
                  </a:cubicBezTo>
                  <a:cubicBezTo>
                    <a:pt x="561840" y="34409"/>
                    <a:pt x="569386" y="52627"/>
                    <a:pt x="569386" y="71622"/>
                  </a:cubicBezTo>
                  <a:lnTo>
                    <a:pt x="569386" y="1038891"/>
                  </a:lnTo>
                  <a:cubicBezTo>
                    <a:pt x="569386" y="1078446"/>
                    <a:pt x="537320" y="1110513"/>
                    <a:pt x="497764" y="1110513"/>
                  </a:cubicBezTo>
                  <a:lnTo>
                    <a:pt x="71622" y="1110513"/>
                  </a:lnTo>
                  <a:cubicBezTo>
                    <a:pt x="32066" y="1110513"/>
                    <a:pt x="0" y="1078446"/>
                    <a:pt x="0" y="1038891"/>
                  </a:cubicBezTo>
                  <a:lnTo>
                    <a:pt x="0" y="71622"/>
                  </a:lnTo>
                  <a:cubicBezTo>
                    <a:pt x="0" y="32066"/>
                    <a:pt x="32066" y="0"/>
                    <a:pt x="71622" y="0"/>
                  </a:cubicBezTo>
                  <a:close/>
                </a:path>
              </a:pathLst>
            </a:custGeom>
            <a:ln w="19050" cap="sq">
              <a:solidFill>
                <a:srgbClr val="138E44"/>
              </a:solidFill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569386" cy="1148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5786875" y="5037844"/>
            <a:ext cx="273535" cy="323710"/>
          </a:xfrm>
          <a:custGeom>
            <a:avLst/>
            <a:gdLst/>
            <a:ahLst/>
            <a:cxnLst/>
            <a:rect r="r" b="b" t="t" l="l"/>
            <a:pathLst>
              <a:path h="323710" w="273535">
                <a:moveTo>
                  <a:pt x="0" y="0"/>
                </a:moveTo>
                <a:lnTo>
                  <a:pt x="273535" y="0"/>
                </a:lnTo>
                <a:lnTo>
                  <a:pt x="273535" y="323710"/>
                </a:lnTo>
                <a:lnTo>
                  <a:pt x="0" y="32371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8461593" y="5037844"/>
            <a:ext cx="335916" cy="409653"/>
          </a:xfrm>
          <a:custGeom>
            <a:avLst/>
            <a:gdLst/>
            <a:ahLst/>
            <a:cxnLst/>
            <a:rect r="r" b="b" t="t" l="l"/>
            <a:pathLst>
              <a:path h="409653" w="335916">
                <a:moveTo>
                  <a:pt x="0" y="0"/>
                </a:moveTo>
                <a:lnTo>
                  <a:pt x="335916" y="0"/>
                </a:lnTo>
                <a:lnTo>
                  <a:pt x="335916" y="409653"/>
                </a:lnTo>
                <a:lnTo>
                  <a:pt x="0" y="40965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10644025" y="5005986"/>
            <a:ext cx="428266" cy="441511"/>
          </a:xfrm>
          <a:custGeom>
            <a:avLst/>
            <a:gdLst/>
            <a:ahLst/>
            <a:cxnLst/>
            <a:rect r="r" b="b" t="t" l="l"/>
            <a:pathLst>
              <a:path h="441511" w="428266">
                <a:moveTo>
                  <a:pt x="0" y="0"/>
                </a:moveTo>
                <a:lnTo>
                  <a:pt x="428265" y="0"/>
                </a:lnTo>
                <a:lnTo>
                  <a:pt x="428265" y="441511"/>
                </a:lnTo>
                <a:lnTo>
                  <a:pt x="0" y="441511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2" id="112"/>
          <p:cNvSpPr/>
          <p:nvPr/>
        </p:nvSpPr>
        <p:spPr>
          <a:xfrm flipV="true">
            <a:off x="5626202" y="5528510"/>
            <a:ext cx="2161887" cy="4697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3" id="113"/>
          <p:cNvSpPr/>
          <p:nvPr/>
        </p:nvSpPr>
        <p:spPr>
          <a:xfrm flipV="true">
            <a:off x="8064314" y="5526162"/>
            <a:ext cx="2150413" cy="13047"/>
          </a:xfrm>
          <a:prstGeom prst="line">
            <a:avLst/>
          </a:prstGeom>
          <a:ln cap="flat" w="19050">
            <a:solidFill>
              <a:srgbClr val="F267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4" id="114"/>
          <p:cNvSpPr/>
          <p:nvPr/>
        </p:nvSpPr>
        <p:spPr>
          <a:xfrm flipV="true">
            <a:off x="10502425" y="5523813"/>
            <a:ext cx="2138940" cy="13008"/>
          </a:xfrm>
          <a:prstGeom prst="line">
            <a:avLst/>
          </a:prstGeom>
          <a:ln cap="flat" w="19050">
            <a:solidFill>
              <a:srgbClr val="138E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5" id="115"/>
          <p:cNvSpPr/>
          <p:nvPr/>
        </p:nvSpPr>
        <p:spPr>
          <a:xfrm flipH="false" flipV="false" rot="0">
            <a:off x="5766365" y="5647592"/>
            <a:ext cx="314556" cy="314556"/>
          </a:xfrm>
          <a:custGeom>
            <a:avLst/>
            <a:gdLst/>
            <a:ahLst/>
            <a:cxnLst/>
            <a:rect r="r" b="b" t="t" l="l"/>
            <a:pathLst>
              <a:path h="314556" w="314556">
                <a:moveTo>
                  <a:pt x="0" y="0"/>
                </a:moveTo>
                <a:lnTo>
                  <a:pt x="314556" y="0"/>
                </a:lnTo>
                <a:lnTo>
                  <a:pt x="314556" y="314556"/>
                </a:lnTo>
                <a:lnTo>
                  <a:pt x="0" y="314556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5778122" y="6152648"/>
            <a:ext cx="302799" cy="302799"/>
          </a:xfrm>
          <a:custGeom>
            <a:avLst/>
            <a:gdLst/>
            <a:ahLst/>
            <a:cxnLst/>
            <a:rect r="r" b="b" t="t" l="l"/>
            <a:pathLst>
              <a:path h="302799" w="302799">
                <a:moveTo>
                  <a:pt x="0" y="0"/>
                </a:moveTo>
                <a:lnTo>
                  <a:pt x="302799" y="0"/>
                </a:lnTo>
                <a:lnTo>
                  <a:pt x="302799" y="302799"/>
                </a:lnTo>
                <a:lnTo>
                  <a:pt x="0" y="302799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5786875" y="6676705"/>
            <a:ext cx="278063" cy="323329"/>
          </a:xfrm>
          <a:custGeom>
            <a:avLst/>
            <a:gdLst/>
            <a:ahLst/>
            <a:cxnLst/>
            <a:rect r="r" b="b" t="t" l="l"/>
            <a:pathLst>
              <a:path h="323329" w="278063">
                <a:moveTo>
                  <a:pt x="0" y="0"/>
                </a:moveTo>
                <a:lnTo>
                  <a:pt x="278063" y="0"/>
                </a:lnTo>
                <a:lnTo>
                  <a:pt x="278063" y="323328"/>
                </a:lnTo>
                <a:lnTo>
                  <a:pt x="0" y="323328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5807651" y="7219108"/>
            <a:ext cx="243741" cy="343297"/>
          </a:xfrm>
          <a:custGeom>
            <a:avLst/>
            <a:gdLst/>
            <a:ahLst/>
            <a:cxnLst/>
            <a:rect r="r" b="b" t="t" l="l"/>
            <a:pathLst>
              <a:path h="343297" w="243741">
                <a:moveTo>
                  <a:pt x="0" y="0"/>
                </a:moveTo>
                <a:lnTo>
                  <a:pt x="243741" y="0"/>
                </a:lnTo>
                <a:lnTo>
                  <a:pt x="243741" y="343297"/>
                </a:lnTo>
                <a:lnTo>
                  <a:pt x="0" y="34329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5813511" y="7781480"/>
            <a:ext cx="267410" cy="371403"/>
          </a:xfrm>
          <a:custGeom>
            <a:avLst/>
            <a:gdLst/>
            <a:ahLst/>
            <a:cxnLst/>
            <a:rect r="r" b="b" t="t" l="l"/>
            <a:pathLst>
              <a:path h="371403" w="267410">
                <a:moveTo>
                  <a:pt x="0" y="0"/>
                </a:moveTo>
                <a:lnTo>
                  <a:pt x="267410" y="0"/>
                </a:lnTo>
                <a:lnTo>
                  <a:pt x="267410" y="371403"/>
                </a:lnTo>
                <a:lnTo>
                  <a:pt x="0" y="371403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5813511" y="8371958"/>
            <a:ext cx="267410" cy="324133"/>
          </a:xfrm>
          <a:custGeom>
            <a:avLst/>
            <a:gdLst/>
            <a:ahLst/>
            <a:cxnLst/>
            <a:rect r="r" b="b" t="t" l="l"/>
            <a:pathLst>
              <a:path h="324133" w="267410">
                <a:moveTo>
                  <a:pt x="0" y="0"/>
                </a:moveTo>
                <a:lnTo>
                  <a:pt x="267410" y="0"/>
                </a:lnTo>
                <a:lnTo>
                  <a:pt x="267410" y="324134"/>
                </a:lnTo>
                <a:lnTo>
                  <a:pt x="0" y="324134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8180472" y="5674166"/>
            <a:ext cx="347319" cy="296958"/>
          </a:xfrm>
          <a:custGeom>
            <a:avLst/>
            <a:gdLst/>
            <a:ahLst/>
            <a:cxnLst/>
            <a:rect r="r" b="b" t="t" l="l"/>
            <a:pathLst>
              <a:path h="296958" w="347319">
                <a:moveTo>
                  <a:pt x="0" y="0"/>
                </a:moveTo>
                <a:lnTo>
                  <a:pt x="347319" y="0"/>
                </a:lnTo>
                <a:lnTo>
                  <a:pt x="347319" y="296958"/>
                </a:lnTo>
                <a:lnTo>
                  <a:pt x="0" y="296958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8181727" y="6135231"/>
            <a:ext cx="344811" cy="322398"/>
          </a:xfrm>
          <a:custGeom>
            <a:avLst/>
            <a:gdLst/>
            <a:ahLst/>
            <a:cxnLst/>
            <a:rect r="r" b="b" t="t" l="l"/>
            <a:pathLst>
              <a:path h="322398" w="344811">
                <a:moveTo>
                  <a:pt x="0" y="0"/>
                </a:moveTo>
                <a:lnTo>
                  <a:pt x="344810" y="0"/>
                </a:lnTo>
                <a:lnTo>
                  <a:pt x="344810" y="322399"/>
                </a:lnTo>
                <a:lnTo>
                  <a:pt x="0" y="322399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8181727" y="6695755"/>
            <a:ext cx="346065" cy="301077"/>
          </a:xfrm>
          <a:custGeom>
            <a:avLst/>
            <a:gdLst/>
            <a:ahLst/>
            <a:cxnLst/>
            <a:rect r="r" b="b" t="t" l="l"/>
            <a:pathLst>
              <a:path h="301077" w="346065">
                <a:moveTo>
                  <a:pt x="0" y="0"/>
                </a:moveTo>
                <a:lnTo>
                  <a:pt x="346064" y="0"/>
                </a:lnTo>
                <a:lnTo>
                  <a:pt x="346064" y="301076"/>
                </a:lnTo>
                <a:lnTo>
                  <a:pt x="0" y="301076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8207107" y="7158756"/>
            <a:ext cx="295305" cy="407317"/>
          </a:xfrm>
          <a:custGeom>
            <a:avLst/>
            <a:gdLst/>
            <a:ahLst/>
            <a:cxnLst/>
            <a:rect r="r" b="b" t="t" l="l"/>
            <a:pathLst>
              <a:path h="407317" w="295305">
                <a:moveTo>
                  <a:pt x="0" y="0"/>
                </a:moveTo>
                <a:lnTo>
                  <a:pt x="295304" y="0"/>
                </a:lnTo>
                <a:lnTo>
                  <a:pt x="295304" y="407317"/>
                </a:lnTo>
                <a:lnTo>
                  <a:pt x="0" y="40731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8152425" y="7828253"/>
            <a:ext cx="375366" cy="281525"/>
          </a:xfrm>
          <a:custGeom>
            <a:avLst/>
            <a:gdLst/>
            <a:ahLst/>
            <a:cxnLst/>
            <a:rect r="r" b="b" t="t" l="l"/>
            <a:pathLst>
              <a:path h="281525" w="375366">
                <a:moveTo>
                  <a:pt x="0" y="0"/>
                </a:moveTo>
                <a:lnTo>
                  <a:pt x="375366" y="0"/>
                </a:lnTo>
                <a:lnTo>
                  <a:pt x="375366" y="281525"/>
                </a:lnTo>
                <a:lnTo>
                  <a:pt x="0" y="281525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8183436" y="8478538"/>
            <a:ext cx="344811" cy="305158"/>
          </a:xfrm>
          <a:custGeom>
            <a:avLst/>
            <a:gdLst/>
            <a:ahLst/>
            <a:cxnLst/>
            <a:rect r="r" b="b" t="t" l="l"/>
            <a:pathLst>
              <a:path h="305158" w="344811">
                <a:moveTo>
                  <a:pt x="0" y="0"/>
                </a:moveTo>
                <a:lnTo>
                  <a:pt x="344811" y="0"/>
                </a:lnTo>
                <a:lnTo>
                  <a:pt x="344811" y="305157"/>
                </a:lnTo>
                <a:lnTo>
                  <a:pt x="0" y="305157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10608289" y="5717796"/>
            <a:ext cx="349988" cy="192493"/>
          </a:xfrm>
          <a:custGeom>
            <a:avLst/>
            <a:gdLst/>
            <a:ahLst/>
            <a:cxnLst/>
            <a:rect r="r" b="b" t="t" l="l"/>
            <a:pathLst>
              <a:path h="192493" w="349988">
                <a:moveTo>
                  <a:pt x="0" y="0"/>
                </a:moveTo>
                <a:lnTo>
                  <a:pt x="349988" y="0"/>
                </a:lnTo>
                <a:lnTo>
                  <a:pt x="349988" y="192494"/>
                </a:lnTo>
                <a:lnTo>
                  <a:pt x="0" y="192494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0608289" y="6125524"/>
            <a:ext cx="356443" cy="356443"/>
          </a:xfrm>
          <a:custGeom>
            <a:avLst/>
            <a:gdLst/>
            <a:ahLst/>
            <a:cxnLst/>
            <a:rect r="r" b="b" t="t" l="l"/>
            <a:pathLst>
              <a:path h="356443" w="356443">
                <a:moveTo>
                  <a:pt x="0" y="0"/>
                </a:moveTo>
                <a:lnTo>
                  <a:pt x="356443" y="0"/>
                </a:lnTo>
                <a:lnTo>
                  <a:pt x="356443" y="356443"/>
                </a:lnTo>
                <a:lnTo>
                  <a:pt x="0" y="356443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0616725" y="6656771"/>
            <a:ext cx="361329" cy="343263"/>
          </a:xfrm>
          <a:custGeom>
            <a:avLst/>
            <a:gdLst/>
            <a:ahLst/>
            <a:cxnLst/>
            <a:rect r="r" b="b" t="t" l="l"/>
            <a:pathLst>
              <a:path h="343263" w="361329">
                <a:moveTo>
                  <a:pt x="0" y="0"/>
                </a:moveTo>
                <a:lnTo>
                  <a:pt x="361329" y="0"/>
                </a:lnTo>
                <a:lnTo>
                  <a:pt x="361329" y="343262"/>
                </a:lnTo>
                <a:lnTo>
                  <a:pt x="0" y="343262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10636625" y="7208884"/>
            <a:ext cx="321530" cy="307061"/>
          </a:xfrm>
          <a:custGeom>
            <a:avLst/>
            <a:gdLst/>
            <a:ahLst/>
            <a:cxnLst/>
            <a:rect r="r" b="b" t="t" l="l"/>
            <a:pathLst>
              <a:path h="307061" w="321530">
                <a:moveTo>
                  <a:pt x="0" y="0"/>
                </a:moveTo>
                <a:lnTo>
                  <a:pt x="321529" y="0"/>
                </a:lnTo>
                <a:lnTo>
                  <a:pt x="321529" y="307061"/>
                </a:lnTo>
                <a:lnTo>
                  <a:pt x="0" y="307061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10603568" y="7742667"/>
            <a:ext cx="365885" cy="343932"/>
          </a:xfrm>
          <a:custGeom>
            <a:avLst/>
            <a:gdLst/>
            <a:ahLst/>
            <a:cxnLst/>
            <a:rect r="r" b="b" t="t" l="l"/>
            <a:pathLst>
              <a:path h="343932" w="365885">
                <a:moveTo>
                  <a:pt x="0" y="0"/>
                </a:moveTo>
                <a:lnTo>
                  <a:pt x="365885" y="0"/>
                </a:lnTo>
                <a:lnTo>
                  <a:pt x="365885" y="343932"/>
                </a:lnTo>
                <a:lnTo>
                  <a:pt x="0" y="343932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2" id="132"/>
          <p:cNvGrpSpPr/>
          <p:nvPr/>
        </p:nvGrpSpPr>
        <p:grpSpPr>
          <a:xfrm rot="0">
            <a:off x="14076456" y="2295390"/>
            <a:ext cx="3182844" cy="424906"/>
            <a:chOff x="0" y="0"/>
            <a:chExt cx="4243792" cy="56654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66026" cy="554706"/>
            </a:xfrm>
            <a:custGeom>
              <a:avLst/>
              <a:gdLst/>
              <a:ahLst/>
              <a:cxnLst/>
              <a:rect r="r" b="b" t="t" l="l"/>
              <a:pathLst>
                <a:path h="554706" w="566026">
                  <a:moveTo>
                    <a:pt x="0" y="0"/>
                  </a:moveTo>
                  <a:lnTo>
                    <a:pt x="566026" y="0"/>
                  </a:lnTo>
                  <a:lnTo>
                    <a:pt x="566026" y="554706"/>
                  </a:lnTo>
                  <a:lnTo>
                    <a:pt x="0" y="554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8">
                <a:extLst>
                  <a:ext uri="{96DAC541-7B7A-43D3-8B79-37D633B846F1}">
                    <asvg:svgBlip xmlns:asvg="http://schemas.microsoft.com/office/drawing/2016/SVG/main" r:embed="rId7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 rot="0">
              <a:off x="361930" y="74416"/>
              <a:ext cx="3881863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1F497D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WHY DRISHTI IS BETTER</a:t>
              </a:r>
            </a:p>
          </p:txBody>
        </p:sp>
      </p:grpSp>
      <p:sp>
        <p:nvSpPr>
          <p:cNvPr name="AutoShape 135" id="135"/>
          <p:cNvSpPr/>
          <p:nvPr/>
        </p:nvSpPr>
        <p:spPr>
          <a:xfrm>
            <a:off x="13258890" y="3695901"/>
            <a:ext cx="4781074" cy="7747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6" id="136"/>
          <p:cNvSpPr/>
          <p:nvPr/>
        </p:nvSpPr>
        <p:spPr>
          <a:xfrm>
            <a:off x="13256447" y="4694248"/>
            <a:ext cx="4781074" cy="7747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7" id="137"/>
          <p:cNvSpPr/>
          <p:nvPr/>
        </p:nvSpPr>
        <p:spPr>
          <a:xfrm flipV="true">
            <a:off x="13261359" y="5772177"/>
            <a:ext cx="4776161" cy="178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8" id="138"/>
          <p:cNvSpPr/>
          <p:nvPr/>
        </p:nvSpPr>
        <p:spPr>
          <a:xfrm>
            <a:off x="13256462" y="6851248"/>
            <a:ext cx="4781074" cy="7747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9" id="139"/>
          <p:cNvSpPr/>
          <p:nvPr/>
        </p:nvSpPr>
        <p:spPr>
          <a:xfrm flipV="true">
            <a:off x="13271185" y="7914633"/>
            <a:ext cx="4768779" cy="13937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0" id="140"/>
          <p:cNvGrpSpPr/>
          <p:nvPr/>
        </p:nvGrpSpPr>
        <p:grpSpPr>
          <a:xfrm rot="0">
            <a:off x="13551691" y="2928222"/>
            <a:ext cx="652641" cy="652641"/>
            <a:chOff x="0" y="0"/>
            <a:chExt cx="812800" cy="8128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>
                <a:alpha val="11765"/>
              </a:srgbClr>
            </a:solidFill>
            <a:ln w="9525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43" id="143"/>
          <p:cNvSpPr/>
          <p:nvPr/>
        </p:nvSpPr>
        <p:spPr>
          <a:xfrm flipH="false" flipV="false" rot="0">
            <a:off x="13733609" y="3026848"/>
            <a:ext cx="288805" cy="440924"/>
          </a:xfrm>
          <a:custGeom>
            <a:avLst/>
            <a:gdLst/>
            <a:ahLst/>
            <a:cxnLst/>
            <a:rect r="r" b="b" t="t" l="l"/>
            <a:pathLst>
              <a:path h="440924" w="288805">
                <a:moveTo>
                  <a:pt x="0" y="0"/>
                </a:moveTo>
                <a:lnTo>
                  <a:pt x="288805" y="0"/>
                </a:lnTo>
                <a:lnTo>
                  <a:pt x="288805" y="440924"/>
                </a:lnTo>
                <a:lnTo>
                  <a:pt x="0" y="440924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4" id="144"/>
          <p:cNvGrpSpPr/>
          <p:nvPr/>
        </p:nvGrpSpPr>
        <p:grpSpPr>
          <a:xfrm rot="0">
            <a:off x="13551691" y="3878698"/>
            <a:ext cx="652641" cy="652641"/>
            <a:chOff x="0" y="0"/>
            <a:chExt cx="812800" cy="8128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>
                <a:alpha val="11765"/>
              </a:srgbClr>
            </a:solidFill>
            <a:ln w="9525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3542166" y="4900421"/>
            <a:ext cx="652641" cy="652641"/>
            <a:chOff x="0" y="0"/>
            <a:chExt cx="812800" cy="8128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>
                <a:alpha val="11765"/>
              </a:srgbClr>
            </a:solidFill>
            <a:ln w="9525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149" id="1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523116" y="5950913"/>
            <a:ext cx="652641" cy="652641"/>
            <a:chOff x="0" y="0"/>
            <a:chExt cx="812800" cy="8128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>
                <a:alpha val="11765"/>
              </a:srgbClr>
            </a:solidFill>
            <a:ln w="9525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3513591" y="7039970"/>
            <a:ext cx="652641" cy="652641"/>
            <a:chOff x="0" y="0"/>
            <a:chExt cx="812800" cy="8128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>
                <a:alpha val="11765"/>
              </a:srgbClr>
            </a:solidFill>
            <a:ln w="9525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155" id="1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3504066" y="8207704"/>
            <a:ext cx="652641" cy="652641"/>
            <a:chOff x="0" y="0"/>
            <a:chExt cx="812800" cy="812800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497D">
                <a:alpha val="11765"/>
              </a:srgbClr>
            </a:solidFill>
            <a:ln w="9525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158" id="1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34074" lIns="34074" bIns="34074" rIns="3407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59" id="159"/>
          <p:cNvSpPr/>
          <p:nvPr/>
        </p:nvSpPr>
        <p:spPr>
          <a:xfrm flipH="false" flipV="false" rot="0">
            <a:off x="13749857" y="3978197"/>
            <a:ext cx="256308" cy="453643"/>
          </a:xfrm>
          <a:custGeom>
            <a:avLst/>
            <a:gdLst/>
            <a:ahLst/>
            <a:cxnLst/>
            <a:rect r="r" b="b" t="t" l="l"/>
            <a:pathLst>
              <a:path h="453643" w="256308">
                <a:moveTo>
                  <a:pt x="0" y="0"/>
                </a:moveTo>
                <a:lnTo>
                  <a:pt x="256309" y="0"/>
                </a:lnTo>
                <a:lnTo>
                  <a:pt x="256309" y="453643"/>
                </a:lnTo>
                <a:lnTo>
                  <a:pt x="0" y="453643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0" id="160"/>
          <p:cNvSpPr/>
          <p:nvPr/>
        </p:nvSpPr>
        <p:spPr>
          <a:xfrm flipH="false" flipV="false" rot="0">
            <a:off x="13723277" y="6114334"/>
            <a:ext cx="252319" cy="379427"/>
          </a:xfrm>
          <a:custGeom>
            <a:avLst/>
            <a:gdLst/>
            <a:ahLst/>
            <a:cxnLst/>
            <a:rect r="r" b="b" t="t" l="l"/>
            <a:pathLst>
              <a:path h="379427" w="252319">
                <a:moveTo>
                  <a:pt x="0" y="0"/>
                </a:moveTo>
                <a:lnTo>
                  <a:pt x="252319" y="0"/>
                </a:lnTo>
                <a:lnTo>
                  <a:pt x="252319" y="379427"/>
                </a:lnTo>
                <a:lnTo>
                  <a:pt x="0" y="379427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13642070" y="7212543"/>
            <a:ext cx="395684" cy="330396"/>
          </a:xfrm>
          <a:custGeom>
            <a:avLst/>
            <a:gdLst/>
            <a:ahLst/>
            <a:cxnLst/>
            <a:rect r="r" b="b" t="t" l="l"/>
            <a:pathLst>
              <a:path h="330396" w="395684">
                <a:moveTo>
                  <a:pt x="0" y="0"/>
                </a:moveTo>
                <a:lnTo>
                  <a:pt x="395683" y="0"/>
                </a:lnTo>
                <a:lnTo>
                  <a:pt x="395683" y="330396"/>
                </a:lnTo>
                <a:lnTo>
                  <a:pt x="0" y="330396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2" id="162"/>
          <p:cNvSpPr/>
          <p:nvPr/>
        </p:nvSpPr>
        <p:spPr>
          <a:xfrm flipH="false" flipV="false" rot="0">
            <a:off x="13682509" y="8349178"/>
            <a:ext cx="295754" cy="369693"/>
          </a:xfrm>
          <a:custGeom>
            <a:avLst/>
            <a:gdLst/>
            <a:ahLst/>
            <a:cxnLst/>
            <a:rect r="r" b="b" t="t" l="l"/>
            <a:pathLst>
              <a:path h="369693" w="295754">
                <a:moveTo>
                  <a:pt x="0" y="0"/>
                </a:moveTo>
                <a:lnTo>
                  <a:pt x="295755" y="0"/>
                </a:lnTo>
                <a:lnTo>
                  <a:pt x="295755" y="369693"/>
                </a:lnTo>
                <a:lnTo>
                  <a:pt x="0" y="369693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3" id="163"/>
          <p:cNvSpPr/>
          <p:nvPr/>
        </p:nvSpPr>
        <p:spPr>
          <a:xfrm flipH="false" flipV="false" rot="0">
            <a:off x="13666532" y="5034885"/>
            <a:ext cx="403908" cy="383713"/>
          </a:xfrm>
          <a:custGeom>
            <a:avLst/>
            <a:gdLst/>
            <a:ahLst/>
            <a:cxnLst/>
            <a:rect r="r" b="b" t="t" l="l"/>
            <a:pathLst>
              <a:path h="383713" w="403908">
                <a:moveTo>
                  <a:pt x="0" y="0"/>
                </a:moveTo>
                <a:lnTo>
                  <a:pt x="403909" y="0"/>
                </a:lnTo>
                <a:lnTo>
                  <a:pt x="403909" y="383713"/>
                </a:lnTo>
                <a:lnTo>
                  <a:pt x="0" y="383713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4" id="164"/>
          <p:cNvSpPr txBox="true"/>
          <p:nvPr/>
        </p:nvSpPr>
        <p:spPr>
          <a:xfrm rot="0">
            <a:off x="8930859" y="4961619"/>
            <a:ext cx="144983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599" u="sng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Municipal Operations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1917284" y="2275081"/>
            <a:ext cx="176874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PROBLEMS TODAY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410601" y="2914184"/>
            <a:ext cx="1926710" cy="20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Surveillance Gaps &amp; Blind Spots: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1159106" y="3190384"/>
            <a:ext cx="132758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Fixed CCTV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: only covers </a:t>
            </a:r>
          </a:p>
          <a:p>
            <a:pPr algn="just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&lt;10-15%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of roads.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1159106" y="3607161"/>
            <a:ext cx="132758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Criminals, incidents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exploit areas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without coverage.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439152" y="4523469"/>
            <a:ext cx="1926710" cy="20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Hit &amp; Run Evading Vehicles: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1159106" y="4847294"/>
            <a:ext cx="1327582" cy="35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20"/>
              </a:lnSpc>
            </a:pPr>
            <a:r>
              <a:rPr lang="en-US" sz="110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Wanted persons/vehicles:</a:t>
            </a:r>
          </a:p>
          <a:p>
            <a:pPr algn="just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travel fast across city.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1159106" y="5295068"/>
            <a:ext cx="1327582" cy="35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Hard to track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last known location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and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movement.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439152" y="6131133"/>
            <a:ext cx="1926710" cy="20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Roads Deteriorate Before Action: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159106" y="6407333"/>
            <a:ext cx="1327582" cy="51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Potholes, cracks, and waterlogging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worsen gradually.</a:t>
            </a:r>
          </a:p>
        </p:txBody>
      </p:sp>
      <p:sp>
        <p:nvSpPr>
          <p:cNvPr name="TextBox 174" id="174"/>
          <p:cNvSpPr txBox="true"/>
          <p:nvPr/>
        </p:nvSpPr>
        <p:spPr>
          <a:xfrm rot="0">
            <a:off x="1159106" y="6988507"/>
            <a:ext cx="1327582" cy="514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Late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detection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→ accidents, higher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repair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costs.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2809062" y="2924883"/>
            <a:ext cx="1926710" cy="20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Poor Urban Planning Decisions: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3557568" y="3201083"/>
            <a:ext cx="1327582" cy="35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Wrong roads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get closed or opened.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3557568" y="3617860"/>
            <a:ext cx="1327582" cy="67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Poor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construction timelines → traffic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chaos, longer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delays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, underused detour routes.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2837613" y="4561569"/>
            <a:ext cx="1926710" cy="20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No Early Warning for Hazards: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3557568" y="4923563"/>
            <a:ext cx="1327582" cy="67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Waterlogging, congestion build-up, unsafe pedestrian situations →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unnoticed until its too late.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2842112" y="6169233"/>
            <a:ext cx="1926710" cy="20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Unreliable Traffic Information: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3565010" y="6502652"/>
            <a:ext cx="1327582" cy="67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Lack of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real-time, city-wide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visibility → wrong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route choices,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longer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delays,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wasted fuel. 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2926597" y="7745140"/>
            <a:ext cx="1926710" cy="20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  <a:spcBef>
                <a:spcPct val="0"/>
              </a:spcBef>
            </a:pPr>
            <a:r>
              <a:rPr lang="en-US" b="true" sz="1200" u="sng">
                <a:solidFill>
                  <a:srgbClr val="9E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Lack of Timely &amp; Trustworthy Info: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3557568" y="8073887"/>
            <a:ext cx="1327582" cy="67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No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accurate, real-time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updates on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roads, hazards, </a:t>
            </a:r>
            <a:r>
              <a:rPr lang="en-US" sz="11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public transport </a:t>
            </a:r>
            <a:r>
              <a:rPr lang="en-US" b="true" sz="11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status.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7751426" y="2293530"/>
            <a:ext cx="2911397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OUR SOLUTION : DRISHTI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6395743" y="2854220"/>
            <a:ext cx="549655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  <a:spcBef>
                <a:spcPct val="0"/>
              </a:spcBef>
            </a:pPr>
            <a:r>
              <a:rPr lang="en-US" b="true" sz="1299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AI extracts intelligence → securely sends → our platform turns it into actionable insights. 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6703977" y="3941765"/>
            <a:ext cx="577920" cy="23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Bus Cameras </a:t>
            </a:r>
          </a:p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(On-Board)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7777921" y="3941765"/>
            <a:ext cx="577920" cy="23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Edge AI</a:t>
            </a:r>
          </a:p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Processing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8851865" y="3941765"/>
            <a:ext cx="577920" cy="23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Secure Data</a:t>
            </a:r>
          </a:p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Transmission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9861515" y="3941765"/>
            <a:ext cx="706508" cy="23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Central Platform &amp; Analytics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1035883" y="3941765"/>
            <a:ext cx="577920" cy="23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Actionable</a:t>
            </a:r>
          </a:p>
          <a:p>
            <a:pPr algn="ctr">
              <a:lnSpc>
                <a:spcPts val="821"/>
              </a:lnSpc>
            </a:pPr>
            <a:r>
              <a:rPr lang="en-US" b="true" sz="892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Insights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8055496" y="4380594"/>
            <a:ext cx="217065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163D17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What does Drishti deliver?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6171672" y="4967886"/>
            <a:ext cx="145873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Police Command &amp;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5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Control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11167540" y="4950516"/>
            <a:ext cx="145873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u="sng" b="true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Citizen Mobility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599" u="sng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Platform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6150163" y="5655116"/>
            <a:ext cx="139094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Vehicle Classification &amp; ANPR 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6150163" y="5797991"/>
            <a:ext cx="1479426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Track wanted vehicles across the city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6155754" y="6160172"/>
            <a:ext cx="87659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Watchlist Matching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6155754" y="6303047"/>
            <a:ext cx="1383953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Missing persons / flagged vehicles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6148524" y="6636422"/>
            <a:ext cx="145940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Live Alerts &amp; Incident Detection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6148524" y="6779297"/>
            <a:ext cx="14051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Collisions, rash driving, suspicious events 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6155754" y="7166919"/>
            <a:ext cx="119642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GIS Map &amp; Movement Trail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6155754" y="7309794"/>
            <a:ext cx="14051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Last seen location &amp; movement </a:t>
            </a:r>
          </a:p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history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6155754" y="7797572"/>
            <a:ext cx="75202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Evidence Viewer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6155754" y="7940447"/>
            <a:ext cx="140511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Videos, images, and timelines</a:t>
            </a:r>
          </a:p>
        </p:txBody>
      </p:sp>
      <p:sp>
        <p:nvSpPr>
          <p:cNvPr name="TextBox 204" id="204"/>
          <p:cNvSpPr txBox="true"/>
          <p:nvPr/>
        </p:nvSpPr>
        <p:spPr>
          <a:xfrm rot="0">
            <a:off x="6172544" y="8388050"/>
            <a:ext cx="133245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Case Management &amp; Support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6172544" y="8530925"/>
            <a:ext cx="140511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Organize, assign, investigate</a:t>
            </a:r>
          </a:p>
        </p:txBody>
      </p:sp>
      <p:sp>
        <p:nvSpPr>
          <p:cNvPr name="TextBox 206" id="206"/>
          <p:cNvSpPr txBox="true"/>
          <p:nvPr/>
        </p:nvSpPr>
        <p:spPr>
          <a:xfrm rot="0">
            <a:off x="8597034" y="5655116"/>
            <a:ext cx="103643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Road Defect Detection</a:t>
            </a:r>
          </a:p>
        </p:txBody>
      </p:sp>
      <p:sp>
        <p:nvSpPr>
          <p:cNvPr name="TextBox 207" id="207"/>
          <p:cNvSpPr txBox="true"/>
          <p:nvPr/>
        </p:nvSpPr>
        <p:spPr>
          <a:xfrm rot="0">
            <a:off x="8597034" y="5797991"/>
            <a:ext cx="124435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F2672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Potholes, cracks, waterlogging </a:t>
            </a:r>
          </a:p>
        </p:txBody>
      </p:sp>
      <p:sp>
        <p:nvSpPr>
          <p:cNvPr name="TextBox 208" id="208"/>
          <p:cNvSpPr txBox="true"/>
          <p:nvPr/>
        </p:nvSpPr>
        <p:spPr>
          <a:xfrm rot="0">
            <a:off x="8602625" y="6160172"/>
            <a:ext cx="1177379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Infrastructure Monitoring</a:t>
            </a:r>
          </a:p>
        </p:txBody>
      </p:sp>
      <p:sp>
        <p:nvSpPr>
          <p:cNvPr name="TextBox 209" id="209"/>
          <p:cNvSpPr txBox="true"/>
          <p:nvPr/>
        </p:nvSpPr>
        <p:spPr>
          <a:xfrm rot="0">
            <a:off x="8602625" y="6303047"/>
            <a:ext cx="1593354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F2672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Missing signs, dividers, zebra crossings</a:t>
            </a:r>
          </a:p>
        </p:txBody>
      </p:sp>
      <p:sp>
        <p:nvSpPr>
          <p:cNvPr name="TextBox 210" id="210"/>
          <p:cNvSpPr txBox="true"/>
          <p:nvPr/>
        </p:nvSpPr>
        <p:spPr>
          <a:xfrm rot="0">
            <a:off x="8595395" y="6636422"/>
            <a:ext cx="1120477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Deterioration Prediction</a:t>
            </a:r>
          </a:p>
        </p:txBody>
      </p:sp>
      <p:sp>
        <p:nvSpPr>
          <p:cNvPr name="TextBox 211" id="211"/>
          <p:cNvSpPr txBox="true"/>
          <p:nvPr/>
        </p:nvSpPr>
        <p:spPr>
          <a:xfrm rot="0">
            <a:off x="8595395" y="6779297"/>
            <a:ext cx="14051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F2672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AI tracks condition trends of roads/infra before failure</a:t>
            </a:r>
          </a:p>
        </p:txBody>
      </p:sp>
      <p:sp>
        <p:nvSpPr>
          <p:cNvPr name="TextBox 212" id="212"/>
          <p:cNvSpPr txBox="true"/>
          <p:nvPr/>
        </p:nvSpPr>
        <p:spPr>
          <a:xfrm rot="0">
            <a:off x="8602625" y="7166919"/>
            <a:ext cx="86231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Repair Verification</a:t>
            </a:r>
          </a:p>
        </p:txBody>
      </p:sp>
      <p:sp>
        <p:nvSpPr>
          <p:cNvPr name="TextBox 213" id="213"/>
          <p:cNvSpPr txBox="true"/>
          <p:nvPr/>
        </p:nvSpPr>
        <p:spPr>
          <a:xfrm rot="0">
            <a:off x="8602625" y="7309794"/>
            <a:ext cx="14051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F2672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Verify repairs and close only when</a:t>
            </a:r>
          </a:p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F2672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fixed</a:t>
            </a:r>
          </a:p>
        </p:txBody>
      </p:sp>
      <p:sp>
        <p:nvSpPr>
          <p:cNvPr name="TextBox 214" id="214"/>
          <p:cNvSpPr txBox="true"/>
          <p:nvPr/>
        </p:nvSpPr>
        <p:spPr>
          <a:xfrm rot="0">
            <a:off x="8602625" y="7797572"/>
            <a:ext cx="11328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Traffic &amp; Route Analytics</a:t>
            </a:r>
          </a:p>
        </p:txBody>
      </p:sp>
      <p:sp>
        <p:nvSpPr>
          <p:cNvPr name="TextBox 215" id="215"/>
          <p:cNvSpPr txBox="true"/>
          <p:nvPr/>
        </p:nvSpPr>
        <p:spPr>
          <a:xfrm rot="0">
            <a:off x="8602625" y="7940447"/>
            <a:ext cx="14051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F2672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Density, congestion, bottlenecks, and OD patterns</a:t>
            </a:r>
          </a:p>
        </p:txBody>
      </p:sp>
      <p:sp>
        <p:nvSpPr>
          <p:cNvPr name="TextBox 216" id="216"/>
          <p:cNvSpPr txBox="true"/>
          <p:nvPr/>
        </p:nvSpPr>
        <p:spPr>
          <a:xfrm rot="0">
            <a:off x="8616382" y="8311850"/>
            <a:ext cx="120565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u="sng" b="true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Urban Planning &amp; What-If </a:t>
            </a:r>
          </a:p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Simulator</a:t>
            </a:r>
          </a:p>
        </p:txBody>
      </p:sp>
      <p:sp>
        <p:nvSpPr>
          <p:cNvPr name="TextBox 217" id="217"/>
          <p:cNvSpPr txBox="true"/>
          <p:nvPr/>
        </p:nvSpPr>
        <p:spPr>
          <a:xfrm rot="0">
            <a:off x="8616382" y="8597851"/>
            <a:ext cx="140511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F2672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Simulate road closures, construction timelines, alternate routes, and impact</a:t>
            </a:r>
          </a:p>
        </p:txBody>
      </p:sp>
      <p:sp>
        <p:nvSpPr>
          <p:cNvPr name="TextBox 218" id="218"/>
          <p:cNvSpPr txBox="true"/>
          <p:nvPr/>
        </p:nvSpPr>
        <p:spPr>
          <a:xfrm rot="0">
            <a:off x="11035145" y="5681690"/>
            <a:ext cx="114701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Live Traffic &amp; Congestion</a:t>
            </a:r>
          </a:p>
        </p:txBody>
      </p:sp>
      <p:sp>
        <p:nvSpPr>
          <p:cNvPr name="TextBox 219" id="219"/>
          <p:cNvSpPr txBox="true"/>
          <p:nvPr/>
        </p:nvSpPr>
        <p:spPr>
          <a:xfrm rot="0">
            <a:off x="11035145" y="5824565"/>
            <a:ext cx="1129903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38E44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Real time density and speed</a:t>
            </a:r>
          </a:p>
        </p:txBody>
      </p:sp>
      <p:sp>
        <p:nvSpPr>
          <p:cNvPr name="TextBox 220" id="220"/>
          <p:cNvSpPr txBox="true"/>
          <p:nvPr/>
        </p:nvSpPr>
        <p:spPr>
          <a:xfrm rot="0">
            <a:off x="11040737" y="6186746"/>
            <a:ext cx="1247924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Road Conditions &amp; Hazards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11040737" y="6329621"/>
            <a:ext cx="1141661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38E44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AI-detected + citizen reports</a:t>
            </a:r>
          </a:p>
        </p:txBody>
      </p:sp>
      <p:sp>
        <p:nvSpPr>
          <p:cNvPr name="TextBox 222" id="222"/>
          <p:cNvSpPr txBox="true"/>
          <p:nvPr/>
        </p:nvSpPr>
        <p:spPr>
          <a:xfrm rot="0">
            <a:off x="11033507" y="6662996"/>
            <a:ext cx="1156246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Smart Route Suggestions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11033507" y="6805871"/>
            <a:ext cx="140511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38E44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Fastest / less congested routes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11040737" y="7193493"/>
            <a:ext cx="106933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Public Transport Status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11040737" y="7336368"/>
            <a:ext cx="140511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38E44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Bus location, delays, route status</a:t>
            </a:r>
          </a:p>
        </p:txBody>
      </p:sp>
      <p:sp>
        <p:nvSpPr>
          <p:cNvPr name="TextBox 226" id="226"/>
          <p:cNvSpPr txBox="true"/>
          <p:nvPr/>
        </p:nvSpPr>
        <p:spPr>
          <a:xfrm rot="0">
            <a:off x="11040737" y="7824146"/>
            <a:ext cx="768548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  <a:spcBef>
                <a:spcPct val="0"/>
              </a:spcBef>
            </a:pPr>
            <a:r>
              <a:rPr lang="en-US" b="true" sz="999" u="sng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Alerts &amp; Updates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11040737" y="7967021"/>
            <a:ext cx="140511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  <a:spcBef>
                <a:spcPct val="0"/>
              </a:spcBef>
            </a:pPr>
            <a:r>
              <a:rPr lang="en-US" sz="900">
                <a:solidFill>
                  <a:srgbClr val="138E44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Incidents, road blocks, hazards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14366257" y="2949470"/>
            <a:ext cx="192671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3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Citywide &amp; Mobile Coverage: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14366257" y="3201083"/>
            <a:ext cx="192671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Buses go where </a:t>
            </a:r>
            <a:r>
              <a:rPr lang="en-US" sz="1200" b="true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CCTV cannot.</a:t>
            </a:r>
          </a:p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Continuous</a:t>
            </a: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, </a:t>
            </a:r>
            <a:r>
              <a:rPr lang="en-US" b="true" sz="1200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citywide </a:t>
            </a: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sensing.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14366257" y="3863592"/>
            <a:ext cx="192671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3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Real-time &amp; Proactive:</a:t>
            </a:r>
          </a:p>
        </p:txBody>
      </p:sp>
      <p:sp>
        <p:nvSpPr>
          <p:cNvPr name="TextBox 231" id="231"/>
          <p:cNvSpPr txBox="true"/>
          <p:nvPr/>
        </p:nvSpPr>
        <p:spPr>
          <a:xfrm rot="0">
            <a:off x="14366257" y="4115205"/>
            <a:ext cx="289304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Detects &amp; predicts issues in </a:t>
            </a:r>
            <a:r>
              <a:rPr lang="en-US" sz="1200" b="true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real time.</a:t>
            </a:r>
          </a:p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Enables action </a:t>
            </a: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before problems escalate.</a:t>
            </a:r>
          </a:p>
        </p:txBody>
      </p:sp>
      <p:sp>
        <p:nvSpPr>
          <p:cNvPr name="TextBox 232" id="232"/>
          <p:cNvSpPr txBox="true"/>
          <p:nvPr/>
        </p:nvSpPr>
        <p:spPr>
          <a:xfrm rot="0">
            <a:off x="14366257" y="4894684"/>
            <a:ext cx="223253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3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Strict Role-Based Access Control:</a:t>
            </a:r>
          </a:p>
        </p:txBody>
      </p:sp>
      <p:sp>
        <p:nvSpPr>
          <p:cNvPr name="TextBox 233" id="233"/>
          <p:cNvSpPr txBox="true"/>
          <p:nvPr/>
        </p:nvSpPr>
        <p:spPr>
          <a:xfrm rot="0">
            <a:off x="14366257" y="5948390"/>
            <a:ext cx="192671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3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Cost-Effective at Scale: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14366257" y="6200003"/>
            <a:ext cx="322213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Uses </a:t>
            </a:r>
            <a:r>
              <a:rPr lang="en-US" sz="1200" b="true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existing bus fleet infrastructure.</a:t>
            </a:r>
          </a:p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No necessity for </a:t>
            </a:r>
            <a:r>
              <a:rPr lang="en-US" b="true" sz="1200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new camera networks.</a:t>
            </a:r>
          </a:p>
        </p:txBody>
      </p:sp>
      <p:sp>
        <p:nvSpPr>
          <p:cNvPr name="TextBox 235" id="235"/>
          <p:cNvSpPr txBox="true"/>
          <p:nvPr/>
        </p:nvSpPr>
        <p:spPr>
          <a:xfrm rot="0">
            <a:off x="14366257" y="7042384"/>
            <a:ext cx="192671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3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One Platform, Many Benefits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14366257" y="7293997"/>
            <a:ext cx="33506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One intelligent platform </a:t>
            </a: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serving the police, municipality,</a:t>
            </a:r>
          </a:p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and citizens.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14366257" y="8197622"/>
            <a:ext cx="192671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399" u="sng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Actionable &amp; Data-Driven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14366257" y="8449235"/>
            <a:ext cx="302942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Accurate, real-time data </a:t>
            </a: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powers decision making,</a:t>
            </a:r>
          </a:p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planning, and more efficient resource usage.</a:t>
            </a:r>
          </a:p>
        </p:txBody>
      </p:sp>
      <p:sp>
        <p:nvSpPr>
          <p:cNvPr name="TextBox 239" id="239"/>
          <p:cNvSpPr txBox="true"/>
          <p:nvPr/>
        </p:nvSpPr>
        <p:spPr>
          <a:xfrm rot="0">
            <a:off x="14366257" y="5124477"/>
            <a:ext cx="302942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  <a:spcBef>
                <a:spcPct val="0"/>
              </a:spcBef>
            </a:pPr>
            <a:r>
              <a:rPr lang="en-US" b="true" sz="1200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Secure siloing</a:t>
            </a: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of police, municipal, and citizen access at the software level to </a:t>
            </a:r>
            <a:r>
              <a:rPr lang="en-US" b="true" sz="1200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avoid privacy violations</a:t>
            </a:r>
            <a:r>
              <a:rPr lang="en-US" sz="1200">
                <a:solidFill>
                  <a:srgbClr val="1F497D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.</a:t>
            </a:r>
          </a:p>
        </p:txBody>
      </p:sp>
      <p:sp>
        <p:nvSpPr>
          <p:cNvPr name="Freeform 240" id="240"/>
          <p:cNvSpPr/>
          <p:nvPr/>
        </p:nvSpPr>
        <p:spPr>
          <a:xfrm flipH="false" flipV="false" rot="0">
            <a:off x="0" y="0"/>
            <a:ext cx="975942" cy="1227318"/>
          </a:xfrm>
          <a:custGeom>
            <a:avLst/>
            <a:gdLst/>
            <a:ahLst/>
            <a:cxnLst/>
            <a:rect r="r" b="b" t="t" l="l"/>
            <a:pathLst>
              <a:path h="1227318" w="975942">
                <a:moveTo>
                  <a:pt x="0" y="0"/>
                </a:moveTo>
                <a:lnTo>
                  <a:pt x="975942" y="0"/>
                </a:lnTo>
                <a:lnTo>
                  <a:pt x="975942" y="1227318"/>
                </a:lnTo>
                <a:lnTo>
                  <a:pt x="0" y="1227318"/>
                </a:lnTo>
                <a:lnTo>
                  <a:pt x="0" y="0"/>
                </a:lnTo>
                <a:close/>
              </a:path>
            </a:pathLst>
          </a:custGeom>
          <a:blipFill>
            <a:blip r:embed="rId92"/>
            <a:stretch>
              <a:fillRect l="-93002" t="-68294" r="-93531" b="-59552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94795" y="-58250"/>
            <a:ext cx="9098410" cy="1714500"/>
            <a:chOff x="0" y="0"/>
            <a:chExt cx="12131213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31213" cy="2286000"/>
            </a:xfrm>
            <a:custGeom>
              <a:avLst/>
              <a:gdLst/>
              <a:ahLst/>
              <a:cxnLst/>
              <a:rect r="r" b="b" t="t" l="l"/>
              <a:pathLst>
                <a:path h="2286000" w="12131213">
                  <a:moveTo>
                    <a:pt x="0" y="0"/>
                  </a:moveTo>
                  <a:lnTo>
                    <a:pt x="12131213" y="0"/>
                  </a:lnTo>
                  <a:lnTo>
                    <a:pt x="12131213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-80901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131213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0" y="7779713"/>
            <a:ext cx="18288000" cy="0"/>
          </a:xfrm>
          <a:prstGeom prst="line">
            <a:avLst/>
          </a:prstGeom>
          <a:ln cap="flat" w="38100">
            <a:solidFill>
              <a:srgbClr val="38B6FF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3062952" y="8128032"/>
            <a:ext cx="652980" cy="652980"/>
          </a:xfrm>
          <a:custGeom>
            <a:avLst/>
            <a:gdLst/>
            <a:ahLst/>
            <a:cxnLst/>
            <a:rect r="r" b="b" t="t" l="l"/>
            <a:pathLst>
              <a:path h="652980" w="652980">
                <a:moveTo>
                  <a:pt x="0" y="0"/>
                </a:moveTo>
                <a:lnTo>
                  <a:pt x="652980" y="0"/>
                </a:lnTo>
                <a:lnTo>
                  <a:pt x="652980" y="652981"/>
                </a:lnTo>
                <a:lnTo>
                  <a:pt x="0" y="6529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10416" y="8166132"/>
            <a:ext cx="529504" cy="701041"/>
          </a:xfrm>
          <a:custGeom>
            <a:avLst/>
            <a:gdLst/>
            <a:ahLst/>
            <a:cxnLst/>
            <a:rect r="r" b="b" t="t" l="l"/>
            <a:pathLst>
              <a:path h="701041" w="529504">
                <a:moveTo>
                  <a:pt x="0" y="0"/>
                </a:moveTo>
                <a:lnTo>
                  <a:pt x="529504" y="0"/>
                </a:lnTo>
                <a:lnTo>
                  <a:pt x="529504" y="701041"/>
                </a:lnTo>
                <a:lnTo>
                  <a:pt x="0" y="7010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176806" y="8301922"/>
            <a:ext cx="810347" cy="835858"/>
          </a:xfrm>
          <a:custGeom>
            <a:avLst/>
            <a:gdLst/>
            <a:ahLst/>
            <a:cxnLst/>
            <a:rect r="r" b="b" t="t" l="l"/>
            <a:pathLst>
              <a:path h="835858" w="810347">
                <a:moveTo>
                  <a:pt x="0" y="0"/>
                </a:moveTo>
                <a:lnTo>
                  <a:pt x="810347" y="0"/>
                </a:lnTo>
                <a:lnTo>
                  <a:pt x="810347" y="835858"/>
                </a:lnTo>
                <a:lnTo>
                  <a:pt x="0" y="8358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101453" y="8166132"/>
            <a:ext cx="703848" cy="1033408"/>
          </a:xfrm>
          <a:custGeom>
            <a:avLst/>
            <a:gdLst/>
            <a:ahLst/>
            <a:cxnLst/>
            <a:rect r="r" b="b" t="t" l="l"/>
            <a:pathLst>
              <a:path h="1033408" w="703848">
                <a:moveTo>
                  <a:pt x="0" y="0"/>
                </a:moveTo>
                <a:lnTo>
                  <a:pt x="703848" y="0"/>
                </a:lnTo>
                <a:lnTo>
                  <a:pt x="703848" y="1033409"/>
                </a:lnTo>
                <a:lnTo>
                  <a:pt x="0" y="10334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638604" y="8152809"/>
            <a:ext cx="843916" cy="843916"/>
          </a:xfrm>
          <a:custGeom>
            <a:avLst/>
            <a:gdLst/>
            <a:ahLst/>
            <a:cxnLst/>
            <a:rect r="r" b="b" t="t" l="l"/>
            <a:pathLst>
              <a:path h="843916" w="843916">
                <a:moveTo>
                  <a:pt x="0" y="0"/>
                </a:moveTo>
                <a:lnTo>
                  <a:pt x="843916" y="0"/>
                </a:lnTo>
                <a:lnTo>
                  <a:pt x="843916" y="843916"/>
                </a:lnTo>
                <a:lnTo>
                  <a:pt x="0" y="8439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149414" y="8049367"/>
            <a:ext cx="1102570" cy="1016431"/>
          </a:xfrm>
          <a:custGeom>
            <a:avLst/>
            <a:gdLst/>
            <a:ahLst/>
            <a:cxnLst/>
            <a:rect r="r" b="b" t="t" l="l"/>
            <a:pathLst>
              <a:path h="1016431" w="1102570">
                <a:moveTo>
                  <a:pt x="0" y="0"/>
                </a:moveTo>
                <a:lnTo>
                  <a:pt x="1102569" y="0"/>
                </a:lnTo>
                <a:lnTo>
                  <a:pt x="1102569" y="1016431"/>
                </a:lnTo>
                <a:lnTo>
                  <a:pt x="0" y="10164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367551" y="8049367"/>
            <a:ext cx="1088413" cy="1088413"/>
          </a:xfrm>
          <a:custGeom>
            <a:avLst/>
            <a:gdLst/>
            <a:ahLst/>
            <a:cxnLst/>
            <a:rect r="r" b="b" t="t" l="l"/>
            <a:pathLst>
              <a:path h="1088413" w="1088413">
                <a:moveTo>
                  <a:pt x="0" y="0"/>
                </a:moveTo>
                <a:lnTo>
                  <a:pt x="1088413" y="0"/>
                </a:lnTo>
                <a:lnTo>
                  <a:pt x="1088413" y="1088413"/>
                </a:lnTo>
                <a:lnTo>
                  <a:pt x="0" y="1088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455964" y="8047196"/>
            <a:ext cx="1088413" cy="1088413"/>
          </a:xfrm>
          <a:custGeom>
            <a:avLst/>
            <a:gdLst/>
            <a:ahLst/>
            <a:cxnLst/>
            <a:rect r="r" b="b" t="t" l="l"/>
            <a:pathLst>
              <a:path h="1088413" w="1088413">
                <a:moveTo>
                  <a:pt x="0" y="0"/>
                </a:moveTo>
                <a:lnTo>
                  <a:pt x="1088413" y="0"/>
                </a:lnTo>
                <a:lnTo>
                  <a:pt x="1088413" y="1088413"/>
                </a:lnTo>
                <a:lnTo>
                  <a:pt x="0" y="10884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733987" y="8049367"/>
            <a:ext cx="2266723" cy="600682"/>
          </a:xfrm>
          <a:custGeom>
            <a:avLst/>
            <a:gdLst/>
            <a:ahLst/>
            <a:cxnLst/>
            <a:rect r="r" b="b" t="t" l="l"/>
            <a:pathLst>
              <a:path h="600682" w="2266723">
                <a:moveTo>
                  <a:pt x="0" y="0"/>
                </a:moveTo>
                <a:lnTo>
                  <a:pt x="2266723" y="0"/>
                </a:lnTo>
                <a:lnTo>
                  <a:pt x="2266723" y="600682"/>
                </a:lnTo>
                <a:lnTo>
                  <a:pt x="0" y="6006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37342" y="8617830"/>
            <a:ext cx="1133362" cy="755574"/>
          </a:xfrm>
          <a:custGeom>
            <a:avLst/>
            <a:gdLst/>
            <a:ahLst/>
            <a:cxnLst/>
            <a:rect r="r" b="b" t="t" l="l"/>
            <a:pathLst>
              <a:path h="755574" w="1133362">
                <a:moveTo>
                  <a:pt x="0" y="0"/>
                </a:moveTo>
                <a:lnTo>
                  <a:pt x="1133361" y="0"/>
                </a:lnTo>
                <a:lnTo>
                  <a:pt x="1133361" y="755575"/>
                </a:lnTo>
                <a:lnTo>
                  <a:pt x="0" y="755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991310" y="8031085"/>
            <a:ext cx="1009936" cy="1208768"/>
          </a:xfrm>
          <a:custGeom>
            <a:avLst/>
            <a:gdLst/>
            <a:ahLst/>
            <a:cxnLst/>
            <a:rect r="r" b="b" t="t" l="l"/>
            <a:pathLst>
              <a:path h="1208768" w="1009936">
                <a:moveTo>
                  <a:pt x="0" y="0"/>
                </a:moveTo>
                <a:lnTo>
                  <a:pt x="1009937" y="0"/>
                </a:lnTo>
                <a:lnTo>
                  <a:pt x="1009937" y="1208768"/>
                </a:lnTo>
                <a:lnTo>
                  <a:pt x="0" y="12087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flipH="true">
            <a:off x="4921901" y="7895634"/>
            <a:ext cx="0" cy="1242146"/>
          </a:xfrm>
          <a:prstGeom prst="line">
            <a:avLst/>
          </a:prstGeom>
          <a:ln cap="flat" w="38100">
            <a:solidFill>
              <a:srgbClr val="38B6FF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>
            <a:off x="7119626" y="7895634"/>
            <a:ext cx="0" cy="1242146"/>
          </a:xfrm>
          <a:prstGeom prst="line">
            <a:avLst/>
          </a:prstGeom>
          <a:ln cap="flat" w="38100">
            <a:solidFill>
              <a:srgbClr val="38B6FF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9001498" y="7937532"/>
            <a:ext cx="0" cy="1242146"/>
          </a:xfrm>
          <a:prstGeom prst="line">
            <a:avLst/>
          </a:prstGeom>
          <a:ln cap="flat" w="38100">
            <a:solidFill>
              <a:srgbClr val="38B6FF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13058727" y="7937532"/>
            <a:ext cx="0" cy="1242146"/>
          </a:xfrm>
          <a:prstGeom prst="line">
            <a:avLst/>
          </a:prstGeom>
          <a:ln cap="flat" w="38100">
            <a:solidFill>
              <a:srgbClr val="38B6FF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>
            <a:off x="16438860" y="7953694"/>
            <a:ext cx="0" cy="1242146"/>
          </a:xfrm>
          <a:prstGeom prst="line">
            <a:avLst/>
          </a:prstGeom>
          <a:ln cap="flat" w="38100">
            <a:solidFill>
              <a:srgbClr val="38B6FF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2681952" y="7895634"/>
            <a:ext cx="0" cy="1242146"/>
          </a:xfrm>
          <a:prstGeom prst="line">
            <a:avLst/>
          </a:prstGeom>
          <a:ln cap="flat" w="38100">
            <a:solidFill>
              <a:srgbClr val="38B6FF">
                <a:alpha val="2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3287277" y="1595752"/>
            <a:ext cx="1927962" cy="5069033"/>
            <a:chOff x="0" y="0"/>
            <a:chExt cx="1051671" cy="27650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1671" cy="2765073"/>
            </a:xfrm>
            <a:custGeom>
              <a:avLst/>
              <a:gdLst/>
              <a:ahLst/>
              <a:cxnLst/>
              <a:rect r="r" b="b" t="t" l="l"/>
              <a:pathLst>
                <a:path h="2765073" w="1051671">
                  <a:moveTo>
                    <a:pt x="40156" y="0"/>
                  </a:moveTo>
                  <a:lnTo>
                    <a:pt x="1011515" y="0"/>
                  </a:lnTo>
                  <a:cubicBezTo>
                    <a:pt x="1022165" y="0"/>
                    <a:pt x="1032379" y="4231"/>
                    <a:pt x="1039910" y="11761"/>
                  </a:cubicBezTo>
                  <a:cubicBezTo>
                    <a:pt x="1047441" y="19292"/>
                    <a:pt x="1051671" y="29506"/>
                    <a:pt x="1051671" y="40156"/>
                  </a:cubicBezTo>
                  <a:lnTo>
                    <a:pt x="1051671" y="2724917"/>
                  </a:lnTo>
                  <a:cubicBezTo>
                    <a:pt x="1051671" y="2747095"/>
                    <a:pt x="1033693" y="2765073"/>
                    <a:pt x="1011515" y="2765073"/>
                  </a:cubicBezTo>
                  <a:lnTo>
                    <a:pt x="40156" y="2765073"/>
                  </a:lnTo>
                  <a:cubicBezTo>
                    <a:pt x="17978" y="2765073"/>
                    <a:pt x="0" y="2747095"/>
                    <a:pt x="0" y="2724917"/>
                  </a:cubicBezTo>
                  <a:lnTo>
                    <a:pt x="0" y="40156"/>
                  </a:lnTo>
                  <a:cubicBezTo>
                    <a:pt x="0" y="17978"/>
                    <a:pt x="17978" y="0"/>
                    <a:pt x="40156" y="0"/>
                  </a:cubicBezTo>
                  <a:close/>
                </a:path>
              </a:pathLst>
            </a:custGeom>
            <a:solidFill>
              <a:srgbClr val="1F497D">
                <a:alpha val="6275"/>
              </a:srgbClr>
            </a:solidFill>
            <a:ln w="19050" cap="sq">
              <a:solidFill>
                <a:srgbClr val="1F497D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51671" cy="2803173"/>
            </a:xfrm>
            <a:prstGeom prst="rect">
              <a:avLst/>
            </a:prstGeom>
          </p:spPr>
          <p:txBody>
            <a:bodyPr anchor="ctr" rtlCol="false" tIns="37332" lIns="37332" bIns="37332" rIns="37332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4063049" y="1998953"/>
            <a:ext cx="363636" cy="363636"/>
          </a:xfrm>
          <a:custGeom>
            <a:avLst/>
            <a:gdLst/>
            <a:ahLst/>
            <a:cxnLst/>
            <a:rect r="r" b="b" t="t" l="l"/>
            <a:pathLst>
              <a:path h="363636" w="363636">
                <a:moveTo>
                  <a:pt x="0" y="0"/>
                </a:moveTo>
                <a:lnTo>
                  <a:pt x="363637" y="0"/>
                </a:lnTo>
                <a:lnTo>
                  <a:pt x="363637" y="363637"/>
                </a:lnTo>
                <a:lnTo>
                  <a:pt x="0" y="3636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469504" y="2375491"/>
            <a:ext cx="1563508" cy="57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1"/>
              </a:lnSpc>
            </a:pPr>
            <a:r>
              <a:rPr lang="en-US" sz="1134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Detection + Tracking</a:t>
            </a:r>
          </a:p>
          <a:p>
            <a:pPr algn="ctr">
              <a:lnSpc>
                <a:spcPts val="1073"/>
              </a:lnSpc>
              <a:spcBef>
                <a:spcPct val="0"/>
              </a:spcBef>
            </a:pPr>
            <a:r>
              <a:rPr lang="en-US" sz="894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Evaluate YOLO on relevant road data → </a:t>
            </a:r>
            <a:r>
              <a:rPr lang="en-US" sz="894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track objects, use multi-frame consensus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4114353" y="3169521"/>
            <a:ext cx="261028" cy="355141"/>
          </a:xfrm>
          <a:custGeom>
            <a:avLst/>
            <a:gdLst/>
            <a:ahLst/>
            <a:cxnLst/>
            <a:rect r="r" b="b" t="t" l="l"/>
            <a:pathLst>
              <a:path h="355141" w="261028">
                <a:moveTo>
                  <a:pt x="0" y="0"/>
                </a:moveTo>
                <a:lnTo>
                  <a:pt x="261029" y="0"/>
                </a:lnTo>
                <a:lnTo>
                  <a:pt x="261029" y="355140"/>
                </a:lnTo>
                <a:lnTo>
                  <a:pt x="0" y="35514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097643" y="4407714"/>
            <a:ext cx="307228" cy="311907"/>
          </a:xfrm>
          <a:custGeom>
            <a:avLst/>
            <a:gdLst/>
            <a:ahLst/>
            <a:cxnLst/>
            <a:rect r="r" b="b" t="t" l="l"/>
            <a:pathLst>
              <a:path h="311907" w="307228">
                <a:moveTo>
                  <a:pt x="0" y="0"/>
                </a:moveTo>
                <a:lnTo>
                  <a:pt x="307229" y="0"/>
                </a:lnTo>
                <a:lnTo>
                  <a:pt x="307229" y="311907"/>
                </a:lnTo>
                <a:lnTo>
                  <a:pt x="0" y="3119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120335" y="5589494"/>
            <a:ext cx="261845" cy="299252"/>
          </a:xfrm>
          <a:custGeom>
            <a:avLst/>
            <a:gdLst/>
            <a:ahLst/>
            <a:cxnLst/>
            <a:rect r="r" b="b" t="t" l="l"/>
            <a:pathLst>
              <a:path h="299252" w="261845">
                <a:moveTo>
                  <a:pt x="0" y="0"/>
                </a:moveTo>
                <a:lnTo>
                  <a:pt x="261845" y="0"/>
                </a:lnTo>
                <a:lnTo>
                  <a:pt x="261845" y="299252"/>
                </a:lnTo>
                <a:lnTo>
                  <a:pt x="0" y="29925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5400000">
            <a:off x="4163290" y="2995373"/>
            <a:ext cx="175935" cy="49262"/>
          </a:xfrm>
          <a:custGeom>
            <a:avLst/>
            <a:gdLst/>
            <a:ahLst/>
            <a:cxnLst/>
            <a:rect r="r" b="b" t="t" l="l"/>
            <a:pathLst>
              <a:path h="49262" w="175935">
                <a:moveTo>
                  <a:pt x="0" y="0"/>
                </a:moveTo>
                <a:lnTo>
                  <a:pt x="175935" y="0"/>
                </a:lnTo>
                <a:lnTo>
                  <a:pt x="175935" y="49261"/>
                </a:lnTo>
                <a:lnTo>
                  <a:pt x="0" y="4926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5400000">
            <a:off x="4163290" y="4234324"/>
            <a:ext cx="175935" cy="49262"/>
          </a:xfrm>
          <a:custGeom>
            <a:avLst/>
            <a:gdLst/>
            <a:ahLst/>
            <a:cxnLst/>
            <a:rect r="r" b="b" t="t" l="l"/>
            <a:pathLst>
              <a:path h="49262" w="175935">
                <a:moveTo>
                  <a:pt x="0" y="0"/>
                </a:moveTo>
                <a:lnTo>
                  <a:pt x="175935" y="0"/>
                </a:lnTo>
                <a:lnTo>
                  <a:pt x="175935" y="49261"/>
                </a:lnTo>
                <a:lnTo>
                  <a:pt x="0" y="4926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5400000">
            <a:off x="4163290" y="5395949"/>
            <a:ext cx="175935" cy="49262"/>
          </a:xfrm>
          <a:custGeom>
            <a:avLst/>
            <a:gdLst/>
            <a:ahLst/>
            <a:cxnLst/>
            <a:rect r="r" b="b" t="t" l="l"/>
            <a:pathLst>
              <a:path h="49262" w="175935">
                <a:moveTo>
                  <a:pt x="0" y="0"/>
                </a:moveTo>
                <a:lnTo>
                  <a:pt x="175935" y="0"/>
                </a:lnTo>
                <a:lnTo>
                  <a:pt x="175935" y="49262"/>
                </a:lnTo>
                <a:lnTo>
                  <a:pt x="0" y="492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457644" y="1683336"/>
            <a:ext cx="3563290" cy="24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3"/>
              </a:lnSpc>
              <a:spcBef>
                <a:spcPct val="0"/>
              </a:spcBef>
            </a:pPr>
            <a:r>
              <a:rPr lang="en-US" b="true" sz="141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UNDERSTAND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696307" y="1595752"/>
            <a:ext cx="2003108" cy="5069033"/>
            <a:chOff x="0" y="0"/>
            <a:chExt cx="1082557" cy="273950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2557" cy="2739502"/>
            </a:xfrm>
            <a:custGeom>
              <a:avLst/>
              <a:gdLst/>
              <a:ahLst/>
              <a:cxnLst/>
              <a:rect r="r" b="b" t="t" l="l"/>
              <a:pathLst>
                <a:path h="2739502" w="1082557">
                  <a:moveTo>
                    <a:pt x="38650" y="0"/>
                  </a:moveTo>
                  <a:lnTo>
                    <a:pt x="1043907" y="0"/>
                  </a:lnTo>
                  <a:cubicBezTo>
                    <a:pt x="1054158" y="0"/>
                    <a:pt x="1063988" y="4072"/>
                    <a:pt x="1071237" y="11320"/>
                  </a:cubicBezTo>
                  <a:cubicBezTo>
                    <a:pt x="1078485" y="18568"/>
                    <a:pt x="1082557" y="28399"/>
                    <a:pt x="1082557" y="38650"/>
                  </a:cubicBezTo>
                  <a:lnTo>
                    <a:pt x="1082557" y="2700852"/>
                  </a:lnTo>
                  <a:cubicBezTo>
                    <a:pt x="1082557" y="2722198"/>
                    <a:pt x="1065253" y="2739502"/>
                    <a:pt x="1043907" y="2739502"/>
                  </a:cubicBezTo>
                  <a:lnTo>
                    <a:pt x="38650" y="2739502"/>
                  </a:lnTo>
                  <a:cubicBezTo>
                    <a:pt x="17304" y="2739502"/>
                    <a:pt x="0" y="2722198"/>
                    <a:pt x="0" y="2700852"/>
                  </a:cubicBezTo>
                  <a:lnTo>
                    <a:pt x="0" y="38650"/>
                  </a:lnTo>
                  <a:cubicBezTo>
                    <a:pt x="0" y="17304"/>
                    <a:pt x="17304" y="0"/>
                    <a:pt x="38650" y="0"/>
                  </a:cubicBezTo>
                  <a:close/>
                </a:path>
              </a:pathLst>
            </a:custGeom>
            <a:solidFill>
              <a:srgbClr val="163D17">
                <a:alpha val="3922"/>
              </a:srgbClr>
            </a:solidFill>
            <a:ln w="19050" cap="sq">
              <a:solidFill>
                <a:srgbClr val="138E44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82557" cy="2777602"/>
            </a:xfrm>
            <a:prstGeom prst="rect">
              <a:avLst/>
            </a:prstGeom>
          </p:spPr>
          <p:txBody>
            <a:bodyPr anchor="ctr" rtlCol="false" tIns="40628" lIns="40628" bIns="40628" rIns="40628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5400000">
            <a:off x="6585070" y="4224466"/>
            <a:ext cx="177577" cy="49722"/>
          </a:xfrm>
          <a:custGeom>
            <a:avLst/>
            <a:gdLst/>
            <a:ahLst/>
            <a:cxnLst/>
            <a:rect r="r" b="b" t="t" l="l"/>
            <a:pathLst>
              <a:path h="49722" w="177577">
                <a:moveTo>
                  <a:pt x="0" y="0"/>
                </a:moveTo>
                <a:lnTo>
                  <a:pt x="177577" y="0"/>
                </a:lnTo>
                <a:lnTo>
                  <a:pt x="177577" y="49722"/>
                </a:lnTo>
                <a:lnTo>
                  <a:pt x="0" y="4972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5400000">
            <a:off x="6601416" y="2952014"/>
            <a:ext cx="177577" cy="49722"/>
          </a:xfrm>
          <a:custGeom>
            <a:avLst/>
            <a:gdLst/>
            <a:ahLst/>
            <a:cxnLst/>
            <a:rect r="r" b="b" t="t" l="l"/>
            <a:pathLst>
              <a:path h="49722" w="177577">
                <a:moveTo>
                  <a:pt x="0" y="0"/>
                </a:moveTo>
                <a:lnTo>
                  <a:pt x="177577" y="0"/>
                </a:lnTo>
                <a:lnTo>
                  <a:pt x="177577" y="49722"/>
                </a:lnTo>
                <a:lnTo>
                  <a:pt x="0" y="4972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5400000">
            <a:off x="6551694" y="5428919"/>
            <a:ext cx="177577" cy="49722"/>
          </a:xfrm>
          <a:custGeom>
            <a:avLst/>
            <a:gdLst/>
            <a:ahLst/>
            <a:cxnLst/>
            <a:rect r="r" b="b" t="t" l="l"/>
            <a:pathLst>
              <a:path h="49722" w="177577">
                <a:moveTo>
                  <a:pt x="0" y="0"/>
                </a:moveTo>
                <a:lnTo>
                  <a:pt x="177578" y="0"/>
                </a:lnTo>
                <a:lnTo>
                  <a:pt x="177578" y="49722"/>
                </a:lnTo>
                <a:lnTo>
                  <a:pt x="0" y="4972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518036" y="2009224"/>
            <a:ext cx="339470" cy="315707"/>
          </a:xfrm>
          <a:custGeom>
            <a:avLst/>
            <a:gdLst/>
            <a:ahLst/>
            <a:cxnLst/>
            <a:rect r="r" b="b" t="t" l="l"/>
            <a:pathLst>
              <a:path h="315707" w="339470">
                <a:moveTo>
                  <a:pt x="0" y="0"/>
                </a:moveTo>
                <a:lnTo>
                  <a:pt x="339470" y="0"/>
                </a:lnTo>
                <a:lnTo>
                  <a:pt x="339470" y="315707"/>
                </a:lnTo>
                <a:lnTo>
                  <a:pt x="0" y="31570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529099" y="3154573"/>
            <a:ext cx="317345" cy="317345"/>
          </a:xfrm>
          <a:custGeom>
            <a:avLst/>
            <a:gdLst/>
            <a:ahLst/>
            <a:cxnLst/>
            <a:rect r="r" b="b" t="t" l="l"/>
            <a:pathLst>
              <a:path h="317345" w="317345">
                <a:moveTo>
                  <a:pt x="0" y="0"/>
                </a:moveTo>
                <a:lnTo>
                  <a:pt x="317345" y="0"/>
                </a:lnTo>
                <a:lnTo>
                  <a:pt x="317345" y="317346"/>
                </a:lnTo>
                <a:lnTo>
                  <a:pt x="0" y="31734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529470" y="4407565"/>
            <a:ext cx="317431" cy="356664"/>
          </a:xfrm>
          <a:custGeom>
            <a:avLst/>
            <a:gdLst/>
            <a:ahLst/>
            <a:cxnLst/>
            <a:rect r="r" b="b" t="t" l="l"/>
            <a:pathLst>
              <a:path h="356664" w="317431">
                <a:moveTo>
                  <a:pt x="0" y="0"/>
                </a:moveTo>
                <a:lnTo>
                  <a:pt x="317431" y="0"/>
                </a:lnTo>
                <a:lnTo>
                  <a:pt x="317431" y="356664"/>
                </a:lnTo>
                <a:lnTo>
                  <a:pt x="0" y="35666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475234" y="5611597"/>
            <a:ext cx="322238" cy="350258"/>
          </a:xfrm>
          <a:custGeom>
            <a:avLst/>
            <a:gdLst/>
            <a:ahLst/>
            <a:cxnLst/>
            <a:rect r="r" b="b" t="t" l="l"/>
            <a:pathLst>
              <a:path h="350258" w="322238">
                <a:moveTo>
                  <a:pt x="0" y="0"/>
                </a:moveTo>
                <a:lnTo>
                  <a:pt x="322238" y="0"/>
                </a:lnTo>
                <a:lnTo>
                  <a:pt x="322238" y="350259"/>
                </a:lnTo>
                <a:lnTo>
                  <a:pt x="0" y="350259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4913799" y="1676576"/>
            <a:ext cx="3596551" cy="2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  <a:spcBef>
                <a:spcPct val="0"/>
              </a:spcBef>
            </a:pPr>
            <a:r>
              <a:rPr lang="en-US" b="true" sz="1424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VERIFY &amp; DELIVER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247610" y="1636726"/>
            <a:ext cx="2445608" cy="5034041"/>
            <a:chOff x="0" y="0"/>
            <a:chExt cx="1281289" cy="263740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81289" cy="2637406"/>
            </a:xfrm>
            <a:custGeom>
              <a:avLst/>
              <a:gdLst/>
              <a:ahLst/>
              <a:cxnLst/>
              <a:rect r="r" b="b" t="t" l="l"/>
              <a:pathLst>
                <a:path h="2637406" w="1281289">
                  <a:moveTo>
                    <a:pt x="31656" y="0"/>
                  </a:moveTo>
                  <a:lnTo>
                    <a:pt x="1249633" y="0"/>
                  </a:lnTo>
                  <a:cubicBezTo>
                    <a:pt x="1267116" y="0"/>
                    <a:pt x="1281289" y="14173"/>
                    <a:pt x="1281289" y="31656"/>
                  </a:cubicBezTo>
                  <a:lnTo>
                    <a:pt x="1281289" y="2605750"/>
                  </a:lnTo>
                  <a:cubicBezTo>
                    <a:pt x="1281289" y="2623233"/>
                    <a:pt x="1267116" y="2637406"/>
                    <a:pt x="1249633" y="2637406"/>
                  </a:cubicBezTo>
                  <a:lnTo>
                    <a:pt x="31656" y="2637406"/>
                  </a:lnTo>
                  <a:cubicBezTo>
                    <a:pt x="14173" y="2637406"/>
                    <a:pt x="0" y="2623233"/>
                    <a:pt x="0" y="2605750"/>
                  </a:cubicBezTo>
                  <a:lnTo>
                    <a:pt x="0" y="31656"/>
                  </a:lnTo>
                  <a:cubicBezTo>
                    <a:pt x="0" y="14173"/>
                    <a:pt x="14173" y="0"/>
                    <a:pt x="31656" y="0"/>
                  </a:cubicBezTo>
                  <a:close/>
                </a:path>
              </a:pathLst>
            </a:custGeom>
            <a:solidFill>
              <a:srgbClr val="9E0000">
                <a:alpha val="5098"/>
              </a:srgbClr>
            </a:solidFill>
            <a:ln w="19050" cap="sq">
              <a:solidFill>
                <a:srgbClr val="C00000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281289" cy="2675506"/>
            </a:xfrm>
            <a:prstGeom prst="rect">
              <a:avLst/>
            </a:prstGeom>
          </p:spPr>
          <p:txBody>
            <a:bodyPr anchor="ctr" rtlCol="false" tIns="41003" lIns="41003" bIns="41003" rIns="41003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9204017" y="2148574"/>
            <a:ext cx="574436" cy="722561"/>
          </a:xfrm>
          <a:custGeom>
            <a:avLst/>
            <a:gdLst/>
            <a:ahLst/>
            <a:cxnLst/>
            <a:rect r="r" b="b" t="t" l="l"/>
            <a:pathLst>
              <a:path h="722561" w="574436">
                <a:moveTo>
                  <a:pt x="0" y="0"/>
                </a:moveTo>
                <a:lnTo>
                  <a:pt x="574436" y="0"/>
                </a:lnTo>
                <a:lnTo>
                  <a:pt x="574436" y="722561"/>
                </a:lnTo>
                <a:lnTo>
                  <a:pt x="0" y="722561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042013" y="3690072"/>
            <a:ext cx="937626" cy="717284"/>
          </a:xfrm>
          <a:custGeom>
            <a:avLst/>
            <a:gdLst/>
            <a:ahLst/>
            <a:cxnLst/>
            <a:rect r="r" b="b" t="t" l="l"/>
            <a:pathLst>
              <a:path h="717284" w="937626">
                <a:moveTo>
                  <a:pt x="0" y="0"/>
                </a:moveTo>
                <a:lnTo>
                  <a:pt x="937625" y="0"/>
                </a:lnTo>
                <a:lnTo>
                  <a:pt x="937625" y="717284"/>
                </a:lnTo>
                <a:lnTo>
                  <a:pt x="0" y="717284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1498733" y="1636726"/>
            <a:ext cx="2445608" cy="1860842"/>
            <a:chOff x="0" y="0"/>
            <a:chExt cx="1281289" cy="97492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1289" cy="974921"/>
            </a:xfrm>
            <a:custGeom>
              <a:avLst/>
              <a:gdLst/>
              <a:ahLst/>
              <a:cxnLst/>
              <a:rect r="r" b="b" t="t" l="l"/>
              <a:pathLst>
                <a:path h="974921" w="1281289">
                  <a:moveTo>
                    <a:pt x="31656" y="0"/>
                  </a:moveTo>
                  <a:lnTo>
                    <a:pt x="1249633" y="0"/>
                  </a:lnTo>
                  <a:cubicBezTo>
                    <a:pt x="1267116" y="0"/>
                    <a:pt x="1281289" y="14173"/>
                    <a:pt x="1281289" y="31656"/>
                  </a:cubicBezTo>
                  <a:lnTo>
                    <a:pt x="1281289" y="943265"/>
                  </a:lnTo>
                  <a:cubicBezTo>
                    <a:pt x="1281289" y="960748"/>
                    <a:pt x="1267116" y="974921"/>
                    <a:pt x="1249633" y="974921"/>
                  </a:cubicBezTo>
                  <a:lnTo>
                    <a:pt x="31656" y="974921"/>
                  </a:lnTo>
                  <a:cubicBezTo>
                    <a:pt x="14173" y="974921"/>
                    <a:pt x="0" y="960748"/>
                    <a:pt x="0" y="943265"/>
                  </a:cubicBezTo>
                  <a:lnTo>
                    <a:pt x="0" y="31656"/>
                  </a:lnTo>
                  <a:cubicBezTo>
                    <a:pt x="0" y="14173"/>
                    <a:pt x="14173" y="0"/>
                    <a:pt x="31656" y="0"/>
                  </a:cubicBezTo>
                  <a:close/>
                </a:path>
              </a:pathLst>
            </a:custGeom>
            <a:solidFill>
              <a:srgbClr val="FC9223">
                <a:alpha val="6275"/>
              </a:srgbClr>
            </a:solidFill>
            <a:ln w="19050" cap="sq">
              <a:solidFill>
                <a:srgbClr val="FC9223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281289" cy="1013021"/>
            </a:xfrm>
            <a:prstGeom prst="rect">
              <a:avLst/>
            </a:prstGeom>
          </p:spPr>
          <p:txBody>
            <a:bodyPr anchor="ctr" rtlCol="false" tIns="37332" lIns="37332" bIns="37332" rIns="37332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2444813" y="2069040"/>
            <a:ext cx="513385" cy="693763"/>
          </a:xfrm>
          <a:custGeom>
            <a:avLst/>
            <a:gdLst/>
            <a:ahLst/>
            <a:cxnLst/>
            <a:rect r="r" b="b" t="t" l="l"/>
            <a:pathLst>
              <a:path h="693763" w="513385">
                <a:moveTo>
                  <a:pt x="0" y="0"/>
                </a:moveTo>
                <a:lnTo>
                  <a:pt x="513384" y="0"/>
                </a:lnTo>
                <a:lnTo>
                  <a:pt x="513384" y="693764"/>
                </a:lnTo>
                <a:lnTo>
                  <a:pt x="0" y="693764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1498600" y="3599143"/>
            <a:ext cx="2445608" cy="1413455"/>
            <a:chOff x="0" y="0"/>
            <a:chExt cx="1281289" cy="7405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81289" cy="740529"/>
            </a:xfrm>
            <a:custGeom>
              <a:avLst/>
              <a:gdLst/>
              <a:ahLst/>
              <a:cxnLst/>
              <a:rect r="r" b="b" t="t" l="l"/>
              <a:pathLst>
                <a:path h="740529" w="1281289">
                  <a:moveTo>
                    <a:pt x="31656" y="0"/>
                  </a:moveTo>
                  <a:lnTo>
                    <a:pt x="1249633" y="0"/>
                  </a:lnTo>
                  <a:cubicBezTo>
                    <a:pt x="1267116" y="0"/>
                    <a:pt x="1281289" y="14173"/>
                    <a:pt x="1281289" y="31656"/>
                  </a:cubicBezTo>
                  <a:lnTo>
                    <a:pt x="1281289" y="708873"/>
                  </a:lnTo>
                  <a:cubicBezTo>
                    <a:pt x="1281289" y="726356"/>
                    <a:pt x="1267116" y="740529"/>
                    <a:pt x="1249633" y="740529"/>
                  </a:cubicBezTo>
                  <a:lnTo>
                    <a:pt x="31656" y="740529"/>
                  </a:lnTo>
                  <a:cubicBezTo>
                    <a:pt x="14173" y="740529"/>
                    <a:pt x="0" y="726356"/>
                    <a:pt x="0" y="708873"/>
                  </a:cubicBezTo>
                  <a:lnTo>
                    <a:pt x="0" y="31656"/>
                  </a:lnTo>
                  <a:cubicBezTo>
                    <a:pt x="0" y="14173"/>
                    <a:pt x="14173" y="0"/>
                    <a:pt x="31656" y="0"/>
                  </a:cubicBezTo>
                  <a:close/>
                </a:path>
              </a:pathLst>
            </a:custGeom>
            <a:solidFill>
              <a:srgbClr val="FC9223">
                <a:alpha val="6275"/>
              </a:srgbClr>
            </a:solidFill>
            <a:ln w="19050" cap="sq">
              <a:solidFill>
                <a:srgbClr val="FC9223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281289" cy="778629"/>
            </a:xfrm>
            <a:prstGeom prst="rect">
              <a:avLst/>
            </a:prstGeom>
          </p:spPr>
          <p:txBody>
            <a:bodyPr anchor="ctr" rtlCol="false" tIns="37332" lIns="37332" bIns="37332" rIns="37332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2539582" y="3770553"/>
            <a:ext cx="363643" cy="530865"/>
          </a:xfrm>
          <a:custGeom>
            <a:avLst/>
            <a:gdLst/>
            <a:ahLst/>
            <a:cxnLst/>
            <a:rect r="r" b="b" t="t" l="l"/>
            <a:pathLst>
              <a:path h="530865" w="363643">
                <a:moveTo>
                  <a:pt x="0" y="0"/>
                </a:moveTo>
                <a:lnTo>
                  <a:pt x="363643" y="0"/>
                </a:lnTo>
                <a:lnTo>
                  <a:pt x="363643" y="530865"/>
                </a:lnTo>
                <a:lnTo>
                  <a:pt x="0" y="530865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484926" y="5049805"/>
            <a:ext cx="2035510" cy="1620962"/>
            <a:chOff x="0" y="0"/>
            <a:chExt cx="952970" cy="75889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52970" cy="758890"/>
            </a:xfrm>
            <a:custGeom>
              <a:avLst/>
              <a:gdLst/>
              <a:ahLst/>
              <a:cxnLst/>
              <a:rect r="r" b="b" t="t" l="l"/>
              <a:pathLst>
                <a:path h="758890" w="952970">
                  <a:moveTo>
                    <a:pt x="38034" y="0"/>
                  </a:moveTo>
                  <a:lnTo>
                    <a:pt x="914935" y="0"/>
                  </a:lnTo>
                  <a:cubicBezTo>
                    <a:pt x="935941" y="0"/>
                    <a:pt x="952970" y="17029"/>
                    <a:pt x="952970" y="38034"/>
                  </a:cubicBezTo>
                  <a:lnTo>
                    <a:pt x="952970" y="720855"/>
                  </a:lnTo>
                  <a:cubicBezTo>
                    <a:pt x="952970" y="730943"/>
                    <a:pt x="948963" y="740617"/>
                    <a:pt x="941830" y="747750"/>
                  </a:cubicBezTo>
                  <a:cubicBezTo>
                    <a:pt x="934697" y="754883"/>
                    <a:pt x="925023" y="758890"/>
                    <a:pt x="914935" y="758890"/>
                  </a:cubicBezTo>
                  <a:lnTo>
                    <a:pt x="38034" y="758890"/>
                  </a:lnTo>
                  <a:cubicBezTo>
                    <a:pt x="27947" y="758890"/>
                    <a:pt x="18273" y="754883"/>
                    <a:pt x="11140" y="747750"/>
                  </a:cubicBezTo>
                  <a:cubicBezTo>
                    <a:pt x="4007" y="740617"/>
                    <a:pt x="0" y="730943"/>
                    <a:pt x="0" y="720855"/>
                  </a:cubicBezTo>
                  <a:lnTo>
                    <a:pt x="0" y="38034"/>
                  </a:lnTo>
                  <a:cubicBezTo>
                    <a:pt x="0" y="27947"/>
                    <a:pt x="4007" y="18273"/>
                    <a:pt x="11140" y="11140"/>
                  </a:cubicBezTo>
                  <a:cubicBezTo>
                    <a:pt x="18273" y="4007"/>
                    <a:pt x="27947" y="0"/>
                    <a:pt x="38034" y="0"/>
                  </a:cubicBezTo>
                  <a:close/>
                </a:path>
              </a:pathLst>
            </a:custGeom>
            <a:solidFill>
              <a:srgbClr val="F26720">
                <a:alpha val="8235"/>
              </a:srgbClr>
            </a:solidFill>
            <a:ln w="19050" cap="sq">
              <a:solidFill>
                <a:srgbClr val="F26720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52970" cy="796990"/>
            </a:xfrm>
            <a:prstGeom prst="rect">
              <a:avLst/>
            </a:prstGeom>
          </p:spPr>
          <p:txBody>
            <a:bodyPr anchor="ctr" rtlCol="false" tIns="45885" lIns="45885" bIns="45885" rIns="45885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241949" y="5213711"/>
            <a:ext cx="459555" cy="301009"/>
          </a:xfrm>
          <a:custGeom>
            <a:avLst/>
            <a:gdLst/>
            <a:ahLst/>
            <a:cxnLst/>
            <a:rect r="r" b="b" t="t" l="l"/>
            <a:pathLst>
              <a:path h="301009" w="459555">
                <a:moveTo>
                  <a:pt x="0" y="0"/>
                </a:moveTo>
                <a:lnTo>
                  <a:pt x="459555" y="0"/>
                </a:lnTo>
                <a:lnTo>
                  <a:pt x="459555" y="301008"/>
                </a:lnTo>
                <a:lnTo>
                  <a:pt x="0" y="30100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484926" y="1595752"/>
            <a:ext cx="2035510" cy="3335377"/>
            <a:chOff x="0" y="0"/>
            <a:chExt cx="1281289" cy="209951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81289" cy="2099514"/>
            </a:xfrm>
            <a:custGeom>
              <a:avLst/>
              <a:gdLst/>
              <a:ahLst/>
              <a:cxnLst/>
              <a:rect r="r" b="b" t="t" l="l"/>
              <a:pathLst>
                <a:path h="2099514" w="1281289">
                  <a:moveTo>
                    <a:pt x="38034" y="0"/>
                  </a:moveTo>
                  <a:lnTo>
                    <a:pt x="1243255" y="0"/>
                  </a:lnTo>
                  <a:cubicBezTo>
                    <a:pt x="1253342" y="0"/>
                    <a:pt x="1263016" y="4007"/>
                    <a:pt x="1270149" y="11140"/>
                  </a:cubicBezTo>
                  <a:cubicBezTo>
                    <a:pt x="1277282" y="18273"/>
                    <a:pt x="1281289" y="27947"/>
                    <a:pt x="1281289" y="38034"/>
                  </a:cubicBezTo>
                  <a:lnTo>
                    <a:pt x="1281289" y="2061480"/>
                  </a:lnTo>
                  <a:cubicBezTo>
                    <a:pt x="1281289" y="2071567"/>
                    <a:pt x="1277282" y="2081242"/>
                    <a:pt x="1270149" y="2088374"/>
                  </a:cubicBezTo>
                  <a:cubicBezTo>
                    <a:pt x="1263016" y="2095507"/>
                    <a:pt x="1253342" y="2099514"/>
                    <a:pt x="1243255" y="2099514"/>
                  </a:cubicBezTo>
                  <a:lnTo>
                    <a:pt x="38034" y="2099514"/>
                  </a:lnTo>
                  <a:cubicBezTo>
                    <a:pt x="27947" y="2099514"/>
                    <a:pt x="18273" y="2095507"/>
                    <a:pt x="11140" y="2088374"/>
                  </a:cubicBezTo>
                  <a:cubicBezTo>
                    <a:pt x="4007" y="2081242"/>
                    <a:pt x="0" y="2071567"/>
                    <a:pt x="0" y="2061480"/>
                  </a:cubicBezTo>
                  <a:lnTo>
                    <a:pt x="0" y="38034"/>
                  </a:lnTo>
                  <a:cubicBezTo>
                    <a:pt x="0" y="27947"/>
                    <a:pt x="4007" y="18273"/>
                    <a:pt x="11140" y="11140"/>
                  </a:cubicBezTo>
                  <a:cubicBezTo>
                    <a:pt x="18273" y="4007"/>
                    <a:pt x="27947" y="0"/>
                    <a:pt x="38034" y="0"/>
                  </a:cubicBezTo>
                  <a:close/>
                </a:path>
              </a:pathLst>
            </a:custGeom>
            <a:solidFill>
              <a:srgbClr val="F26720">
                <a:alpha val="8235"/>
              </a:srgbClr>
            </a:solidFill>
            <a:ln w="19050" cap="sq">
              <a:solidFill>
                <a:srgbClr val="F26720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281289" cy="2137614"/>
            </a:xfrm>
            <a:prstGeom prst="rect">
              <a:avLst/>
            </a:prstGeom>
          </p:spPr>
          <p:txBody>
            <a:bodyPr anchor="ctr" rtlCol="false" tIns="34127" lIns="34127" bIns="34127" rIns="34127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026136" y="2252007"/>
            <a:ext cx="970586" cy="559765"/>
          </a:xfrm>
          <a:custGeom>
            <a:avLst/>
            <a:gdLst/>
            <a:ahLst/>
            <a:cxnLst/>
            <a:rect r="r" b="b" t="t" l="l"/>
            <a:pathLst>
              <a:path h="559765" w="970586">
                <a:moveTo>
                  <a:pt x="0" y="0"/>
                </a:moveTo>
                <a:lnTo>
                  <a:pt x="970586" y="0"/>
                </a:lnTo>
                <a:lnTo>
                  <a:pt x="970586" y="559764"/>
                </a:lnTo>
                <a:lnTo>
                  <a:pt x="0" y="55976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935656" y="3499415"/>
            <a:ext cx="545003" cy="545003"/>
          </a:xfrm>
          <a:custGeom>
            <a:avLst/>
            <a:gdLst/>
            <a:ahLst/>
            <a:cxnLst/>
            <a:rect r="r" b="b" t="t" l="l"/>
            <a:pathLst>
              <a:path h="545003" w="545003">
                <a:moveTo>
                  <a:pt x="0" y="0"/>
                </a:moveTo>
                <a:lnTo>
                  <a:pt x="545003" y="0"/>
                </a:lnTo>
                <a:lnTo>
                  <a:pt x="545003" y="545003"/>
                </a:lnTo>
                <a:lnTo>
                  <a:pt x="0" y="545003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519003" y="3507660"/>
            <a:ext cx="613438" cy="536758"/>
          </a:xfrm>
          <a:custGeom>
            <a:avLst/>
            <a:gdLst/>
            <a:ahLst/>
            <a:cxnLst/>
            <a:rect r="r" b="b" t="t" l="l"/>
            <a:pathLst>
              <a:path h="536758" w="613438">
                <a:moveTo>
                  <a:pt x="0" y="0"/>
                </a:moveTo>
                <a:lnTo>
                  <a:pt x="613438" y="0"/>
                </a:lnTo>
                <a:lnTo>
                  <a:pt x="613438" y="536758"/>
                </a:lnTo>
                <a:lnTo>
                  <a:pt x="0" y="536758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1498600" y="5251331"/>
            <a:ext cx="2445608" cy="1413455"/>
            <a:chOff x="0" y="0"/>
            <a:chExt cx="1281289" cy="74052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81289" cy="740529"/>
            </a:xfrm>
            <a:custGeom>
              <a:avLst/>
              <a:gdLst/>
              <a:ahLst/>
              <a:cxnLst/>
              <a:rect r="r" b="b" t="t" l="l"/>
              <a:pathLst>
                <a:path h="740529" w="1281289">
                  <a:moveTo>
                    <a:pt x="31656" y="0"/>
                  </a:moveTo>
                  <a:lnTo>
                    <a:pt x="1249633" y="0"/>
                  </a:lnTo>
                  <a:cubicBezTo>
                    <a:pt x="1267116" y="0"/>
                    <a:pt x="1281289" y="14173"/>
                    <a:pt x="1281289" y="31656"/>
                  </a:cubicBezTo>
                  <a:lnTo>
                    <a:pt x="1281289" y="708873"/>
                  </a:lnTo>
                  <a:cubicBezTo>
                    <a:pt x="1281289" y="726356"/>
                    <a:pt x="1267116" y="740529"/>
                    <a:pt x="1249633" y="740529"/>
                  </a:cubicBezTo>
                  <a:lnTo>
                    <a:pt x="31656" y="740529"/>
                  </a:lnTo>
                  <a:cubicBezTo>
                    <a:pt x="14173" y="740529"/>
                    <a:pt x="0" y="726356"/>
                    <a:pt x="0" y="708873"/>
                  </a:cubicBezTo>
                  <a:lnTo>
                    <a:pt x="0" y="31656"/>
                  </a:lnTo>
                  <a:cubicBezTo>
                    <a:pt x="0" y="14173"/>
                    <a:pt x="14173" y="0"/>
                    <a:pt x="31656" y="0"/>
                  </a:cubicBezTo>
                  <a:close/>
                </a:path>
              </a:pathLst>
            </a:custGeom>
            <a:solidFill>
              <a:srgbClr val="FC9223">
                <a:alpha val="6275"/>
              </a:srgbClr>
            </a:solidFill>
            <a:ln w="19050" cap="sq">
              <a:solidFill>
                <a:srgbClr val="FC9223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281289" cy="778629"/>
            </a:xfrm>
            <a:prstGeom prst="rect">
              <a:avLst/>
            </a:prstGeom>
          </p:spPr>
          <p:txBody>
            <a:bodyPr anchor="ctr" rtlCol="false" tIns="37332" lIns="37332" bIns="37332" rIns="37332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2462662" y="5325806"/>
            <a:ext cx="517485" cy="514897"/>
          </a:xfrm>
          <a:custGeom>
            <a:avLst/>
            <a:gdLst/>
            <a:ahLst/>
            <a:cxnLst/>
            <a:rect r="r" b="b" t="t" l="l"/>
            <a:pathLst>
              <a:path h="514897" w="517485">
                <a:moveTo>
                  <a:pt x="0" y="0"/>
                </a:moveTo>
                <a:lnTo>
                  <a:pt x="517484" y="0"/>
                </a:lnTo>
                <a:lnTo>
                  <a:pt x="517484" y="514897"/>
                </a:lnTo>
                <a:lnTo>
                  <a:pt x="0" y="514897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0" id="80"/>
          <p:cNvSpPr/>
          <p:nvPr/>
        </p:nvSpPr>
        <p:spPr>
          <a:xfrm>
            <a:off x="2520437" y="3093309"/>
            <a:ext cx="766840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>
            <a:off x="2908697" y="3093309"/>
            <a:ext cx="0" cy="2465409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2520437" y="5542895"/>
            <a:ext cx="396829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5206688" y="3794591"/>
            <a:ext cx="506908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4" id="84"/>
          <p:cNvSpPr/>
          <p:nvPr/>
        </p:nvSpPr>
        <p:spPr>
          <a:xfrm>
            <a:off x="7747974" y="3810414"/>
            <a:ext cx="510715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5" id="85"/>
          <p:cNvSpPr/>
          <p:nvPr/>
        </p:nvSpPr>
        <p:spPr>
          <a:xfrm>
            <a:off x="11171117" y="2402406"/>
            <a:ext cx="0" cy="368086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>
            <a:off x="10693218" y="3810414"/>
            <a:ext cx="459279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>
            <a:off x="11152497" y="6083266"/>
            <a:ext cx="346103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8" id="88"/>
          <p:cNvSpPr/>
          <p:nvPr/>
        </p:nvSpPr>
        <p:spPr>
          <a:xfrm>
            <a:off x="11152497" y="3809432"/>
            <a:ext cx="368501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9" id="89"/>
          <p:cNvSpPr/>
          <p:nvPr/>
        </p:nvSpPr>
        <p:spPr>
          <a:xfrm>
            <a:off x="11152497" y="2402406"/>
            <a:ext cx="349881" cy="0"/>
          </a:xfrm>
          <a:prstGeom prst="line">
            <a:avLst/>
          </a:prstGeom>
          <a:ln cap="flat" w="28575">
            <a:solidFill>
              <a:srgbClr val="15192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0" id="90"/>
          <p:cNvSpPr/>
          <p:nvPr/>
        </p:nvSpPr>
        <p:spPr>
          <a:xfrm flipH="false" flipV="false" rot="0">
            <a:off x="0" y="0"/>
            <a:ext cx="975942" cy="1227318"/>
          </a:xfrm>
          <a:custGeom>
            <a:avLst/>
            <a:gdLst/>
            <a:ahLst/>
            <a:cxnLst/>
            <a:rect r="r" b="b" t="t" l="l"/>
            <a:pathLst>
              <a:path h="1227318" w="975942">
                <a:moveTo>
                  <a:pt x="0" y="0"/>
                </a:moveTo>
                <a:lnTo>
                  <a:pt x="975942" y="0"/>
                </a:lnTo>
                <a:lnTo>
                  <a:pt x="975942" y="1227318"/>
                </a:lnTo>
                <a:lnTo>
                  <a:pt x="0" y="1227318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-93002" t="-68294" r="-93531" b="-59552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4496658" y="5012598"/>
            <a:ext cx="7392074" cy="3437314"/>
          </a:xfrm>
          <a:custGeom>
            <a:avLst/>
            <a:gdLst/>
            <a:ahLst/>
            <a:cxnLst/>
            <a:rect r="r" b="b" t="t" l="l"/>
            <a:pathLst>
              <a:path h="3437314" w="7392074">
                <a:moveTo>
                  <a:pt x="0" y="0"/>
                </a:moveTo>
                <a:lnTo>
                  <a:pt x="7392074" y="0"/>
                </a:lnTo>
                <a:lnTo>
                  <a:pt x="7392074" y="3437314"/>
                </a:lnTo>
                <a:lnTo>
                  <a:pt x="0" y="3437314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sp>
        <p:nvSpPr>
          <p:cNvPr name="TextBox 92" id="92"/>
          <p:cNvSpPr txBox="true"/>
          <p:nvPr/>
        </p:nvSpPr>
        <p:spPr>
          <a:xfrm rot="0">
            <a:off x="3533308" y="3536734"/>
            <a:ext cx="1435899" cy="57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052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Location estimation</a:t>
            </a:r>
          </a:p>
          <a:p>
            <a:pPr algn="ctr">
              <a:lnSpc>
                <a:spcPts val="1025"/>
              </a:lnSpc>
              <a:spcBef>
                <a:spcPct val="0"/>
              </a:spcBef>
            </a:pPr>
            <a:r>
              <a:rPr lang="en-US" sz="854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GNSS / IMU + calibrated camera geometry, defect location is not simply bus GPS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3560339" y="4749316"/>
            <a:ext cx="1381838" cy="54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1021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Privacy Gate</a:t>
            </a:r>
          </a:p>
          <a:p>
            <a:pPr algn="ctr">
              <a:lnSpc>
                <a:spcPts val="997"/>
              </a:lnSpc>
              <a:spcBef>
                <a:spcPct val="0"/>
              </a:spcBef>
            </a:pPr>
            <a:r>
              <a:rPr lang="en-US" sz="831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Mask plates and faces before upload; OCR only for authorized plate use cases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3492124" y="5920962"/>
            <a:ext cx="1518267" cy="636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5"/>
              </a:lnSpc>
            </a:pPr>
            <a:r>
              <a:rPr lang="en-US" sz="1021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Persistent Event Buffer</a:t>
            </a:r>
          </a:p>
          <a:p>
            <a:pPr algn="ctr">
              <a:lnSpc>
                <a:spcPts val="1225"/>
              </a:lnSpc>
              <a:spcBef>
                <a:spcPct val="0"/>
              </a:spcBef>
            </a:pPr>
            <a:r>
              <a:rPr lang="en-US" sz="1021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Encrypted, bounded local disk storage, replay unacknowledged events on reconnect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905768" y="2410688"/>
            <a:ext cx="1618595" cy="44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4"/>
              </a:lnSpc>
            </a:pPr>
            <a:r>
              <a:rPr lang="en-US" sz="1145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Cellular Uplink</a:t>
            </a:r>
          </a:p>
          <a:p>
            <a:pPr algn="ctr">
              <a:lnSpc>
                <a:spcPts val="1084"/>
              </a:lnSpc>
              <a:spcBef>
                <a:spcPct val="0"/>
              </a:spcBef>
            </a:pPr>
            <a:r>
              <a:rPr lang="en-US" sz="90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HTTPS / MQTT over TLS → send event metadata + redacted frame / short clip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5935870" y="3544844"/>
            <a:ext cx="1503803" cy="58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8"/>
              </a:lnSpc>
            </a:pPr>
            <a:r>
              <a:rPr lang="en-US" sz="1098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Authenticated ingestion</a:t>
            </a:r>
          </a:p>
          <a:p>
            <a:pPr algn="ctr">
              <a:lnSpc>
                <a:spcPts val="1070"/>
              </a:lnSpc>
              <a:spcBef>
                <a:spcPct val="0"/>
              </a:spcBef>
            </a:pPr>
            <a:r>
              <a:rPr lang="en-US" sz="892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Device identity + schema/payload checks, reject unauthorized/malformed uploads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902588" y="4799526"/>
            <a:ext cx="1525512" cy="51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"/>
              </a:lnSpc>
            </a:pPr>
            <a:r>
              <a:rPr lang="en-US" sz="95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Durable queue</a:t>
            </a:r>
          </a:p>
          <a:p>
            <a:pPr algn="ctr">
              <a:lnSpc>
                <a:spcPts val="909"/>
              </a:lnSpc>
            </a:pPr>
            <a:r>
              <a:rPr lang="en-US" sz="758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Acknowledge only after durable acceptance</a:t>
            </a:r>
          </a:p>
          <a:p>
            <a:pPr algn="ctr">
              <a:lnSpc>
                <a:spcPts val="909"/>
              </a:lnSpc>
              <a:spcBef>
                <a:spcPct val="0"/>
              </a:spcBef>
            </a:pPr>
            <a:r>
              <a:rPr lang="en-US" sz="758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Worker retries + dead-letter handling with HITL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959009" y="6027728"/>
            <a:ext cx="1512113" cy="58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"/>
              </a:lnSpc>
            </a:pPr>
            <a:r>
              <a:rPr lang="en-US" sz="95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Validate &amp; Deduplicate</a:t>
            </a:r>
          </a:p>
          <a:p>
            <a:pPr algn="ctr">
              <a:lnSpc>
                <a:spcPts val="1140"/>
              </a:lnSpc>
            </a:pPr>
            <a:r>
              <a:rPr lang="en-US" sz="95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Idempotent processing by event ID, </a:t>
            </a:r>
          </a:p>
          <a:p>
            <a:pPr algn="ctr">
              <a:lnSpc>
                <a:spcPts val="1140"/>
              </a:lnSpc>
              <a:spcBef>
                <a:spcPct val="0"/>
              </a:spcBef>
            </a:pPr>
            <a:r>
              <a:rPr lang="en-US" sz="95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cross-bus spatial/temporal correlation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8554806" y="2934431"/>
            <a:ext cx="1890282" cy="46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4"/>
              </a:lnSpc>
            </a:pPr>
            <a:r>
              <a:rPr lang="en-US" sz="1178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PostgreSQL + PostGIS</a:t>
            </a:r>
          </a:p>
          <a:p>
            <a:pPr algn="ctr">
              <a:lnSpc>
                <a:spcPts val="1067"/>
              </a:lnSpc>
            </a:pPr>
            <a:r>
              <a:rPr lang="en-US" sz="88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Candidates, observations + geospatial state;</a:t>
            </a:r>
          </a:p>
          <a:p>
            <a:pPr algn="ctr">
              <a:lnSpc>
                <a:spcPts val="1067"/>
              </a:lnSpc>
              <a:spcBef>
                <a:spcPct val="0"/>
              </a:spcBef>
            </a:pPr>
            <a:r>
              <a:rPr lang="en-US" sz="88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Issues, assignments, reviews + audit records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8615137" y="4481824"/>
            <a:ext cx="1771320" cy="43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5"/>
              </a:lnSpc>
            </a:pPr>
            <a:r>
              <a:rPr lang="en-US" sz="1104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Object storage</a:t>
            </a:r>
          </a:p>
          <a:p>
            <a:pPr algn="ctr">
              <a:lnSpc>
                <a:spcPts val="1033"/>
              </a:lnSpc>
            </a:pPr>
            <a:r>
              <a:rPr lang="en-US" sz="861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Redacted images/clips; evidence references</a:t>
            </a:r>
          </a:p>
          <a:p>
            <a:pPr algn="ctr">
              <a:lnSpc>
                <a:spcPts val="1033"/>
              </a:lnSpc>
              <a:spcBef>
                <a:spcPct val="0"/>
              </a:spcBef>
            </a:pPr>
            <a:r>
              <a:rPr lang="en-US" sz="861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Restricted originals → only when authorized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7645803" y="1733419"/>
            <a:ext cx="3709987" cy="25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3"/>
              </a:lnSpc>
              <a:spcBef>
                <a:spcPct val="0"/>
              </a:spcBef>
            </a:pPr>
            <a:r>
              <a:rPr lang="en-US" b="true" sz="1469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CENTRAL INTELLIGENCE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105340" y="1728580"/>
            <a:ext cx="3175164" cy="26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8"/>
              </a:lnSpc>
              <a:spcBef>
                <a:spcPct val="0"/>
              </a:spcBef>
            </a:pPr>
            <a:r>
              <a:rPr lang="en-US" b="true" sz="1507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END USERS 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730817" y="2834716"/>
            <a:ext cx="1927418" cy="599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2"/>
              </a:lnSpc>
            </a:pPr>
            <a:r>
              <a:rPr lang="en-US" sz="1201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FastAPI service boundary</a:t>
            </a:r>
          </a:p>
          <a:p>
            <a:pPr algn="ctr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Authenticate new users &amp; requests;</a:t>
            </a:r>
          </a:p>
          <a:p>
            <a:pPr algn="ctr">
              <a:lnSpc>
                <a:spcPts val="1088"/>
              </a:lnSpc>
            </a:pPr>
            <a:r>
              <a:rPr lang="en-US" sz="906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Backend RBAC + department/jurisdiction</a:t>
            </a:r>
          </a:p>
          <a:p>
            <a:pPr algn="ctr">
              <a:lnSpc>
                <a:spcPts val="1088"/>
              </a:lnSpc>
              <a:spcBef>
                <a:spcPct val="0"/>
              </a:spcBef>
            </a:pPr>
            <a:r>
              <a:rPr lang="en-US" sz="906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Evidence access enforced server-side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690155" y="4367216"/>
            <a:ext cx="2062497" cy="54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3"/>
              </a:lnSpc>
            </a:pPr>
            <a:r>
              <a:rPr lang="en-US" b="true" sz="131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Police/Municipal Access</a:t>
            </a:r>
          </a:p>
          <a:p>
            <a:pPr algn="ctr">
              <a:lnSpc>
                <a:spcPts val="1274"/>
              </a:lnSpc>
            </a:pPr>
            <a:r>
              <a:rPr lang="en-US" sz="1062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React + Leaflet operational workspaces</a:t>
            </a:r>
          </a:p>
          <a:p>
            <a:pPr algn="ctr">
              <a:lnSpc>
                <a:spcPts val="1274"/>
              </a:lnSpc>
              <a:spcBef>
                <a:spcPct val="0"/>
              </a:spcBef>
            </a:pPr>
            <a:r>
              <a:rPr lang="en-US" sz="1062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Scoped review, assignment, &amp; field updates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09739" y="5564027"/>
            <a:ext cx="1167866" cy="28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7"/>
              </a:lnSpc>
              <a:spcBef>
                <a:spcPct val="0"/>
              </a:spcBef>
            </a:pPr>
            <a:r>
              <a:rPr lang="en-US" b="true" sz="1673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Event Envelope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66907" y="5890365"/>
            <a:ext cx="2053530" cy="62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6"/>
              </a:lnSpc>
            </a:pPr>
            <a:r>
              <a:rPr lang="en-US" sz="101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Stable event ID + Source device/bus +</a:t>
            </a:r>
          </a:p>
          <a:p>
            <a:pPr algn="ctr">
              <a:lnSpc>
                <a:spcPts val="1216"/>
              </a:lnSpc>
              <a:spcBef>
                <a:spcPct val="0"/>
              </a:spcBef>
            </a:pPr>
            <a:r>
              <a:rPr lang="en-US" sz="101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Capture time + model version / provenance + estimated location + spatial uncertainty + evidence reference + integrity checksum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641345" y="2896380"/>
            <a:ext cx="1765613" cy="48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sz="1184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Cameras on bus</a:t>
            </a:r>
          </a:p>
          <a:p>
            <a:pPr algn="ctr">
              <a:lnSpc>
                <a:spcPts val="1179"/>
              </a:lnSpc>
              <a:spcBef>
                <a:spcPct val="0"/>
              </a:spcBef>
            </a:pPr>
            <a:r>
              <a:rPr lang="en-US" sz="98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Direct CSI/USB connection to Jetson-One camera pilot, expand after testing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87129" y="4126608"/>
            <a:ext cx="1831106" cy="77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sz="1184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G</a:t>
            </a:r>
            <a:r>
              <a:rPr lang="en-US" sz="1184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NSS + IMU</a:t>
            </a:r>
          </a:p>
          <a:p>
            <a:pPr algn="ctr">
              <a:lnSpc>
                <a:spcPts val="1179"/>
              </a:lnSpc>
              <a:spcBef>
                <a:spcPct val="0"/>
              </a:spcBef>
            </a:pPr>
            <a:r>
              <a:rPr lang="en-US" sz="98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ESP32 for timestamped IMU, synchronized sensor and timer clocks so that </a:t>
            </a:r>
            <a:r>
              <a:rPr lang="en-US" sz="983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backend can determine independent observations of same physical event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-41253" y="1936389"/>
            <a:ext cx="308786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4"/>
              </a:lnSpc>
              <a:spcBef>
                <a:spcPct val="0"/>
              </a:spcBef>
            </a:pPr>
            <a:r>
              <a:rPr lang="en-US" b="true" sz="1412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CAPTURE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660944" y="5885165"/>
            <a:ext cx="2120920" cy="70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3"/>
              </a:lnSpc>
            </a:pPr>
            <a:r>
              <a:rPr lang="en-US" b="true" sz="131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Citizen API + public map</a:t>
            </a:r>
          </a:p>
          <a:p>
            <a:pPr algn="ctr">
              <a:lnSpc>
                <a:spcPts val="1274"/>
              </a:lnSpc>
            </a:pPr>
            <a:r>
              <a:rPr lang="en-US" sz="1062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Only approved road conditions are published</a:t>
            </a:r>
          </a:p>
          <a:p>
            <a:pPr algn="ctr">
              <a:lnSpc>
                <a:spcPts val="1274"/>
              </a:lnSpc>
            </a:pPr>
            <a:r>
              <a:rPr lang="en-US" sz="1062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No plates, faces, watchlists, or bus IDs</a:t>
            </a:r>
          </a:p>
          <a:p>
            <a:pPr algn="ctr">
              <a:lnSpc>
                <a:spcPts val="1274"/>
              </a:lnSpc>
              <a:spcBef>
                <a:spcPct val="0"/>
              </a:spcBef>
            </a:pPr>
            <a:r>
              <a:rPr lang="en-US" sz="1062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No internal confidence scores/raw reports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320678" y="8263351"/>
            <a:ext cx="209044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TECH STACK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936570" y="9249580"/>
            <a:ext cx="187017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Image Detection &amp; Recognition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663136" y="9249580"/>
            <a:ext cx="559197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Database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7452450" y="9249580"/>
            <a:ext cx="12162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API Endpoint Testing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0031737" y="9266216"/>
            <a:ext cx="176004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Frontend UI &amp; Functionalities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644860" y="9249580"/>
            <a:ext cx="143023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Map &amp; Location Display 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7262569" y="9244160"/>
            <a:ext cx="46742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Storage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3101570" y="7908957"/>
            <a:ext cx="6143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Ultralytics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4045998" y="7908957"/>
            <a:ext cx="45834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OpenCV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5193718" y="7908957"/>
            <a:ext cx="68768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PostgreSQL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7831317" y="7867059"/>
            <a:ext cx="45849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FastAPI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9531641" y="7830292"/>
            <a:ext cx="34845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React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0670975" y="7813707"/>
            <a:ext cx="139055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Typescript &amp; JavaScript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3988208" y="7813707"/>
            <a:ext cx="149433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Leaflet &amp; OpenStreetMap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7170866" y="7808288"/>
            <a:ext cx="650825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Amazon S3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6102076" y="7908957"/>
            <a:ext cx="467816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PostGIS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92623" y="1534124"/>
            <a:ext cx="5570042" cy="4002212"/>
            <a:chOff x="0" y="0"/>
            <a:chExt cx="1467007" cy="10540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7007" cy="1054081"/>
            </a:xfrm>
            <a:custGeom>
              <a:avLst/>
              <a:gdLst/>
              <a:ahLst/>
              <a:cxnLst/>
              <a:rect r="r" b="b" t="t" l="l"/>
              <a:pathLst>
                <a:path h="1054081" w="1467007">
                  <a:moveTo>
                    <a:pt x="102854" y="0"/>
                  </a:moveTo>
                  <a:lnTo>
                    <a:pt x="1364153" y="0"/>
                  </a:lnTo>
                  <a:cubicBezTo>
                    <a:pt x="1391431" y="0"/>
                    <a:pt x="1417593" y="10836"/>
                    <a:pt x="1436882" y="30125"/>
                  </a:cubicBezTo>
                  <a:cubicBezTo>
                    <a:pt x="1456171" y="49414"/>
                    <a:pt x="1467007" y="75576"/>
                    <a:pt x="1467007" y="102854"/>
                  </a:cubicBezTo>
                  <a:lnTo>
                    <a:pt x="1467007" y="951226"/>
                  </a:lnTo>
                  <a:cubicBezTo>
                    <a:pt x="1467007" y="978505"/>
                    <a:pt x="1456171" y="1004666"/>
                    <a:pt x="1436882" y="1023955"/>
                  </a:cubicBezTo>
                  <a:cubicBezTo>
                    <a:pt x="1417593" y="1043244"/>
                    <a:pt x="1391431" y="1054081"/>
                    <a:pt x="1364153" y="1054081"/>
                  </a:cubicBezTo>
                  <a:lnTo>
                    <a:pt x="102854" y="1054081"/>
                  </a:lnTo>
                  <a:cubicBezTo>
                    <a:pt x="75576" y="1054081"/>
                    <a:pt x="49414" y="1043244"/>
                    <a:pt x="30125" y="1023955"/>
                  </a:cubicBezTo>
                  <a:cubicBezTo>
                    <a:pt x="10836" y="1004666"/>
                    <a:pt x="0" y="978505"/>
                    <a:pt x="0" y="951226"/>
                  </a:cubicBezTo>
                  <a:lnTo>
                    <a:pt x="0" y="102854"/>
                  </a:lnTo>
                  <a:cubicBezTo>
                    <a:pt x="0" y="75576"/>
                    <a:pt x="10836" y="49414"/>
                    <a:pt x="30125" y="30125"/>
                  </a:cubicBezTo>
                  <a:cubicBezTo>
                    <a:pt x="49414" y="10836"/>
                    <a:pt x="75576" y="0"/>
                    <a:pt x="102854" y="0"/>
                  </a:cubicBezTo>
                  <a:close/>
                </a:path>
              </a:pathLst>
            </a:custGeom>
            <a:ln w="19050" cap="rnd">
              <a:solidFill>
                <a:srgbClr val="F2672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7007" cy="1092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62136" y="15575"/>
            <a:ext cx="16459200" cy="1714500"/>
            <a:chOff x="0" y="0"/>
            <a:chExt cx="219456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000" r="0" b="-4300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666831" y="2338886"/>
            <a:ext cx="4294284" cy="34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49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Proven Edge-AI Tech 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— Jetson-class boards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779235" y="2802426"/>
            <a:ext cx="5047232" cy="173757"/>
          </a:xfrm>
          <a:custGeom>
            <a:avLst/>
            <a:gdLst/>
            <a:ahLst/>
            <a:cxnLst/>
            <a:rect r="r" b="b" t="t" l="l"/>
            <a:pathLst>
              <a:path h="173757" w="5047232">
                <a:moveTo>
                  <a:pt x="0" y="0"/>
                </a:moveTo>
                <a:lnTo>
                  <a:pt x="5047232" y="0"/>
                </a:lnTo>
                <a:lnTo>
                  <a:pt x="5047232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79235" y="3693439"/>
            <a:ext cx="5047232" cy="173757"/>
          </a:xfrm>
          <a:custGeom>
            <a:avLst/>
            <a:gdLst/>
            <a:ahLst/>
            <a:cxnLst/>
            <a:rect r="r" b="b" t="t" l="l"/>
            <a:pathLst>
              <a:path h="173757" w="5047232">
                <a:moveTo>
                  <a:pt x="0" y="0"/>
                </a:moveTo>
                <a:lnTo>
                  <a:pt x="5047232" y="0"/>
                </a:lnTo>
                <a:lnTo>
                  <a:pt x="5047232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597203" y="4425668"/>
            <a:ext cx="5229263" cy="173757"/>
          </a:xfrm>
          <a:custGeom>
            <a:avLst/>
            <a:gdLst/>
            <a:ahLst/>
            <a:cxnLst/>
            <a:rect r="r" b="b" t="t" l="l"/>
            <a:pathLst>
              <a:path h="173757" w="5229263">
                <a:moveTo>
                  <a:pt x="0" y="0"/>
                </a:moveTo>
                <a:lnTo>
                  <a:pt x="5229264" y="0"/>
                </a:lnTo>
                <a:lnTo>
                  <a:pt x="5229264" y="173758"/>
                </a:lnTo>
                <a:lnTo>
                  <a:pt x="0" y="1737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267341" y="1996775"/>
            <a:ext cx="926705" cy="345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3" b="true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Viability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15065" y="1543649"/>
            <a:ext cx="5570042" cy="4002212"/>
            <a:chOff x="0" y="0"/>
            <a:chExt cx="1467007" cy="10540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7007" cy="1054081"/>
            </a:xfrm>
            <a:custGeom>
              <a:avLst/>
              <a:gdLst/>
              <a:ahLst/>
              <a:cxnLst/>
              <a:rect r="r" b="b" t="t" l="l"/>
              <a:pathLst>
                <a:path h="1054081" w="1467007">
                  <a:moveTo>
                    <a:pt x="102854" y="0"/>
                  </a:moveTo>
                  <a:lnTo>
                    <a:pt x="1364153" y="0"/>
                  </a:lnTo>
                  <a:cubicBezTo>
                    <a:pt x="1391431" y="0"/>
                    <a:pt x="1417593" y="10836"/>
                    <a:pt x="1436882" y="30125"/>
                  </a:cubicBezTo>
                  <a:cubicBezTo>
                    <a:pt x="1456171" y="49414"/>
                    <a:pt x="1467007" y="75576"/>
                    <a:pt x="1467007" y="102854"/>
                  </a:cubicBezTo>
                  <a:lnTo>
                    <a:pt x="1467007" y="951226"/>
                  </a:lnTo>
                  <a:cubicBezTo>
                    <a:pt x="1467007" y="978505"/>
                    <a:pt x="1456171" y="1004666"/>
                    <a:pt x="1436882" y="1023955"/>
                  </a:cubicBezTo>
                  <a:cubicBezTo>
                    <a:pt x="1417593" y="1043244"/>
                    <a:pt x="1391431" y="1054081"/>
                    <a:pt x="1364153" y="1054081"/>
                  </a:cubicBezTo>
                  <a:lnTo>
                    <a:pt x="102854" y="1054081"/>
                  </a:lnTo>
                  <a:cubicBezTo>
                    <a:pt x="75576" y="1054081"/>
                    <a:pt x="49414" y="1043244"/>
                    <a:pt x="30125" y="1023955"/>
                  </a:cubicBezTo>
                  <a:cubicBezTo>
                    <a:pt x="10836" y="1004666"/>
                    <a:pt x="0" y="978505"/>
                    <a:pt x="0" y="951226"/>
                  </a:cubicBezTo>
                  <a:lnTo>
                    <a:pt x="0" y="102854"/>
                  </a:lnTo>
                  <a:cubicBezTo>
                    <a:pt x="0" y="75576"/>
                    <a:pt x="10836" y="49414"/>
                    <a:pt x="30125" y="30125"/>
                  </a:cubicBezTo>
                  <a:cubicBezTo>
                    <a:pt x="49414" y="10836"/>
                    <a:pt x="75576" y="0"/>
                    <a:pt x="102854" y="0"/>
                  </a:cubicBezTo>
                  <a:close/>
                </a:path>
              </a:pathLst>
            </a:custGeom>
            <a:ln w="19050" cap="rnd">
              <a:solidFill>
                <a:srgbClr val="224C8D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7007" cy="1092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501676" y="2766523"/>
            <a:ext cx="5047232" cy="173757"/>
          </a:xfrm>
          <a:custGeom>
            <a:avLst/>
            <a:gdLst/>
            <a:ahLst/>
            <a:cxnLst/>
            <a:rect r="r" b="b" t="t" l="l"/>
            <a:pathLst>
              <a:path h="173757" w="5047232">
                <a:moveTo>
                  <a:pt x="0" y="0"/>
                </a:moveTo>
                <a:lnTo>
                  <a:pt x="5047232" y="0"/>
                </a:lnTo>
                <a:lnTo>
                  <a:pt x="5047232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501676" y="3621386"/>
            <a:ext cx="5047232" cy="173757"/>
          </a:xfrm>
          <a:custGeom>
            <a:avLst/>
            <a:gdLst/>
            <a:ahLst/>
            <a:cxnLst/>
            <a:rect r="r" b="b" t="t" l="l"/>
            <a:pathLst>
              <a:path h="173757" w="5047232">
                <a:moveTo>
                  <a:pt x="0" y="0"/>
                </a:moveTo>
                <a:lnTo>
                  <a:pt x="5047232" y="0"/>
                </a:lnTo>
                <a:lnTo>
                  <a:pt x="5047232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254624" y="3899835"/>
            <a:ext cx="3938496" cy="34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Scalable: </a:t>
            </a:r>
            <a:r>
              <a:rPr lang="en-US" sz="195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Replicable beyond Chennai 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319645" y="4328543"/>
            <a:ext cx="5229263" cy="173757"/>
          </a:xfrm>
          <a:custGeom>
            <a:avLst/>
            <a:gdLst/>
            <a:ahLst/>
            <a:cxnLst/>
            <a:rect r="r" b="b" t="t" l="l"/>
            <a:pathLst>
              <a:path h="173757" w="5229263">
                <a:moveTo>
                  <a:pt x="0" y="0"/>
                </a:moveTo>
                <a:lnTo>
                  <a:pt x="5229263" y="0"/>
                </a:lnTo>
                <a:lnTo>
                  <a:pt x="5229263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319645" y="2131737"/>
            <a:ext cx="876386" cy="565269"/>
          </a:xfrm>
          <a:custGeom>
            <a:avLst/>
            <a:gdLst/>
            <a:ahLst/>
            <a:cxnLst/>
            <a:rect r="r" b="b" t="t" l="l"/>
            <a:pathLst>
              <a:path h="565269" w="876386">
                <a:moveTo>
                  <a:pt x="0" y="0"/>
                </a:moveTo>
                <a:lnTo>
                  <a:pt x="876386" y="0"/>
                </a:lnTo>
                <a:lnTo>
                  <a:pt x="876386" y="565269"/>
                </a:lnTo>
                <a:lnTo>
                  <a:pt x="0" y="5652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319645" y="3040231"/>
            <a:ext cx="851308" cy="434167"/>
          </a:xfrm>
          <a:custGeom>
            <a:avLst/>
            <a:gdLst/>
            <a:ahLst/>
            <a:cxnLst/>
            <a:rect r="r" b="b" t="t" l="l"/>
            <a:pathLst>
              <a:path h="434167" w="851308">
                <a:moveTo>
                  <a:pt x="0" y="0"/>
                </a:moveTo>
                <a:lnTo>
                  <a:pt x="851308" y="0"/>
                </a:lnTo>
                <a:lnTo>
                  <a:pt x="851308" y="434167"/>
                </a:lnTo>
                <a:lnTo>
                  <a:pt x="0" y="4341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533868" y="3759363"/>
            <a:ext cx="571615" cy="649563"/>
          </a:xfrm>
          <a:custGeom>
            <a:avLst/>
            <a:gdLst/>
            <a:ahLst/>
            <a:cxnLst/>
            <a:rect r="r" b="b" t="t" l="l"/>
            <a:pathLst>
              <a:path h="649563" w="571615">
                <a:moveTo>
                  <a:pt x="0" y="0"/>
                </a:moveTo>
                <a:lnTo>
                  <a:pt x="571615" y="0"/>
                </a:lnTo>
                <a:lnTo>
                  <a:pt x="571615" y="649563"/>
                </a:lnTo>
                <a:lnTo>
                  <a:pt x="0" y="6495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49249" y="4628001"/>
            <a:ext cx="617177" cy="617177"/>
          </a:xfrm>
          <a:custGeom>
            <a:avLst/>
            <a:gdLst/>
            <a:ahLst/>
            <a:cxnLst/>
            <a:rect r="r" b="b" t="t" l="l"/>
            <a:pathLst>
              <a:path h="617177" w="617177">
                <a:moveTo>
                  <a:pt x="0" y="0"/>
                </a:moveTo>
                <a:lnTo>
                  <a:pt x="617177" y="0"/>
                </a:lnTo>
                <a:lnTo>
                  <a:pt x="617177" y="617176"/>
                </a:lnTo>
                <a:lnTo>
                  <a:pt x="0" y="6171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879419" y="2208660"/>
            <a:ext cx="648119" cy="648119"/>
          </a:xfrm>
          <a:custGeom>
            <a:avLst/>
            <a:gdLst/>
            <a:ahLst/>
            <a:cxnLst/>
            <a:rect r="r" b="b" t="t" l="l"/>
            <a:pathLst>
              <a:path h="648119" w="648119">
                <a:moveTo>
                  <a:pt x="0" y="0"/>
                </a:moveTo>
                <a:lnTo>
                  <a:pt x="648120" y="0"/>
                </a:lnTo>
                <a:lnTo>
                  <a:pt x="648120" y="648119"/>
                </a:lnTo>
                <a:lnTo>
                  <a:pt x="0" y="6481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920461" y="3040231"/>
            <a:ext cx="623186" cy="567099"/>
          </a:xfrm>
          <a:custGeom>
            <a:avLst/>
            <a:gdLst/>
            <a:ahLst/>
            <a:cxnLst/>
            <a:rect r="r" b="b" t="t" l="l"/>
            <a:pathLst>
              <a:path h="567099" w="623186">
                <a:moveTo>
                  <a:pt x="0" y="0"/>
                </a:moveTo>
                <a:lnTo>
                  <a:pt x="623186" y="0"/>
                </a:lnTo>
                <a:lnTo>
                  <a:pt x="623186" y="567098"/>
                </a:lnTo>
                <a:lnTo>
                  <a:pt x="0" y="56709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882029" y="3814539"/>
            <a:ext cx="645510" cy="645510"/>
          </a:xfrm>
          <a:custGeom>
            <a:avLst/>
            <a:gdLst/>
            <a:ahLst/>
            <a:cxnLst/>
            <a:rect r="r" b="b" t="t" l="l"/>
            <a:pathLst>
              <a:path h="645510" w="645510">
                <a:moveTo>
                  <a:pt x="0" y="0"/>
                </a:moveTo>
                <a:lnTo>
                  <a:pt x="645510" y="0"/>
                </a:lnTo>
                <a:lnTo>
                  <a:pt x="645510" y="645510"/>
                </a:lnTo>
                <a:lnTo>
                  <a:pt x="0" y="6455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963069" y="4678858"/>
            <a:ext cx="557931" cy="664203"/>
          </a:xfrm>
          <a:custGeom>
            <a:avLst/>
            <a:gdLst/>
            <a:ahLst/>
            <a:cxnLst/>
            <a:rect r="r" b="b" t="t" l="l"/>
            <a:pathLst>
              <a:path h="664203" w="557931">
                <a:moveTo>
                  <a:pt x="0" y="0"/>
                </a:moveTo>
                <a:lnTo>
                  <a:pt x="557931" y="0"/>
                </a:lnTo>
                <a:lnTo>
                  <a:pt x="557931" y="664203"/>
                </a:lnTo>
                <a:lnTo>
                  <a:pt x="0" y="66420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470002" y="1471642"/>
            <a:ext cx="5847689" cy="4064694"/>
            <a:chOff x="0" y="0"/>
            <a:chExt cx="1540132" cy="10705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0132" cy="1070537"/>
            </a:xfrm>
            <a:custGeom>
              <a:avLst/>
              <a:gdLst/>
              <a:ahLst/>
              <a:cxnLst/>
              <a:rect r="r" b="b" t="t" l="l"/>
              <a:pathLst>
                <a:path h="1070537" w="1540132">
                  <a:moveTo>
                    <a:pt x="97971" y="0"/>
                  </a:moveTo>
                  <a:lnTo>
                    <a:pt x="1442161" y="0"/>
                  </a:lnTo>
                  <a:cubicBezTo>
                    <a:pt x="1468145" y="0"/>
                    <a:pt x="1493064" y="10322"/>
                    <a:pt x="1511437" y="28695"/>
                  </a:cubicBezTo>
                  <a:cubicBezTo>
                    <a:pt x="1529810" y="47068"/>
                    <a:pt x="1540132" y="71987"/>
                    <a:pt x="1540132" y="97971"/>
                  </a:cubicBezTo>
                  <a:lnTo>
                    <a:pt x="1540132" y="972566"/>
                  </a:lnTo>
                  <a:cubicBezTo>
                    <a:pt x="1540132" y="998549"/>
                    <a:pt x="1529810" y="1023469"/>
                    <a:pt x="1511437" y="1041842"/>
                  </a:cubicBezTo>
                  <a:cubicBezTo>
                    <a:pt x="1493064" y="1060215"/>
                    <a:pt x="1468145" y="1070537"/>
                    <a:pt x="1442161" y="1070537"/>
                  </a:cubicBezTo>
                  <a:lnTo>
                    <a:pt x="97971" y="1070537"/>
                  </a:lnTo>
                  <a:cubicBezTo>
                    <a:pt x="71987" y="1070537"/>
                    <a:pt x="47068" y="1060215"/>
                    <a:pt x="28695" y="1041842"/>
                  </a:cubicBezTo>
                  <a:cubicBezTo>
                    <a:pt x="10322" y="1023469"/>
                    <a:pt x="0" y="998549"/>
                    <a:pt x="0" y="972566"/>
                  </a:cubicBezTo>
                  <a:lnTo>
                    <a:pt x="0" y="97971"/>
                  </a:lnTo>
                  <a:cubicBezTo>
                    <a:pt x="0" y="71987"/>
                    <a:pt x="10322" y="47068"/>
                    <a:pt x="28695" y="28695"/>
                  </a:cubicBezTo>
                  <a:cubicBezTo>
                    <a:pt x="47068" y="10322"/>
                    <a:pt x="71987" y="0"/>
                    <a:pt x="97971" y="0"/>
                  </a:cubicBezTo>
                  <a:close/>
                </a:path>
              </a:pathLst>
            </a:custGeom>
            <a:ln w="19050" cap="rnd">
              <a:solidFill>
                <a:srgbClr val="138E44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0132" cy="1108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l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12248222" y="2065313"/>
            <a:ext cx="5512845" cy="0"/>
          </a:xfrm>
          <a:prstGeom prst="line">
            <a:avLst/>
          </a:prstGeom>
          <a:ln cap="flat" w="19050">
            <a:solidFill>
              <a:srgbClr val="224C8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flipV="true">
            <a:off x="6504956" y="2074838"/>
            <a:ext cx="5504854" cy="807"/>
          </a:xfrm>
          <a:prstGeom prst="line">
            <a:avLst/>
          </a:prstGeom>
          <a:ln cap="flat" w="19050">
            <a:solidFill>
              <a:srgbClr val="F2672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V="true">
            <a:off x="470002" y="2004406"/>
            <a:ext cx="5826532" cy="32332"/>
          </a:xfrm>
          <a:prstGeom prst="line">
            <a:avLst/>
          </a:prstGeom>
          <a:ln cap="flat" w="19050">
            <a:solidFill>
              <a:srgbClr val="138E4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41" id="41"/>
          <p:cNvGraphicFramePr/>
          <p:nvPr/>
        </p:nvGraphicFramePr>
        <p:xfrm>
          <a:off x="470002" y="6260148"/>
          <a:ext cx="5657850" cy="2514600"/>
        </p:xfrm>
        <a:graphic>
          <a:graphicData uri="http://schemas.openxmlformats.org/presentationml/2006/ole">
            <p:oleObj imgW="6781800" imgH="3644900" r:id="rId2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42" id="42"/>
          <p:cNvGrpSpPr/>
          <p:nvPr/>
        </p:nvGrpSpPr>
        <p:grpSpPr>
          <a:xfrm rot="0">
            <a:off x="382537" y="5641111"/>
            <a:ext cx="6022621" cy="3682465"/>
            <a:chOff x="0" y="0"/>
            <a:chExt cx="1542989" cy="9434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42989" cy="943444"/>
            </a:xfrm>
            <a:custGeom>
              <a:avLst/>
              <a:gdLst/>
              <a:ahLst/>
              <a:cxnLst/>
              <a:rect r="r" b="b" t="t" l="l"/>
              <a:pathLst>
                <a:path h="943444" w="1542989">
                  <a:moveTo>
                    <a:pt x="95125" y="0"/>
                  </a:moveTo>
                  <a:lnTo>
                    <a:pt x="1447864" y="0"/>
                  </a:lnTo>
                  <a:cubicBezTo>
                    <a:pt x="1500400" y="0"/>
                    <a:pt x="1542989" y="42589"/>
                    <a:pt x="1542989" y="95125"/>
                  </a:cubicBezTo>
                  <a:lnTo>
                    <a:pt x="1542989" y="848319"/>
                  </a:lnTo>
                  <a:cubicBezTo>
                    <a:pt x="1542989" y="900855"/>
                    <a:pt x="1500400" y="943444"/>
                    <a:pt x="1447864" y="943444"/>
                  </a:cubicBezTo>
                  <a:lnTo>
                    <a:pt x="95125" y="943444"/>
                  </a:lnTo>
                  <a:cubicBezTo>
                    <a:pt x="42589" y="943444"/>
                    <a:pt x="0" y="900855"/>
                    <a:pt x="0" y="848319"/>
                  </a:cubicBezTo>
                  <a:lnTo>
                    <a:pt x="0" y="95125"/>
                  </a:lnTo>
                  <a:cubicBezTo>
                    <a:pt x="0" y="42589"/>
                    <a:pt x="42589" y="0"/>
                    <a:pt x="95125" y="0"/>
                  </a:cubicBezTo>
                  <a:close/>
                </a:path>
              </a:pathLst>
            </a:custGeom>
            <a:ln w="19050" cap="rnd">
              <a:solidFill>
                <a:srgbClr val="C00000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542989" cy="981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7666831" y="3847933"/>
            <a:ext cx="3938496" cy="64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49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Metadata-first transmission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keeps 4G load low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254624" y="2255031"/>
            <a:ext cx="4294284" cy="34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Govt Appetite Proven: </a:t>
            </a:r>
            <a:r>
              <a:rPr lang="en-US" sz="195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Project exists at this scale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987504" y="1533971"/>
            <a:ext cx="2751434" cy="4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QUANTIFIED IMPACT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96916" y="1533971"/>
            <a:ext cx="2011869" cy="4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F2672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FEASIBILITY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666831" y="3163947"/>
            <a:ext cx="4246118" cy="340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49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4 Cameras/Bus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give full coverage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666831" y="4664725"/>
            <a:ext cx="3938496" cy="64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49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Scale Achievable in Phases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— ~3,400-bus fleet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019358" y="1557355"/>
            <a:ext cx="2011869" cy="4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5170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VIABILITY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254624" y="2938444"/>
            <a:ext cx="4246118" cy="64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Fleet Reach: </a:t>
            </a:r>
            <a:r>
              <a:rPr lang="en-US" sz="195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~3,400 buses, 668 routes, 3,929 km²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235574" y="4640758"/>
            <a:ext cx="3938496" cy="64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 b="true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Sustainable Opex: </a:t>
            </a:r>
            <a:r>
              <a:rPr lang="en-US" sz="195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Funded via existing per-km GCC contracts.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70689" y="2099015"/>
            <a:ext cx="5431409" cy="306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3" indent="-210502" lvl="1">
              <a:lnSpc>
                <a:spcPts val="3451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Potholes cause </a:t>
            </a:r>
            <a:r>
              <a:rPr lang="en-US" b="true" sz="194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~2,300 deaths 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every year in India.</a:t>
            </a:r>
          </a:p>
          <a:p>
            <a:pPr algn="l" marL="421003" indent="-210502" lvl="1">
              <a:lnSpc>
                <a:spcPts val="3451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Ev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ery minute saved cuts emergency death risk by</a:t>
            </a:r>
            <a:r>
              <a:rPr lang="en-US" b="true" sz="194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5–17%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; Drishti alerts dispatch in </a:t>
            </a:r>
            <a:r>
              <a:rPr lang="en-US" b="true" sz="194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under 90 seconds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.</a:t>
            </a:r>
          </a:p>
          <a:p>
            <a:pPr algn="l" marL="421003" indent="-210502" lvl="1">
              <a:lnSpc>
                <a:spcPts val="3451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Early detection saves </a:t>
            </a:r>
            <a:r>
              <a:rPr lang="en-US" b="true" sz="194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₹6–₹10 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on reconstruction </a:t>
            </a:r>
            <a:r>
              <a:rPr lang="en-US" b="true" sz="194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for every ₹1 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spent on timely fixes.</a:t>
            </a:r>
          </a:p>
          <a:p>
            <a:pPr algn="l" marL="421003" indent="-210502" lvl="1">
              <a:lnSpc>
                <a:spcPts val="3451"/>
              </a:lnSpc>
              <a:buFont typeface="Arial"/>
              <a:buChar char="•"/>
            </a:pP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Delivers </a:t>
            </a:r>
            <a:r>
              <a:rPr lang="en-US" b="true" sz="194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5x surveillance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than static CCTVs at </a:t>
            </a:r>
            <a:r>
              <a:rPr lang="en-US" b="true" sz="1949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1/10th of the cost</a:t>
            </a:r>
            <a:r>
              <a:rPr lang="en-US" sz="1949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.</a:t>
            </a:r>
          </a:p>
        </p:txBody>
      </p:sp>
      <p:sp>
        <p:nvSpPr>
          <p:cNvPr name="AutoShape 55" id="55"/>
          <p:cNvSpPr/>
          <p:nvPr/>
        </p:nvSpPr>
        <p:spPr>
          <a:xfrm flipV="true">
            <a:off x="410325" y="6111465"/>
            <a:ext cx="5952136" cy="830"/>
          </a:xfrm>
          <a:prstGeom prst="line">
            <a:avLst/>
          </a:prstGeom>
          <a:ln cap="flat" w="19050">
            <a:solidFill>
              <a:srgbClr val="C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6" id="56"/>
          <p:cNvSpPr txBox="true"/>
          <p:nvPr/>
        </p:nvSpPr>
        <p:spPr>
          <a:xfrm rot="0">
            <a:off x="2333433" y="5653147"/>
            <a:ext cx="2175339" cy="4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C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PROOF POINTS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0" y="0"/>
            <a:ext cx="975942" cy="1227318"/>
          </a:xfrm>
          <a:custGeom>
            <a:avLst/>
            <a:gdLst/>
            <a:ahLst/>
            <a:cxnLst/>
            <a:rect r="r" b="b" t="t" l="l"/>
            <a:pathLst>
              <a:path h="1227318" w="975942">
                <a:moveTo>
                  <a:pt x="0" y="0"/>
                </a:moveTo>
                <a:lnTo>
                  <a:pt x="975942" y="0"/>
                </a:lnTo>
                <a:lnTo>
                  <a:pt x="975942" y="1227318"/>
                </a:lnTo>
                <a:lnTo>
                  <a:pt x="0" y="122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002" t="-68294" r="-93531" b="-59552"/>
            </a:stretch>
          </a:blipFill>
        </p:spPr>
      </p:sp>
      <p:sp>
        <p:nvSpPr>
          <p:cNvPr name="AutoShape 58" id="58"/>
          <p:cNvSpPr/>
          <p:nvPr/>
        </p:nvSpPr>
        <p:spPr>
          <a:xfrm flipV="true">
            <a:off x="6573039" y="6055088"/>
            <a:ext cx="11149440" cy="26694"/>
          </a:xfrm>
          <a:prstGeom prst="line">
            <a:avLst/>
          </a:prstGeom>
          <a:ln cap="flat" w="19050">
            <a:solidFill>
              <a:srgbClr val="1F497D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9" id="59"/>
          <p:cNvGraphicFramePr/>
          <p:nvPr/>
        </p:nvGraphicFramePr>
        <p:xfrm>
          <a:off x="6867087" y="6079679"/>
          <a:ext cx="7543800" cy="3771900"/>
        </p:xfrm>
        <a:graphic>
          <a:graphicData uri="http://schemas.openxmlformats.org/presentationml/2006/ole">
            <p:oleObj imgW="9042400" imgH="5270500" r:id="rId2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60" id="60"/>
          <p:cNvGrpSpPr/>
          <p:nvPr/>
        </p:nvGrpSpPr>
        <p:grpSpPr>
          <a:xfrm rot="0">
            <a:off x="6492623" y="5641111"/>
            <a:ext cx="11292483" cy="3682465"/>
            <a:chOff x="0" y="0"/>
            <a:chExt cx="2974152" cy="96986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974152" cy="969867"/>
            </a:xfrm>
            <a:custGeom>
              <a:avLst/>
              <a:gdLst/>
              <a:ahLst/>
              <a:cxnLst/>
              <a:rect r="r" b="b" t="t" l="l"/>
              <a:pathLst>
                <a:path h="969867" w="2974152">
                  <a:moveTo>
                    <a:pt x="50733" y="0"/>
                  </a:moveTo>
                  <a:lnTo>
                    <a:pt x="2923419" y="0"/>
                  </a:lnTo>
                  <a:cubicBezTo>
                    <a:pt x="2951438" y="0"/>
                    <a:pt x="2974152" y="22714"/>
                    <a:pt x="2974152" y="50733"/>
                  </a:cubicBezTo>
                  <a:lnTo>
                    <a:pt x="2974152" y="919134"/>
                  </a:lnTo>
                  <a:cubicBezTo>
                    <a:pt x="2974152" y="932590"/>
                    <a:pt x="2968807" y="945494"/>
                    <a:pt x="2959293" y="955008"/>
                  </a:cubicBezTo>
                  <a:cubicBezTo>
                    <a:pt x="2949778" y="964522"/>
                    <a:pt x="2936874" y="969867"/>
                    <a:pt x="2923419" y="969867"/>
                  </a:cubicBezTo>
                  <a:lnTo>
                    <a:pt x="50733" y="969867"/>
                  </a:lnTo>
                  <a:cubicBezTo>
                    <a:pt x="37278" y="969867"/>
                    <a:pt x="24374" y="964522"/>
                    <a:pt x="14859" y="955008"/>
                  </a:cubicBezTo>
                  <a:cubicBezTo>
                    <a:pt x="5345" y="945494"/>
                    <a:pt x="0" y="932590"/>
                    <a:pt x="0" y="919134"/>
                  </a:cubicBezTo>
                  <a:lnTo>
                    <a:pt x="0" y="50733"/>
                  </a:lnTo>
                  <a:cubicBezTo>
                    <a:pt x="0" y="37278"/>
                    <a:pt x="5345" y="24374"/>
                    <a:pt x="14859" y="14859"/>
                  </a:cubicBezTo>
                  <a:cubicBezTo>
                    <a:pt x="24374" y="5345"/>
                    <a:pt x="37278" y="0"/>
                    <a:pt x="50733" y="0"/>
                  </a:cubicBezTo>
                  <a:close/>
                </a:path>
              </a:pathLst>
            </a:custGeom>
            <a:ln w="19050" cap="rnd">
              <a:solidFill>
                <a:srgbClr val="224C8D"/>
              </a:solidFill>
              <a:prstDash val="solid"/>
              <a:round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974152" cy="1007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l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true" flipV="false" rot="0">
            <a:off x="11444927" y="6231371"/>
            <a:ext cx="621751" cy="484966"/>
          </a:xfrm>
          <a:custGeom>
            <a:avLst/>
            <a:gdLst/>
            <a:ahLst/>
            <a:cxnLst/>
            <a:rect r="r" b="b" t="t" l="l"/>
            <a:pathLst>
              <a:path h="484966" w="621751">
                <a:moveTo>
                  <a:pt x="621751" y="0"/>
                </a:moveTo>
                <a:lnTo>
                  <a:pt x="0" y="0"/>
                </a:lnTo>
                <a:lnTo>
                  <a:pt x="0" y="484966"/>
                </a:lnTo>
                <a:lnTo>
                  <a:pt x="621751" y="484966"/>
                </a:lnTo>
                <a:lnTo>
                  <a:pt x="621751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2645757" y="6184454"/>
            <a:ext cx="475412" cy="559308"/>
          </a:xfrm>
          <a:custGeom>
            <a:avLst/>
            <a:gdLst/>
            <a:ahLst/>
            <a:cxnLst/>
            <a:rect r="r" b="b" t="t" l="l"/>
            <a:pathLst>
              <a:path h="559308" w="475412">
                <a:moveTo>
                  <a:pt x="0" y="0"/>
                </a:moveTo>
                <a:lnTo>
                  <a:pt x="475412" y="0"/>
                </a:lnTo>
                <a:lnTo>
                  <a:pt x="475412" y="559308"/>
                </a:lnTo>
                <a:lnTo>
                  <a:pt x="0" y="55930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1917631" y="7103964"/>
            <a:ext cx="728125" cy="173757"/>
          </a:xfrm>
          <a:custGeom>
            <a:avLst/>
            <a:gdLst/>
            <a:ahLst/>
            <a:cxnLst/>
            <a:rect r="r" b="b" t="t" l="l"/>
            <a:pathLst>
              <a:path h="173757" w="728125">
                <a:moveTo>
                  <a:pt x="0" y="0"/>
                </a:moveTo>
                <a:lnTo>
                  <a:pt x="728126" y="0"/>
                </a:lnTo>
                <a:lnTo>
                  <a:pt x="728126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1444927" y="6802062"/>
            <a:ext cx="566377" cy="566377"/>
          </a:xfrm>
          <a:custGeom>
            <a:avLst/>
            <a:gdLst/>
            <a:ahLst/>
            <a:cxnLst/>
            <a:rect r="r" b="b" t="t" l="l"/>
            <a:pathLst>
              <a:path h="566377" w="566377">
                <a:moveTo>
                  <a:pt x="0" y="0"/>
                </a:moveTo>
                <a:lnTo>
                  <a:pt x="566377" y="0"/>
                </a:lnTo>
                <a:lnTo>
                  <a:pt x="566377" y="566377"/>
                </a:lnTo>
                <a:lnTo>
                  <a:pt x="0" y="56637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2621365" y="6800912"/>
            <a:ext cx="562334" cy="562334"/>
          </a:xfrm>
          <a:custGeom>
            <a:avLst/>
            <a:gdLst/>
            <a:ahLst/>
            <a:cxnLst/>
            <a:rect r="r" b="b" t="t" l="l"/>
            <a:pathLst>
              <a:path h="562334" w="562334">
                <a:moveTo>
                  <a:pt x="0" y="0"/>
                </a:moveTo>
                <a:lnTo>
                  <a:pt x="562334" y="0"/>
                </a:lnTo>
                <a:lnTo>
                  <a:pt x="562334" y="562334"/>
                </a:lnTo>
                <a:lnTo>
                  <a:pt x="0" y="562334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1385682" y="7530364"/>
            <a:ext cx="625622" cy="625622"/>
          </a:xfrm>
          <a:custGeom>
            <a:avLst/>
            <a:gdLst/>
            <a:ahLst/>
            <a:cxnLst/>
            <a:rect r="r" b="b" t="t" l="l"/>
            <a:pathLst>
              <a:path h="625622" w="625622">
                <a:moveTo>
                  <a:pt x="0" y="0"/>
                </a:moveTo>
                <a:lnTo>
                  <a:pt x="625622" y="0"/>
                </a:lnTo>
                <a:lnTo>
                  <a:pt x="625622" y="625622"/>
                </a:lnTo>
                <a:lnTo>
                  <a:pt x="0" y="625622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1967833" y="6464108"/>
            <a:ext cx="728125" cy="173757"/>
          </a:xfrm>
          <a:custGeom>
            <a:avLst/>
            <a:gdLst/>
            <a:ahLst/>
            <a:cxnLst/>
            <a:rect r="r" b="b" t="t" l="l"/>
            <a:pathLst>
              <a:path h="173757" w="728125">
                <a:moveTo>
                  <a:pt x="0" y="0"/>
                </a:moveTo>
                <a:lnTo>
                  <a:pt x="728126" y="0"/>
                </a:lnTo>
                <a:lnTo>
                  <a:pt x="728126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1828001" y="8831307"/>
            <a:ext cx="728125" cy="173757"/>
          </a:xfrm>
          <a:custGeom>
            <a:avLst/>
            <a:gdLst/>
            <a:ahLst/>
            <a:cxnLst/>
            <a:rect r="r" b="b" t="t" l="l"/>
            <a:pathLst>
              <a:path h="173757" w="728125">
                <a:moveTo>
                  <a:pt x="0" y="0"/>
                </a:moveTo>
                <a:lnTo>
                  <a:pt x="728125" y="0"/>
                </a:lnTo>
                <a:lnTo>
                  <a:pt x="728125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1917631" y="7849021"/>
            <a:ext cx="728125" cy="173757"/>
          </a:xfrm>
          <a:custGeom>
            <a:avLst/>
            <a:gdLst/>
            <a:ahLst/>
            <a:cxnLst/>
            <a:rect r="r" b="b" t="t" l="l"/>
            <a:pathLst>
              <a:path h="173757" w="728125">
                <a:moveTo>
                  <a:pt x="0" y="0"/>
                </a:moveTo>
                <a:lnTo>
                  <a:pt x="728126" y="0"/>
                </a:lnTo>
                <a:lnTo>
                  <a:pt x="728126" y="173757"/>
                </a:lnTo>
                <a:lnTo>
                  <a:pt x="0" y="17375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-797112">
            <a:off x="11278226" y="8590792"/>
            <a:ext cx="775892" cy="434500"/>
          </a:xfrm>
          <a:custGeom>
            <a:avLst/>
            <a:gdLst/>
            <a:ahLst/>
            <a:cxnLst/>
            <a:rect r="r" b="b" t="t" l="l"/>
            <a:pathLst>
              <a:path h="434500" w="775892">
                <a:moveTo>
                  <a:pt x="0" y="0"/>
                </a:moveTo>
                <a:lnTo>
                  <a:pt x="775892" y="0"/>
                </a:lnTo>
                <a:lnTo>
                  <a:pt x="775892" y="434500"/>
                </a:lnTo>
                <a:lnTo>
                  <a:pt x="0" y="43450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2521536" y="7530155"/>
            <a:ext cx="599633" cy="599633"/>
          </a:xfrm>
          <a:custGeom>
            <a:avLst/>
            <a:gdLst/>
            <a:ahLst/>
            <a:cxnLst/>
            <a:rect r="r" b="b" t="t" l="l"/>
            <a:pathLst>
              <a:path h="599633" w="599633">
                <a:moveTo>
                  <a:pt x="0" y="0"/>
                </a:moveTo>
                <a:lnTo>
                  <a:pt x="599633" y="0"/>
                </a:lnTo>
                <a:lnTo>
                  <a:pt x="599633" y="599633"/>
                </a:lnTo>
                <a:lnTo>
                  <a:pt x="0" y="59963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2409881" y="8491455"/>
            <a:ext cx="684187" cy="595243"/>
          </a:xfrm>
          <a:custGeom>
            <a:avLst/>
            <a:gdLst/>
            <a:ahLst/>
            <a:cxnLst/>
            <a:rect r="r" b="b" t="t" l="l"/>
            <a:pathLst>
              <a:path h="595243" w="684187">
                <a:moveTo>
                  <a:pt x="0" y="0"/>
                </a:moveTo>
                <a:lnTo>
                  <a:pt x="684187" y="0"/>
                </a:lnTo>
                <a:lnTo>
                  <a:pt x="684187" y="595243"/>
                </a:lnTo>
                <a:lnTo>
                  <a:pt x="0" y="595243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10281980" y="5629483"/>
            <a:ext cx="3713769" cy="4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b="true" sz="2299">
                <a:solidFill>
                  <a:srgbClr val="1F497D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CHALLENGES AND MITIGATION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2136" y="15575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000" r="0" b="-4300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0"/>
            <a:ext cx="975942" cy="1227318"/>
          </a:xfrm>
          <a:custGeom>
            <a:avLst/>
            <a:gdLst/>
            <a:ahLst/>
            <a:cxnLst/>
            <a:rect r="r" b="b" t="t" l="l"/>
            <a:pathLst>
              <a:path h="1227318" w="975942">
                <a:moveTo>
                  <a:pt x="0" y="0"/>
                </a:moveTo>
                <a:lnTo>
                  <a:pt x="975942" y="0"/>
                </a:lnTo>
                <a:lnTo>
                  <a:pt x="975942" y="1227318"/>
                </a:lnTo>
                <a:lnTo>
                  <a:pt x="0" y="12273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002" t="-68294" r="-93531" b="-59552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54409" y="1691314"/>
            <a:ext cx="4976046" cy="7840830"/>
            <a:chOff x="0" y="0"/>
            <a:chExt cx="1310564" cy="20650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10564" cy="2065075"/>
            </a:xfrm>
            <a:custGeom>
              <a:avLst/>
              <a:gdLst/>
              <a:ahLst/>
              <a:cxnLst/>
              <a:rect r="r" b="b" t="t" l="l"/>
              <a:pathLst>
                <a:path h="2065075" w="1310564">
                  <a:moveTo>
                    <a:pt x="115132" y="0"/>
                  </a:moveTo>
                  <a:lnTo>
                    <a:pt x="1195432" y="0"/>
                  </a:lnTo>
                  <a:cubicBezTo>
                    <a:pt x="1225967" y="0"/>
                    <a:pt x="1255251" y="12130"/>
                    <a:pt x="1276842" y="33721"/>
                  </a:cubicBezTo>
                  <a:cubicBezTo>
                    <a:pt x="1298434" y="55313"/>
                    <a:pt x="1310564" y="84597"/>
                    <a:pt x="1310564" y="115132"/>
                  </a:cubicBezTo>
                  <a:lnTo>
                    <a:pt x="1310564" y="1949943"/>
                  </a:lnTo>
                  <a:cubicBezTo>
                    <a:pt x="1310564" y="2013528"/>
                    <a:pt x="1259017" y="2065075"/>
                    <a:pt x="1195432" y="2065075"/>
                  </a:cubicBezTo>
                  <a:lnTo>
                    <a:pt x="115132" y="2065075"/>
                  </a:lnTo>
                  <a:cubicBezTo>
                    <a:pt x="84597" y="2065075"/>
                    <a:pt x="55313" y="2052945"/>
                    <a:pt x="33721" y="2031353"/>
                  </a:cubicBezTo>
                  <a:cubicBezTo>
                    <a:pt x="12130" y="2009762"/>
                    <a:pt x="0" y="1980477"/>
                    <a:pt x="0" y="1949943"/>
                  </a:cubicBezTo>
                  <a:lnTo>
                    <a:pt x="0" y="115132"/>
                  </a:lnTo>
                  <a:cubicBezTo>
                    <a:pt x="0" y="51546"/>
                    <a:pt x="51546" y="0"/>
                    <a:pt x="115132" y="0"/>
                  </a:cubicBezTo>
                  <a:close/>
                </a:path>
              </a:pathLst>
            </a:custGeom>
            <a:ln w="19050" cap="rnd">
              <a:solidFill>
                <a:srgbClr val="138E44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10564" cy="2103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l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257112" y="2352773"/>
            <a:ext cx="4959967" cy="10622"/>
          </a:xfrm>
          <a:prstGeom prst="line">
            <a:avLst/>
          </a:prstGeom>
          <a:ln cap="flat" w="19050">
            <a:solidFill>
              <a:srgbClr val="138E4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20296" y="1808015"/>
            <a:ext cx="486068" cy="466626"/>
          </a:xfrm>
          <a:custGeom>
            <a:avLst/>
            <a:gdLst/>
            <a:ahLst/>
            <a:cxnLst/>
            <a:rect r="r" b="b" t="t" l="l"/>
            <a:pathLst>
              <a:path h="466626" w="486068">
                <a:moveTo>
                  <a:pt x="0" y="0"/>
                </a:moveTo>
                <a:lnTo>
                  <a:pt x="486068" y="0"/>
                </a:lnTo>
                <a:lnTo>
                  <a:pt x="486068" y="466625"/>
                </a:lnTo>
                <a:lnTo>
                  <a:pt x="0" y="4666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26420" y="1719650"/>
            <a:ext cx="3150154" cy="55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u="sng">
                <a:solidFill>
                  <a:srgbClr val="138E44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QUANTIFIED IMPACT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98571" r="0" b="-160985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774793" y="1289972"/>
          <a:ext cx="11315700" cy="3771900"/>
        </p:xfrm>
        <a:graphic>
          <a:graphicData uri="http://schemas.openxmlformats.org/presentationml/2006/ole">
            <p:oleObj imgW="13576300" imgH="6032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80807" y="2651731"/>
            <a:ext cx="13318267" cy="1232924"/>
            <a:chOff x="0" y="0"/>
            <a:chExt cx="3507692" cy="3247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07692" cy="324721"/>
            </a:xfrm>
            <a:custGeom>
              <a:avLst/>
              <a:gdLst/>
              <a:ahLst/>
              <a:cxnLst/>
              <a:rect r="r" b="b" t="t" l="l"/>
              <a:pathLst>
                <a:path h="324721" w="3507692">
                  <a:moveTo>
                    <a:pt x="0" y="0"/>
                  </a:moveTo>
                  <a:lnTo>
                    <a:pt x="3507692" y="0"/>
                  </a:lnTo>
                  <a:lnTo>
                    <a:pt x="3507692" y="324721"/>
                  </a:lnTo>
                  <a:lnTo>
                    <a:pt x="0" y="324721"/>
                  </a:lnTo>
                  <a:close/>
                </a:path>
              </a:pathLst>
            </a:custGeom>
            <a:solidFill>
              <a:srgbClr val="1F497D">
                <a:alpha val="11765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07692" cy="36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80807" y="3979905"/>
            <a:ext cx="13318267" cy="1232924"/>
            <a:chOff x="0" y="0"/>
            <a:chExt cx="3507692" cy="3247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07692" cy="324721"/>
            </a:xfrm>
            <a:custGeom>
              <a:avLst/>
              <a:gdLst/>
              <a:ahLst/>
              <a:cxnLst/>
              <a:rect r="r" b="b" t="t" l="l"/>
              <a:pathLst>
                <a:path h="324721" w="3507692">
                  <a:moveTo>
                    <a:pt x="0" y="0"/>
                  </a:moveTo>
                  <a:lnTo>
                    <a:pt x="3507692" y="0"/>
                  </a:lnTo>
                  <a:lnTo>
                    <a:pt x="3507692" y="324721"/>
                  </a:lnTo>
                  <a:lnTo>
                    <a:pt x="0" y="324721"/>
                  </a:lnTo>
                  <a:close/>
                </a:path>
              </a:pathLst>
            </a:custGeom>
            <a:solidFill>
              <a:srgbClr val="9E0000">
                <a:alpha val="5098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507692" cy="36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80807" y="5308079"/>
            <a:ext cx="13318267" cy="1232924"/>
            <a:chOff x="0" y="0"/>
            <a:chExt cx="3507692" cy="3247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07692" cy="324721"/>
            </a:xfrm>
            <a:custGeom>
              <a:avLst/>
              <a:gdLst/>
              <a:ahLst/>
              <a:cxnLst/>
              <a:rect r="r" b="b" t="t" l="l"/>
              <a:pathLst>
                <a:path h="324721" w="3507692">
                  <a:moveTo>
                    <a:pt x="0" y="0"/>
                  </a:moveTo>
                  <a:lnTo>
                    <a:pt x="3507692" y="0"/>
                  </a:lnTo>
                  <a:lnTo>
                    <a:pt x="3507692" y="324721"/>
                  </a:lnTo>
                  <a:lnTo>
                    <a:pt x="0" y="324721"/>
                  </a:lnTo>
                  <a:close/>
                </a:path>
              </a:pathLst>
            </a:custGeom>
            <a:solidFill>
              <a:srgbClr val="163D17">
                <a:alpha val="392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507692" cy="36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80807" y="6636253"/>
            <a:ext cx="13318267" cy="1232924"/>
            <a:chOff x="0" y="0"/>
            <a:chExt cx="3507692" cy="3247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07692" cy="324721"/>
            </a:xfrm>
            <a:custGeom>
              <a:avLst/>
              <a:gdLst/>
              <a:ahLst/>
              <a:cxnLst/>
              <a:rect r="r" b="b" t="t" l="l"/>
              <a:pathLst>
                <a:path h="324721" w="3507692">
                  <a:moveTo>
                    <a:pt x="0" y="0"/>
                  </a:moveTo>
                  <a:lnTo>
                    <a:pt x="3507692" y="0"/>
                  </a:lnTo>
                  <a:lnTo>
                    <a:pt x="3507692" y="324721"/>
                  </a:lnTo>
                  <a:lnTo>
                    <a:pt x="0" y="324721"/>
                  </a:lnTo>
                  <a:close/>
                </a:path>
              </a:pathLst>
            </a:custGeom>
            <a:solidFill>
              <a:srgbClr val="9E0000">
                <a:alpha val="18431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07692" cy="362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80807" y="7965576"/>
            <a:ext cx="13318267" cy="1403114"/>
            <a:chOff x="0" y="0"/>
            <a:chExt cx="3507692" cy="3695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7692" cy="369544"/>
            </a:xfrm>
            <a:custGeom>
              <a:avLst/>
              <a:gdLst/>
              <a:ahLst/>
              <a:cxnLst/>
              <a:rect r="r" b="b" t="t" l="l"/>
              <a:pathLst>
                <a:path h="369544" w="3507692">
                  <a:moveTo>
                    <a:pt x="0" y="0"/>
                  </a:moveTo>
                  <a:lnTo>
                    <a:pt x="3507692" y="0"/>
                  </a:lnTo>
                  <a:lnTo>
                    <a:pt x="3507692" y="369544"/>
                  </a:lnTo>
                  <a:lnTo>
                    <a:pt x="0" y="369544"/>
                  </a:lnTo>
                  <a:close/>
                </a:path>
              </a:pathLst>
            </a:custGeom>
            <a:solidFill>
              <a:srgbClr val="1F497D">
                <a:alpha val="2274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07692" cy="407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790140" y="2843284"/>
            <a:ext cx="719116" cy="871176"/>
          </a:xfrm>
          <a:custGeom>
            <a:avLst/>
            <a:gdLst/>
            <a:ahLst/>
            <a:cxnLst/>
            <a:rect r="r" b="b" t="t" l="l"/>
            <a:pathLst>
              <a:path h="871176" w="719116">
                <a:moveTo>
                  <a:pt x="0" y="0"/>
                </a:moveTo>
                <a:lnTo>
                  <a:pt x="719117" y="0"/>
                </a:lnTo>
                <a:lnTo>
                  <a:pt x="719117" y="871177"/>
                </a:lnTo>
                <a:lnTo>
                  <a:pt x="0" y="871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99585" y="4000211"/>
            <a:ext cx="900228" cy="1093731"/>
          </a:xfrm>
          <a:custGeom>
            <a:avLst/>
            <a:gdLst/>
            <a:ahLst/>
            <a:cxnLst/>
            <a:rect r="r" b="b" t="t" l="l"/>
            <a:pathLst>
              <a:path h="1093731" w="900228">
                <a:moveTo>
                  <a:pt x="0" y="0"/>
                </a:moveTo>
                <a:lnTo>
                  <a:pt x="900227" y="0"/>
                </a:lnTo>
                <a:lnTo>
                  <a:pt x="900227" y="1093731"/>
                </a:lnTo>
                <a:lnTo>
                  <a:pt x="0" y="10937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728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90140" y="5379692"/>
            <a:ext cx="672661" cy="960944"/>
          </a:xfrm>
          <a:custGeom>
            <a:avLst/>
            <a:gdLst/>
            <a:ahLst/>
            <a:cxnLst/>
            <a:rect r="r" b="b" t="t" l="l"/>
            <a:pathLst>
              <a:path h="960944" w="672661">
                <a:moveTo>
                  <a:pt x="0" y="0"/>
                </a:moveTo>
                <a:lnTo>
                  <a:pt x="672661" y="0"/>
                </a:lnTo>
                <a:lnTo>
                  <a:pt x="672661" y="960944"/>
                </a:lnTo>
                <a:lnTo>
                  <a:pt x="0" y="960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99585" y="6739948"/>
            <a:ext cx="921393" cy="921393"/>
          </a:xfrm>
          <a:custGeom>
            <a:avLst/>
            <a:gdLst/>
            <a:ahLst/>
            <a:cxnLst/>
            <a:rect r="r" b="b" t="t" l="l"/>
            <a:pathLst>
              <a:path h="921393" w="921393">
                <a:moveTo>
                  <a:pt x="0" y="0"/>
                </a:moveTo>
                <a:lnTo>
                  <a:pt x="921393" y="0"/>
                </a:lnTo>
                <a:lnTo>
                  <a:pt x="921393" y="921394"/>
                </a:lnTo>
                <a:lnTo>
                  <a:pt x="0" y="9213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90616" y="8170360"/>
            <a:ext cx="1030361" cy="1030361"/>
          </a:xfrm>
          <a:custGeom>
            <a:avLst/>
            <a:gdLst/>
            <a:ahLst/>
            <a:cxnLst/>
            <a:rect r="r" b="b" t="t" l="l"/>
            <a:pathLst>
              <a:path h="1030361" w="1030361">
                <a:moveTo>
                  <a:pt x="0" y="0"/>
                </a:moveTo>
                <a:lnTo>
                  <a:pt x="1030362" y="0"/>
                </a:lnTo>
                <a:lnTo>
                  <a:pt x="1030362" y="1030361"/>
                </a:lnTo>
                <a:lnTo>
                  <a:pt x="0" y="103036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 flipH="true" flipV="true">
            <a:off x="15101883" y="2675943"/>
            <a:ext cx="0" cy="396031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V="true">
            <a:off x="12434883" y="2651731"/>
            <a:ext cx="0" cy="681148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9767883" y="2651731"/>
            <a:ext cx="0" cy="681148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783616" y="1928676"/>
            <a:ext cx="16015457" cy="627805"/>
            <a:chOff x="0" y="0"/>
            <a:chExt cx="4218063" cy="1653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18063" cy="165348"/>
            </a:xfrm>
            <a:custGeom>
              <a:avLst/>
              <a:gdLst/>
              <a:ahLst/>
              <a:cxnLst/>
              <a:rect r="r" b="b" t="t" l="l"/>
              <a:pathLst>
                <a:path h="165348" w="4218063">
                  <a:moveTo>
                    <a:pt x="0" y="0"/>
                  </a:moveTo>
                  <a:lnTo>
                    <a:pt x="4218063" y="0"/>
                  </a:lnTo>
                  <a:lnTo>
                    <a:pt x="4218063" y="165348"/>
                  </a:lnTo>
                  <a:lnTo>
                    <a:pt x="0" y="165348"/>
                  </a:lnTo>
                  <a:close/>
                </a:path>
              </a:pathLst>
            </a:custGeom>
            <a:solidFill>
              <a:srgbClr val="B6B6B6">
                <a:alpha val="11373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18063" cy="203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 flipV="true">
            <a:off x="7100883" y="2675943"/>
            <a:ext cx="0" cy="681148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15082833" y="7965576"/>
            <a:ext cx="0" cy="153868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648201" y="9589985"/>
            <a:ext cx="1615087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b="true" sz="160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Sources</a:t>
            </a:r>
            <a:r>
              <a:rPr lang="en-US" sz="16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: MTC ridership/fleet data · Tamil Nadu Nirbhaya Safe City CCTV/MNVR project · Kerala "Safe Kerala" AI camera outcomes · Bengaluru Safe City project cost data · GHMC pothole repair cost reports · SANRAL pavement maintenance studies · MoRTH road-accident GDP-loss estimates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0" y="0"/>
            <a:ext cx="975942" cy="1227318"/>
          </a:xfrm>
          <a:custGeom>
            <a:avLst/>
            <a:gdLst/>
            <a:ahLst/>
            <a:cxnLst/>
            <a:rect r="r" b="b" t="t" l="l"/>
            <a:pathLst>
              <a:path h="1227318" w="975942">
                <a:moveTo>
                  <a:pt x="0" y="0"/>
                </a:moveTo>
                <a:lnTo>
                  <a:pt x="975942" y="0"/>
                </a:lnTo>
                <a:lnTo>
                  <a:pt x="975942" y="1227318"/>
                </a:lnTo>
                <a:lnTo>
                  <a:pt x="0" y="1227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93002" t="-68294" r="-93531" b="-5955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2771" y="-394973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9969" y="1576702"/>
            <a:ext cx="8462402" cy="9422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Papers</a:t>
            </a:r>
          </a:p>
          <a:p>
            <a:pPr algn="ctr">
              <a:lnSpc>
                <a:spcPts val="3600"/>
              </a:lnSpc>
            </a:pPr>
          </a:p>
          <a:p>
            <a:pPr algn="just" marL="496570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RDD2022: A Multi-national Image Dataset for Automatic Road Damage Detection – Arya et al., Geoscience Data Journal (Wiley), 2024 [</a:t>
            </a:r>
            <a:r>
              <a:rPr lang="en-US" sz="2300" u="sng">
                <a:solidFill>
                  <a:srgbClr val="8C52FF"/>
                </a:solidFill>
                <a:latin typeface="Arial"/>
                <a:ea typeface="Arial"/>
                <a:cs typeface="Arial"/>
                <a:sym typeface="Arial"/>
                <a:hlinkClick r:id="rId4" tooltip="https://rmets.onlinelibrary.wiley.com/doi/10.1002/gdj3.260"/>
              </a:rPr>
              <a:t>Link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(Road defects &amp; potholes)</a:t>
            </a:r>
          </a:p>
          <a:p>
            <a:pPr algn="just">
              <a:lnSpc>
                <a:spcPts val="1199"/>
              </a:lnSpc>
            </a:pPr>
          </a:p>
          <a:p>
            <a:pPr algn="just" marL="496570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for Intelligent Transportation Systems: A Survey – Wang et al., IEEE Transactions on Intelligent Transportation Systems, 2019 [</a:t>
            </a:r>
            <a:r>
              <a:rPr lang="en-US" sz="2300" u="sng">
                <a:solidFill>
                  <a:srgbClr val="5170FF"/>
                </a:solidFill>
                <a:latin typeface="Arial"/>
                <a:ea typeface="Arial"/>
                <a:cs typeface="Arial"/>
                <a:sym typeface="Arial"/>
                <a:hlinkClick r:id="rId5" tooltip="https://ieeexplore.ieee.org/document/8771378"/>
              </a:rPr>
              <a:t>Link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(Traffic congestion, vehicle analytics, incident detection)</a:t>
            </a:r>
          </a:p>
          <a:p>
            <a:pPr algn="just">
              <a:lnSpc>
                <a:spcPts val="1199"/>
              </a:lnSpc>
            </a:pPr>
          </a:p>
          <a:p>
            <a:pPr algn="just" marL="496570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PaddleOCR 3.0 Technical Report – Cui et al., arXiv, 2025 [</a:t>
            </a:r>
            <a:r>
              <a:rPr lang="en-US" sz="2300" u="sng">
                <a:solidFill>
                  <a:srgbClr val="5170FF"/>
                </a:solidFill>
                <a:latin typeface="Arial"/>
                <a:ea typeface="Arial"/>
                <a:cs typeface="Arial"/>
                <a:sym typeface="Arial"/>
                <a:hlinkClick r:id="rId6" tooltip="https://arxiv.org/abs/2507.05595"/>
              </a:rPr>
              <a:t>Link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(Number plate recognition &amp; OCR)</a:t>
            </a:r>
          </a:p>
          <a:p>
            <a:pPr algn="just">
              <a:lnSpc>
                <a:spcPts val="2760"/>
              </a:lnSpc>
            </a:pPr>
          </a:p>
          <a:p>
            <a:pPr algn="ctr">
              <a:lnSpc>
                <a:spcPts val="4439"/>
              </a:lnSpc>
            </a:pPr>
            <a:r>
              <a:rPr lang="en-US" sz="36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Government Applications</a:t>
            </a:r>
          </a:p>
          <a:p>
            <a:pPr algn="just">
              <a:lnSpc>
                <a:spcPts val="2760"/>
              </a:lnSpc>
            </a:pPr>
          </a:p>
          <a:p>
            <a:pPr algn="just" marL="496570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Dashcam Analytics Services (DAS) – NHAI – AI-based highway monitoring using vehicle-mounted cameras. [</a:t>
            </a:r>
            <a:r>
              <a:rPr lang="en-US" sz="2300" u="sng">
                <a:solidFill>
                  <a:srgbClr val="5170FF"/>
                </a:solidFill>
                <a:latin typeface="Arial"/>
                <a:ea typeface="Arial"/>
                <a:cs typeface="Arial"/>
                <a:sym typeface="Arial"/>
                <a:hlinkClick r:id="rId7" tooltip="https://www.pib.gov.in/PressReleasePage.aspx?PRID=2243028&amp;reg=48&amp;lang=2"/>
              </a:rPr>
              <a:t>Link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algn="just">
              <a:lnSpc>
                <a:spcPts val="600"/>
              </a:lnSpc>
            </a:pPr>
          </a:p>
          <a:p>
            <a:pPr algn="just" marL="496570" indent="-248285" lvl="1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ntegrated Command and Control Centre (ICCC) – Smart Cities Mission, Govt. of India – Integrated traffic monitoring &amp; GIS command platform. [</a:t>
            </a:r>
            <a:r>
              <a:rPr lang="en-US" sz="2300" u="sng">
                <a:solidFill>
                  <a:srgbClr val="8C52FF"/>
                </a:solidFill>
                <a:latin typeface="Arial"/>
                <a:ea typeface="Arial"/>
                <a:cs typeface="Arial"/>
                <a:sym typeface="Arial"/>
                <a:hlinkClick r:id="rId8" tooltip="https://iccc.niua.org/iccc/sector/use-case/815e6212def15fe76ed27cec7a393d59"/>
              </a:rPr>
              <a:t>Link</a:t>
            </a:r>
            <a:r>
              <a:rPr lang="en-U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algn="just">
              <a:lnSpc>
                <a:spcPts val="2760"/>
              </a:lnSpc>
            </a:pPr>
          </a:p>
          <a:p>
            <a:pPr algn="just">
              <a:lnSpc>
                <a:spcPts val="2760"/>
              </a:lnSpc>
            </a:pPr>
          </a:p>
          <a:p>
            <a:pPr algn="just">
              <a:lnSpc>
                <a:spcPts val="2760"/>
              </a:lnSpc>
            </a:pPr>
          </a:p>
          <a:p>
            <a:pPr algn="just">
              <a:lnSpc>
                <a:spcPts val="36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745937" y="1595752"/>
            <a:ext cx="756275" cy="804548"/>
          </a:xfrm>
          <a:custGeom>
            <a:avLst/>
            <a:gdLst/>
            <a:ahLst/>
            <a:cxnLst/>
            <a:rect r="r" b="b" t="t" l="l"/>
            <a:pathLst>
              <a:path h="804548" w="756275">
                <a:moveTo>
                  <a:pt x="0" y="0"/>
                </a:moveTo>
                <a:lnTo>
                  <a:pt x="756276" y="0"/>
                </a:lnTo>
                <a:lnTo>
                  <a:pt x="756276" y="804548"/>
                </a:lnTo>
                <a:lnTo>
                  <a:pt x="0" y="8045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1817" y="6297400"/>
            <a:ext cx="808241" cy="804200"/>
          </a:xfrm>
          <a:custGeom>
            <a:avLst/>
            <a:gdLst/>
            <a:ahLst/>
            <a:cxnLst/>
            <a:rect r="r" b="b" t="t" l="l"/>
            <a:pathLst>
              <a:path h="804200" w="808241">
                <a:moveTo>
                  <a:pt x="0" y="0"/>
                </a:moveTo>
                <a:lnTo>
                  <a:pt x="808241" y="0"/>
                </a:lnTo>
                <a:lnTo>
                  <a:pt x="808241" y="804200"/>
                </a:lnTo>
                <a:lnTo>
                  <a:pt x="0" y="804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0"/>
            <a:ext cx="975942" cy="1227318"/>
          </a:xfrm>
          <a:custGeom>
            <a:avLst/>
            <a:gdLst/>
            <a:ahLst/>
            <a:cxnLst/>
            <a:rect r="r" b="b" t="t" l="l"/>
            <a:pathLst>
              <a:path h="1227318" w="975942">
                <a:moveTo>
                  <a:pt x="0" y="0"/>
                </a:moveTo>
                <a:lnTo>
                  <a:pt x="975942" y="0"/>
                </a:lnTo>
                <a:lnTo>
                  <a:pt x="975942" y="1227318"/>
                </a:lnTo>
                <a:lnTo>
                  <a:pt x="0" y="122731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93002" t="-68294" r="-93531" b="-59552"/>
            </a:stretch>
          </a:blipFill>
        </p:spPr>
      </p:sp>
      <p:graphicFrame>
        <p:nvGraphicFramePr>
          <p:cNvPr name="Object 16" id="16"/>
          <p:cNvGraphicFramePr/>
          <p:nvPr/>
        </p:nvGraphicFramePr>
        <p:xfrm>
          <a:off x="10243280" y="4177374"/>
          <a:ext cx="7543800" cy="3771900"/>
        </p:xfrm>
        <a:graphic>
          <a:graphicData uri="http://schemas.openxmlformats.org/presentationml/2006/ole">
            <p:oleObj imgW="9042400" imgH="5270500" r:id="rId1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10205422" y="4177374"/>
            <a:ext cx="7053878" cy="5080926"/>
            <a:chOff x="0" y="0"/>
            <a:chExt cx="1857811" cy="13381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7811" cy="1338186"/>
            </a:xfrm>
            <a:custGeom>
              <a:avLst/>
              <a:gdLst/>
              <a:ahLst/>
              <a:cxnLst/>
              <a:rect r="r" b="b" t="t" l="l"/>
              <a:pathLst>
                <a:path h="1338186" w="1857811">
                  <a:moveTo>
                    <a:pt x="81218" y="0"/>
                  </a:moveTo>
                  <a:lnTo>
                    <a:pt x="1776593" y="0"/>
                  </a:lnTo>
                  <a:cubicBezTo>
                    <a:pt x="1798134" y="0"/>
                    <a:pt x="1818792" y="8557"/>
                    <a:pt x="1834023" y="23788"/>
                  </a:cubicBezTo>
                  <a:cubicBezTo>
                    <a:pt x="1849255" y="39020"/>
                    <a:pt x="1857811" y="59678"/>
                    <a:pt x="1857811" y="81218"/>
                  </a:cubicBezTo>
                  <a:lnTo>
                    <a:pt x="1857811" y="1256968"/>
                  </a:lnTo>
                  <a:cubicBezTo>
                    <a:pt x="1857811" y="1278509"/>
                    <a:pt x="1849255" y="1299167"/>
                    <a:pt x="1834023" y="1314398"/>
                  </a:cubicBezTo>
                  <a:cubicBezTo>
                    <a:pt x="1818792" y="1329629"/>
                    <a:pt x="1798134" y="1338186"/>
                    <a:pt x="1776593" y="1338186"/>
                  </a:cubicBezTo>
                  <a:lnTo>
                    <a:pt x="81218" y="1338186"/>
                  </a:lnTo>
                  <a:cubicBezTo>
                    <a:pt x="59678" y="1338186"/>
                    <a:pt x="39020" y="1329629"/>
                    <a:pt x="23788" y="1314398"/>
                  </a:cubicBezTo>
                  <a:cubicBezTo>
                    <a:pt x="8557" y="1299167"/>
                    <a:pt x="0" y="1278509"/>
                    <a:pt x="0" y="1256968"/>
                  </a:cubicBezTo>
                  <a:lnTo>
                    <a:pt x="0" y="81218"/>
                  </a:lnTo>
                  <a:cubicBezTo>
                    <a:pt x="0" y="59678"/>
                    <a:pt x="8557" y="39020"/>
                    <a:pt x="23788" y="23788"/>
                  </a:cubicBezTo>
                  <a:cubicBezTo>
                    <a:pt x="39020" y="8557"/>
                    <a:pt x="59678" y="0"/>
                    <a:pt x="81218" y="0"/>
                  </a:cubicBezTo>
                  <a:close/>
                </a:path>
              </a:pathLst>
            </a:custGeom>
            <a:ln w="19050" cap="rnd">
              <a:solidFill>
                <a:srgbClr val="224C8D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857811" cy="1376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DAHT05xeipk</dc:identifier>
  <dcterms:modified xsi:type="dcterms:W3CDTF">2011-08-01T06:04:30Z</dcterms:modified>
  <cp:revision>1</cp:revision>
  <dc:title>Drishti - Smart India Hackathon PPT - 2026</dc:title>
</cp:coreProperties>
</file>