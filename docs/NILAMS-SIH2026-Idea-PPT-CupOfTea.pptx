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 INDIA HACKATHON 2026</a:t>
            </a:r>
          </a:p>
          <a:p>
            <a:r>
              <a:t>NILAMS — National Integrated Land Acquisition Management System</a:t>
            </a:r>
          </a:p>
          <a:p>
            <a:r>
              <a:t>One live national platform: proposal → possession, built on the RFCTLARR Act, 2013</a:t>
            </a:r>
          </a:p>
          <a:p>
            <a:r>
              <a:t>Problem Statement ID: 26016</a:t>
            </a:r>
          </a:p>
          <a:p>
            <a:r>
              <a:t>Problem Statement Title: Real-Time National Land Acquisition &amp; Management System for End-to-End Digital Monitoring and Decision Support</a:t>
            </a:r>
          </a:p>
          <a:p>
            <a:r>
              <a:t>Theme: AI, GIS &amp; Data Analytics for Public Administration and Infrastructure Management</a:t>
            </a:r>
          </a:p>
          <a:p>
            <a:r>
              <a:t>PS Category: Software</a:t>
            </a:r>
          </a:p>
          <a:p>
            <a:r>
              <a:t>Ministry / Department: Department of Land Resources, Ministry of Rural Development</a:t>
            </a:r>
          </a:p>
          <a:p>
            <a:r>
              <a:t>Team ID: 141591</a:t>
            </a:r>
          </a:p>
          <a:p>
            <a:r>
              <a:t>Team Name: Cup Of Tea</a:t>
            </a:r>
          </a:p>
          <a:p>
            <a:r>
              <a:t>Working prototype · 480+ automated tests · English + Tamil voice bot · Offline field 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NILAMS — National Integrated Land Acquisition Management System</a:t>
            </a:r>
          </a:p>
          <a:p/>
          <a:p>
            <a:r>
              <a:t>THE PROBLEM TODAY</a:t>
            </a:r>
          </a:p>
          <a:p>
            <a:r>
              <a:t>- No national platform: State &amp; sector silos; Centre has no live view</a:t>
            </a:r>
          </a:p>
          <a:p>
            <a:r>
              <a:t>- Manual, duplicated records: re-typed at district, state &amp; central level</a:t>
            </a:r>
          </a:p>
          <a:p>
            <a:r>
              <a:t>- No real-time monitoring: land, payouts &amp; R&amp;R progress invisible</a:t>
            </a:r>
          </a:p>
          <a:p>
            <a:r>
              <a:t>- Missed statutory deadlines: nothing warns before a legal limit lapses</a:t>
            </a:r>
          </a:p>
          <a:p>
            <a:r>
              <a:t>- Opaque compensation: no breakdown → mistrust &amp; litigation</a:t>
            </a:r>
          </a:p>
          <a:p>
            <a:r>
              <a:t>- Families invisible: tenants &amp; labourers go unrecorded</a:t>
            </a:r>
          </a:p>
          <a:p>
            <a:r>
              <a:t>- Weak accountability: no audit trail; double payments slip by</a:t>
            </a:r>
          </a:p>
          <a:p>
            <a:r>
              <a:t>- Poor citizen access: no status or grievance in own language</a:t>
            </a:r>
          </a:p>
          <a:p>
            <a:r>
              <a:t>- No spatial intelligence: parcels not geo-tagged; overlaps unseen</a:t>
            </a:r>
          </a:p>
          <a:p/>
          <a:p>
            <a:r>
              <a:t>WHY IT MATTERS: 703 ongoing land conflicts · 6.5 M people affected · ₹13.7 lakh crore investment stuck · 66% cases with "abnormal delays" (CAG). Sources: Land Conflict Watch (2020); CAG Report No. 35 of 2015.</a:t>
            </a:r>
          </a:p>
          <a:p/>
          <a:p>
            <a:r>
              <a:t>PROPOSED SOLUTION</a:t>
            </a:r>
          </a:p>
          <a:p>
            <a:r>
              <a:t>NILAMS is one cloud platform that digitises land acquisition end-to-end — proposal → scrutiny → SIA → notification → award → payment → R&amp;R → possession → closure — for every Ministry, State/UT, District, agency and affected citizen.</a:t>
            </a:r>
          </a:p>
          <a:p>
            <a:r>
              <a:t>- Law-as-code workflow: 11 RFCTLARR stages, per-State rules</a:t>
            </a:r>
          </a:p>
          <a:p>
            <a:r>
              <a:t>- GIS-first parcels: ULPIN geo-tagged, satellite + 3D view</a:t>
            </a:r>
          </a:p>
          <a:p>
            <a:r>
              <a:t>- People-centric R&amp;R: every household, incl. non-titleholders</a:t>
            </a:r>
          </a:p>
          <a:p>
            <a:r>
              <a:t>- Transparent awards: section-cited breakdown, PFMS/DBT</a:t>
            </a:r>
          </a:p>
          <a:p>
            <a:r>
              <a:t>- AI document intake: scanned records → validated parcels</a:t>
            </a:r>
          </a:p>
          <a:p>
            <a:r>
              <a:t>- Live national dashboard: nation → state → district → parcel</a:t>
            </a:r>
          </a:p>
          <a:p>
            <a:r>
              <a:t>- Deadline alerts: statutory SLAs via SMS · email · WhatsApp</a:t>
            </a:r>
          </a:p>
          <a:p>
            <a:r>
              <a:t>- Citizen portal: 22 languages (Bhashini), voice, WhatsApp</a:t>
            </a:r>
          </a:p>
          <a:p>
            <a:r>
              <a:t>- Offline field app: geo-tag &amp; verify parcels with no network</a:t>
            </a:r>
          </a:p>
          <a:p>
            <a:r>
              <a:t>- Secure by design: e-Pramaan, RBAC, hash-chained audit</a:t>
            </a:r>
          </a:p>
          <a:p/>
          <a:p>
            <a:r>
              <a:t>ONE PLATFORM · EVERY STAKEHOLDER: Requiring Body, District Collector, State Govt, Central Ministry, R&amp;R Authority, Implementing Agency, Policy Makers, Citizens &amp; Families.</a:t>
            </a:r>
          </a:p>
          <a:p/>
          <a:p>
            <a:r>
              <a:t>UNIQUE VALUE PROPOSITION</a:t>
            </a:r>
          </a:p>
          <a:p>
            <a:r>
              <a:t>- Law as Code: stages can't be skipped; a court stay auto-freezes payment &amp; possession</a:t>
            </a:r>
          </a:p>
          <a:p>
            <a:r>
              <a:t>- Explainable AI: every risk score shows its reasons, so decisions stay defensible in court</a:t>
            </a:r>
          </a:p>
          <a:p>
            <a:r>
              <a:t>- Families, not just parcels: tracks the non-titleholder families the Act protects</a:t>
            </a:r>
          </a:p>
          <a:p>
            <a:r>
              <a:t>- Village-batch intake: one village record creates hundreds of parcels &amp; families in one review</a:t>
            </a:r>
          </a:p>
          <a:p>
            <a:r>
              <a:t>- Tamper-evident audit: hash-chained ledger exposes backdated edits &amp; double payments</a:t>
            </a:r>
          </a:p>
          <a:p>
            <a:r>
              <a:t>- Built on India Stack: ULPIN · e-Gazette · PFMS · DigiLocker · e-Sign · Bhashini · Gati Shakti</a:t>
            </a:r>
          </a:p>
          <a:p/>
          <a:p>
            <a:r>
              <a:t>PHASE 0 DONE · ALREADY WORKING IN OUR PROTOTYPE: full legal workflow, stay-order blocking, GIS map + 3D, family entitlements, village-batch intake, explainable risk score, duplicate-claim detector, audit ledger, Tamil + English voice bot, offline field app, 480+ automated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APPROACH</a:t>
            </a:r>
          </a:p>
          <a:p/>
          <a:p>
            <a:r>
              <a:t>HOW A PROJECT MOVES THROUGH NILAMS (RFCTLARR Act, 2013 encoded as a state machine)</a:t>
            </a:r>
          </a:p>
          <a:p>
            <a:r>
              <a:t>1 Proposal (s.2–3): agency draws alignment on map, uploads DPR</a:t>
            </a:r>
          </a:p>
          <a:p>
            <a:r>
              <a:t>2 Digital Scrutiny (s.8): district verifies; AI checks documents</a:t>
            </a:r>
          </a:p>
          <a:p>
            <a:r>
              <a:t>3 Social Impact Assessment (s.4–9): family survey · Gram Sabha consent</a:t>
            </a:r>
          </a:p>
          <a:p>
            <a:r>
              <a:t>4 Preliminary Notification (s.11): auto e-Gazette; objections filed online</a:t>
            </a:r>
          </a:p>
          <a:p>
            <a:r>
              <a:t>5 State &amp; Central Approval (s.15): objections decided; sanction</a:t>
            </a:r>
          </a:p>
          <a:p>
            <a:r>
              <a:t>6 Declaration (s.19): only after Requiring Body's deposit</a:t>
            </a:r>
          </a:p>
          <a:p>
            <a:r>
              <a:t>7 Award (s.23–30): per-parcel compensation, legal breakdown</a:t>
            </a:r>
          </a:p>
          <a:p>
            <a:r>
              <a:t>8 Payment (s.77): PFMS/DBT to bank; award in DigiLocker</a:t>
            </a:r>
          </a:p>
          <a:p>
            <a:r>
              <a:t>9 R&amp;R Delivery (Sch. II–III): scheme, hearing, entitlements delivered</a:t>
            </a:r>
          </a:p>
          <a:p>
            <a:r>
              <a:t>10 Possession (s.38): geo-tagged field + satellite check</a:t>
            </a:r>
          </a:p>
          <a:p>
            <a:r>
              <a:t>11 Closure (s.101): colony amenities verified; land bank</a:t>
            </a:r>
          </a:p>
          <a:p>
            <a:r>
              <a:t>Court stay · unresolved objection · missing document → hard-blocks Award, Payment, Possession.</a:t>
            </a:r>
          </a:p>
          <a:p>
            <a:r>
              <a:t>Statutory deadline monitor → alerts &amp; escalation at Notification, Award, R&amp;R.</a:t>
            </a:r>
          </a:p>
          <a:p/>
          <a:p>
            <a:r>
              <a:t>SYSTEM ARCHITECTURE (hosted on NIC MeghRaj Cloud)</a:t>
            </a:r>
          </a:p>
          <a:p>
            <a:r>
              <a:t>Users: citizens &amp; families (web · WhatsApp · voice), field officers (offline mobile app), officials &amp; agencies (District · State · Centre)</a:t>
            </a:r>
          </a:p>
          <a:p>
            <a:r>
              <a:t>API Gateway: e-Pramaan SSO, RBAC, jurisdiction scope, REST · GraphQL</a:t>
            </a:r>
          </a:p>
          <a:p>
            <a:r>
              <a:t>NILAMS core services: workflow engine, GIS engine, AI &amp; analytics, compensation &amp; R&amp;R, document vault, alerts engine, audit ledger (SHA-256 hash chain), master data (LGD codes, validation); PostgreSQL + PostGIS; dashboards · MIS · reports</a:t>
            </a:r>
          </a:p>
          <a:p>
            <a:r>
              <a:t>Govt systems via APIs: ULPIN/DILRMP, e-Gazette, PFMS/DBT, DigiLocker · e-Sign, Bhashini, ISRO Bhuvan, PM Gati Shakti</a:t>
            </a:r>
          </a:p>
          <a:p/>
          <a:p>
            <a:r>
              <a:t>IMPLEMENTATION ROADMAP</a:t>
            </a:r>
          </a:p>
          <a:p>
            <a:r>
              <a:t>Phase 0 · Done: working prototype (workflow, GIS, R&amp;R, audit)</a:t>
            </a:r>
          </a:p>
          <a:p>
            <a:r>
              <a:t>Phase 1 · 0–6 months: district pilot on NIC Cloud (PostGIS, e-Pramaan, land records)</a:t>
            </a:r>
          </a:p>
          <a:p>
            <a:r>
              <a:t>Phase 2 · 6–12 months: State rollout (e-Gazette, PFMS/DBT, DigiLocker, SMS)</a:t>
            </a:r>
          </a:p>
          <a:p>
            <a:r>
              <a:t>Phase 3 · 12–24 months: national rollout (all States/UTs, 22 languages, trained AI)</a:t>
            </a:r>
          </a:p>
          <a:p/>
          <a:p>
            <a:r>
              <a:t>TECHNOLOGY STACK (open-source, no licence fees)</a:t>
            </a:r>
          </a:p>
          <a:p>
            <a:r>
              <a:t>Frontend: Next.js, React, TypeScript, Tailwind, PWA · Backend &amp; APIs: Node.js, REST, GraphQL · Database: PostgreSQL, PostGIS, Drizzle ORM · GIS: GeoServer, QGIS, MapLibre, OpenLayers, Bhuvan · AI/Analytics: Python, scikit-learn, XGBoost, OCR + NLP · Dashboards &amp; 3D: Recharts, Superset, Three.js · Language: Bhashini (22 Indian languages) · Documents: pdf-lib, DigiLocker, e-Sign · Notifications: SMS (DLT), Email, WhatsApp, Push · Security: e-Pramaan, RBAC, TLS + AES, SHA-256 ledger · Cloud &amp; DevOps: NIC MeghRaj, Docker, CI/CD, 480+ tests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FEASIBILITY AND VIABILITY</a:t>
            </a:r>
          </a:p>
          <a:p/>
          <a:p>
            <a:r>
              <a:t>FEASIBILITY ANALYSIS</a:t>
            </a:r>
          </a:p>
          <a:p>
            <a:r>
              <a:t>- Technical: mature open-source stack already used in government (PostgreSQL/PostGIS, GeoServer, QGIS); core proven in our working prototype.</a:t>
            </a:r>
          </a:p>
          <a:p>
            <a:r>
              <a:t>- Legal &amp; Policy: built directly on the RFCTLARR Act, 2013 and its Schedules; State rules become configuration, not new software. 14 legal roles mapped.</a:t>
            </a:r>
          </a:p>
          <a:p>
            <a:r>
              <a:t>- Institutional: plugs into DILRMP/ULPIN, e-Gazette, PFMS, DigiLocker, Bhashini &amp; PM Gati Shakti. Precedent: 1,467 NHAI projects on Bhoomi Rashi.</a:t>
            </a:r>
          </a:p>
          <a:p>
            <a:r>
              <a:t>- Operational: accepts the Excel, PDF, Word and scanned records officers already use; works offline in the field. Minimal retraining.</a:t>
            </a:r>
          </a:p>
          <a:p>
            <a:r>
              <a:t>- Economic: no licence fees; hosted on existing NIC Cloud. Delay is the real cost — Bengaluru Metro land cost rose ₹6,603 cr (CAG).</a:t>
            </a:r>
          </a:p>
          <a:p>
            <a:r>
              <a:t>- Scalable: multi-tenant State → District → Project; stateless APIs scale horizontally; spatial indexing for crores of parcels.</a:t>
            </a:r>
          </a:p>
          <a:p/>
          <a:p>
            <a:r>
              <a:t>VIABILITY — built for how India already acquires land (District → State → National, on NIC Cloud)</a:t>
            </a:r>
          </a:p>
          <a:p>
            <a:r>
              <a:t>- Policy fit: Digital India, DILRMP, PM Gati Shakti, Minimum Government Maximum Governance</a:t>
            </a:r>
          </a:p>
          <a:p>
            <a:r>
              <a:t>- Adoption path: one-district pilot → State → all States/UTs in 24 months</a:t>
            </a:r>
          </a:p>
          <a:p>
            <a:r>
              <a:t>- Clear ownership: DoLR owns the national view; States keep their data &amp; rules</a:t>
            </a:r>
          </a:p>
          <a:p>
            <a:r>
              <a:t>- Sustainable: open standards, reusable India Stack, versioned rules for new amendments</a:t>
            </a:r>
          </a:p>
          <a:p/>
          <a:p>
            <a:r>
              <a:t>CHALLENGES &amp; RISKS → HOW WE OVERCOME THEM</a:t>
            </a:r>
          </a:p>
          <a:p>
            <a:r>
              <a:t>- Legacy data quality → AI-assisted OCR with human verification, strict templates, row-level error reports; digitise active projects first</a:t>
            </a:r>
          </a:p>
          <a:p>
            <a:r>
              <a:t>- Diverse State systems → per-State adapters mapped to one national schema; ULPIN as the common key; file exchange first, live APIs later</a:t>
            </a:r>
          </a:p>
          <a:p>
            <a:r>
              <a:t>- Adoption resistance → district pilot, Mission Karmayogi training, role-specific screens, a "who acts next" guide on every case</a:t>
            </a:r>
          </a:p>
          <a:p>
            <a:r>
              <a:t>- Rural connectivity → offline-first field app with a sync queue and logged sync times</a:t>
            </a:r>
          </a:p>
          <a:p>
            <a:r>
              <a:t>- Privacy &amp; cyber security → e-Pramaan, role + jurisdiction access, encryption, hash-chained audit, DPDP Act 2023, CERT-In audit, India hosting</a:t>
            </a:r>
          </a:p>
          <a:p>
            <a:r>
              <a:t>- Varying laws &amp; amendments → configurable rule engine per State and acquisition type; versioned rates and rules</a:t>
            </a:r>
          </a:p>
          <a:p>
            <a:r>
              <a:t>- Trust in AI decisions → explainable models only; AI advises, officers decide; human approval on every decision</a:t>
            </a:r>
          </a:p>
          <a:p>
            <a:r>
              <a:t>- Digital divide → 22 languages via Bhashini, voice &amp; WhatsApp access, Common Service Centres for assisted use</a:t>
            </a:r>
          </a:p>
          <a:p>
            <a:r>
              <a:t>- Inter-agency coordination → one shared live record, standard APIs, a national dashboard owned by DoLR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AND BENEFITS</a:t>
            </a:r>
          </a:p>
          <a:p/>
          <a:p>
            <a:r>
              <a:t>IMPACT ON TARGET AUDIENCE</a:t>
            </a:r>
          </a:p>
          <a:p>
            <a:r>
              <a:t>- Affected families &amp; landowners: NILAMS answers the five questions every farmer asks — Where is my land on the map? What am I owed and why? Who decided it? What if I disagree? When will I be paid? Paid by DBT; non-titleholders counted; grievances in own language.</a:t>
            </a:r>
          </a:p>
          <a:p>
            <a:r>
              <a:t>- Field officers: verify &amp; geo-tag parcels on a phone, even offline; no repeated paperwork.</a:t>
            </a:r>
          </a:p>
          <a:p>
            <a:r>
              <a:t>- District Collectors: one live workspace for parcels, families, payments, documents &amp; deadlines.</a:t>
            </a:r>
          </a:p>
          <a:p>
            <a:r>
              <a:t>- State Governments: real-time district progress, bottlenecks and deadline breaches.</a:t>
            </a:r>
          </a:p>
          <a:p>
            <a:r>
              <a:t>- Central Ministries: national dashboard + policy simulation before deciding.</a:t>
            </a:r>
          </a:p>
          <a:p>
            <a:r>
              <a:t>- Project agencies (NHAI, Railways, corridors): predictable land, fewer stalled projects.</a:t>
            </a:r>
          </a:p>
          <a:p>
            <a:r>
              <a:t>- Courts, auditors &amp; CAG: a verifiable, tamper-evident record of every decision.</a:t>
            </a:r>
          </a:p>
          <a:p/>
          <a:p>
            <a:r>
              <a:t>TODAY vs NILAMS (today = paper files + State/sector portals): end-to-end RFCTLARR workflow for all project types (partial today); live national dashboard; non-titleholder families tracked; section-cited compensation breakdown; court stay auto-blocks payment &amp; possession; tamper-evident audit trail; geo-tagged parcels + satellite/3D (partial today); statutory deadline alerts; citizen access in 22 languages + voice; offline field verification; explainable delay-risk prediction — all delivered by NILAMS.</a:t>
            </a:r>
          </a:p>
          <a:p/>
          <a:p>
            <a:r>
              <a:t>BENEFITS</a:t>
            </a:r>
          </a:p>
          <a:p>
            <a:r>
              <a:t>- Social: fair, explained awards; non-titleholders counted and protected; grievances in own language; direct DBT payment.</a:t>
            </a:r>
          </a:p>
          <a:p>
            <a:r>
              <a:t>- Economic: faster land availability for PM Gati Shakti infrastructure; fewer cost overruns; no duplicate data entry; land bank reuses idle acquired land.</a:t>
            </a:r>
          </a:p>
          <a:p>
            <a:r>
              <a:t>- Governance: every action tied to an officer, time and reason; compliance by design; anti-corruption checks; one shared live record.</a:t>
            </a:r>
          </a:p>
          <a:p>
            <a:r>
              <a:t>- Environmental: impact-zone analysis; satellite monitoring of encroachment; idle land returned or reused after 5 years (s.101); paperless workflow.</a:t>
            </a:r>
          </a:p>
          <a:p>
            <a:r>
              <a:t>Also aligned with Digital India · DILRMP · PM Gati Shakti · DPDP Act 2023.</a:t>
            </a:r>
          </a:p>
          <a:p/>
          <a:p>
            <a:r>
              <a:t>SUSTAINABLE DEVELOPMENT GOALS: SDG 1 No Poverty; SDG 9 Industry, Innovation &amp; Infrastructure; SDG 10 Reduced Inequalities; SDG 11 Sustainable Cities &amp; Communities; SDG 15 Life on Land; SDG 16 Peace, Justice &amp; Strong Institutions (targets 16.5, 16.6, 16.7, 16.10); SDG 17 Partnerships (target 17.18).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AND REFERENCES</a:t>
            </a:r>
          </a:p>
          <a:p/>
          <a:p>
            <a:r>
              <a:t>LAW &amp; POLICY</a:t>
            </a:r>
          </a:p>
          <a:p>
            <a:r>
              <a:t>1. RFCTLARR Act, 2013 (Act No. 30 of 2013) — https://www.indiacode.nic.in</a:t>
            </a:r>
          </a:p>
          <a:p>
            <a:r>
              <a:t>2. Department of Land Resources, Ministry of Rural Development — https://dolr.gov.in</a:t>
            </a:r>
          </a:p>
          <a:p>
            <a:r>
              <a:t>3. DILRMP &amp; ULPIN — https://dilrmp.gov.in</a:t>
            </a:r>
          </a:p>
          <a:p>
            <a:r>
              <a:t>4. Digital Personal Data Protection Act, 2023 — https://www.meity.gov.in</a:t>
            </a:r>
          </a:p>
          <a:p>
            <a:r>
              <a:t>5. PM Gati Shakti National Master Plan — https://pmgatishakti.gov.in</a:t>
            </a:r>
          </a:p>
          <a:p/>
          <a:p>
            <a:r>
              <a:t>EXISTING SYSTEMS STUDIED</a:t>
            </a:r>
          </a:p>
          <a:p>
            <a:r>
              <a:t>6. Bhoomi Rashi (MoRTH), 1,467 NHAI projects — https://www.pib.gov.in/PressReleaseIframePage.aspx?PRID=1988572 · https://www.pib.gov.in/PressReleaseIframePage.aspx?PRID=1809062</a:t>
            </a:r>
          </a:p>
          <a:p>
            <a:r>
              <a:t>7. TN-GLMS, Commissionerate of Land Administration, Tamil Nadu</a:t>
            </a:r>
          </a:p>
          <a:p>
            <a:r>
              <a:t>8. e-Gazette https://egazette.gov.in · PFMS https://pfms.nic.in · DigiLocker https://www.digilocker.gov.in</a:t>
            </a:r>
          </a:p>
          <a:p>
            <a:r>
              <a:t>9. Bhashini https://bhashini.gov.in · ISRO Bhuvan https://bhuvan.nrsc.gov.in · CPGRAMS https://pgportal.gov.in</a:t>
            </a:r>
          </a:p>
          <a:p/>
          <a:p>
            <a:r>
              <a:t>EVIDENCE ON THE PROBLEM</a:t>
            </a:r>
          </a:p>
          <a:p>
            <a:r>
              <a:t>10. Land Conflict Watch: 703 conflicts, 6.5 M people — https://www.downtoearth.org.in/environment/land-conflict-affects-more-than-6-5-million-people-across-india-report-69502 · https://www.business-standard.com/article/economy-policy/ongoing-land-conflicts-affecting-lives-livelihoods-of-over-6-5-mn-people-120031700149_1.html</a:t>
            </a:r>
          </a:p>
          <a:p>
            <a:r>
              <a:t>11. 179 new land conflicts in 2025 — https://www.landconflictwatch.org/all-conflicts · https://www.counterview.net/2026/03/ngo-research-documents-179-land.html</a:t>
            </a:r>
          </a:p>
          <a:p>
            <a:r>
              <a:t>12. Oxfam India, "Locating the Breach" — https://www.oxfamindia.org/knowledgehub/workingpaper/locating-breach-mapping-nature-land-conflicts-india</a:t>
            </a:r>
          </a:p>
          <a:p>
            <a:r>
              <a:t>13. CAG Report No. 35 of 2015: acquisition delays — https://cag.gov.in/uploads/download_audit_report/2015/Union_Performance_Civil_CAPF_Report_35_2015_chap_3_0.pdf</a:t>
            </a:r>
          </a:p>
          <a:p>
            <a:r>
              <a:t>14. CAG: Karnataka rates "without transparency" — https://cag.gov.in/uploads/download_audit_report/2014/Karnataka_housing_sector_6_2014_chapter_3_exe_summ.pdf ; Bengaluru Metro overrun — https://thenewsmill.com/2026/08/cag-audit-finds-overestimated-ridership-and-land-acquisition-delays-in-bangalore-metro-phases-1-and-2/</a:t>
            </a:r>
          </a:p>
          <a:p/>
          <a:p>
            <a:r>
              <a:t>TECHNOLOGY &amp; SUSTAINABILITY</a:t>
            </a:r>
          </a:p>
          <a:p>
            <a:r>
              <a:t>15. UN Sustainable Development Goals — https://sdgs.un.org/goals</a:t>
            </a:r>
          </a:p>
          <a:p>
            <a:r>
              <a:t>16. PostGIS https://postgis.net · GeoServer https://geoserver.org</a:t>
            </a:r>
          </a:p>
          <a:p>
            <a:r>
              <a:t>17. MapLibre https://maplibre.org · Next.js https://nextjs.org</a:t>
            </a:r>
          </a:p>
          <a:p>
            <a:r>
              <a:t>18. SIH 2026 Problem Statement 26016 — https://www.sih.gov.in</a:t>
            </a:r>
          </a:p>
          <a:p/>
          <a:p>
            <a:r>
              <a:t>RESEARCH DEPTH: 46 PS 26016 requirements mapped to NILAMS features; 14 legal roles in the Act; 12 statutory deadlines; 480+ automated tests.</a:t>
            </a:r>
          </a:p>
          <a:p/>
          <a:p>
            <a:r>
              <a:t>PROTOTYPE &amp; PROJECT RESOURCES</a:t>
            </a:r>
          </a:p>
          <a:p>
            <a:r>
              <a:t>Live prototype: &lt;add deployment URL&gt; · Demo video: &lt;add YouTube link&gt; · Source code: https://github.com/amdravidranjan/Cup_of_tea · Detailed documentation: &lt;add link&gt; · Feature list &amp; design docs: &lt;add link&gt;</a:t>
            </a:r>
          </a:p>
          <a:p>
            <a:r>
              <a:t>Screenshots: public transparency portal; 11-stage workflow + explainable risk score; geo-tagged parcels; 3D terrain view (Bhavani River Bridge, Sirumugai); village-batch intake; tamper-evident audit ledger; offline field app; bilingual voice assistant in Tamil.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0000"/>
          </a:xfrm>
        </p:spPr>
        <p:txBody>
          <a:bodyPr/>
          <a:lstStyle/>
          <a:p>
            <a:r>
              <a:t>SMART INDIA HACKATHON 2026</a:t>
            </a:r>
          </a:p>
        </p:txBody>
      </p:sp>
      <p:pic>
        <p:nvPicPr>
          <p:cNvPr id="3" name="Slide 1 artwork" descr="Title page: SIH 2026, NILAMS (National Integrated Land Acquisition Management System), PS 26016, Team Cup Of Tea, Team ID 141591, with a collage of land-survey, farmland, satellite and rail photo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0000"/>
          </a:xfrm>
        </p:spPr>
        <p:txBody>
          <a:bodyPr/>
          <a:lstStyle/>
          <a:p>
            <a:r>
              <a:t>NILAMS</a:t>
            </a:r>
          </a:p>
        </p:txBody>
      </p:sp>
      <p:pic>
        <p:nvPicPr>
          <p:cNvPr id="3" name="Slide 2 artwork" descr="Idea slide: nine current problems in land acquisition, the proposed NILAMS solution with ten features, six unique value propositions, impact statistics, a stakeholder hub and the prototype proof lis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0000"/>
          </a:xfrm>
        </p:spPr>
        <p:txBody>
          <a:bodyPr/>
          <a:lstStyle/>
          <a:p>
            <a:r>
              <a:t>TECHNICAL APPROACH</a:t>
            </a:r>
          </a:p>
        </p:txBody>
      </p:sp>
      <p:pic>
        <p:nvPicPr>
          <p:cNvPr id="3" name="Slide 3 artwork" descr="Technical approach: eleven-stage RFCTLARR lifecycle with court-stay blocks and deadline alerts, system architecture, implementation roadmap and technology stack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0000"/>
          </a:xfrm>
        </p:spPr>
        <p:txBody>
          <a:bodyPr/>
          <a:lstStyle/>
          <a:p>
            <a:r>
              <a:t>FEASIBILITY AND VIABILITY</a:t>
            </a:r>
          </a:p>
        </p:txBody>
      </p:sp>
      <p:pic>
        <p:nvPicPr>
          <p:cNvPr id="3" name="Slide 4 artwork" descr="Feasibility and viability: six feasibility dimensions, viability panel, and nine risks each paired with a mitigation strateg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0000"/>
          </a:xfrm>
        </p:spPr>
        <p:txBody>
          <a:bodyPr/>
          <a:lstStyle/>
          <a:p>
            <a:r>
              <a:t>IMPACT AND BENEFITS</a:t>
            </a:r>
          </a:p>
        </p:txBody>
      </p:sp>
      <p:pic>
        <p:nvPicPr>
          <p:cNvPr id="3" name="Slide 5 artwork" descr="Impact and benefits: impact on seven stakeholder groups, Today vs NILAMS comparison table, social/economic/governance/environmental benefits, and SDG 1, 9, 10, 11, 15, 16, 17 alignmen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0000"/>
          </a:xfrm>
        </p:spPr>
        <p:txBody>
          <a:bodyPr/>
          <a:lstStyle/>
          <a:p>
            <a:r>
              <a:t>RESEARCH AND REFERENCES</a:t>
            </a:r>
          </a:p>
        </p:txBody>
      </p:sp>
      <p:pic>
        <p:nvPicPr>
          <p:cNvPr id="3" name="Slide 6 artwork" descr="Research and references: eighteen grouped references with links, research-depth figures, and prototype resources with link, QR and screenshot placeholder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NILAMS — SIH 2026 Idea Submission (PS 26016) — Team Cup Of Tea (141591)</dc:title>
  <dc:subject>National Integrated Land Acquisition Management System</dc:subject>
  <dc:creator>Team Cup Of Tea (141591)</dc:creator>
  <cp:keywords>SIH 2026, PS 26016, NILAMS, land acquisition, RFCTLARR, GIS, R&amp;R, PFMS, ULPIN, DoLR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